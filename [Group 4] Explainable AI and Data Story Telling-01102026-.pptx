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6858000" cy="9144000"/>
  <p:embeddedFontLst>
    <p:embeddedFont>
      <p:font typeface="Cormorant Garamond Bold" panose="02020500000000000000" charset="0"/>
      <p:regular r:id="rId32"/>
    </p:embeddedFont>
    <p:embeddedFont>
      <p:font typeface="Inter" panose="02020500000000000000" charset="0"/>
      <p:regular r:id="rId33"/>
    </p:embeddedFont>
    <p:embeddedFont>
      <p:font typeface="Inter Bold" panose="02020500000000000000" charset="0"/>
      <p:regular r:id="rId34"/>
    </p:embeddedFont>
    <p:embeddedFont>
      <p:font typeface="Inter Bold Italics" panose="02020500000000000000" charset="0"/>
      <p:regular r:id="rId35"/>
    </p:embeddedFont>
    <p:embeddedFont>
      <p:font typeface="Montserrat" panose="00000500000000000000" pitchFamily="2"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6601" autoAdjust="0"/>
  </p:normalViewPr>
  <p:slideViewPr>
    <p:cSldViewPr>
      <p:cViewPr varScale="1">
        <p:scale>
          <a:sx n="46" d="100"/>
          <a:sy n="46" d="100"/>
        </p:scale>
        <p:origin x="765"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After our team introduction, let’s look at the reality of the business world today. According to the 2025 KPMG Global Study, we are living in a 'Trust Paradox.' &gt; As you can see on the screen, 66% of global users are now using AI in their daily workflows. It is everywhere. However, only 46%—less than half—are actually willing to trust the decisions these systems make.</a:t>
            </a:r>
          </a:p>
          <a:p>
            <a:endParaRPr lang="en-US" dirty="0"/>
          </a:p>
          <a:p>
            <a:r>
              <a:rPr lang="en-US" dirty="0"/>
              <a:t>This leaves us with a dangerous 20% Trust Deficit. Furthermore, 71% of people are now demanding strict regulation and, most importantly, Transparency.</a:t>
            </a:r>
          </a:p>
          <a:p>
            <a:endParaRPr lang="en-US" dirty="0"/>
          </a:p>
          <a:p>
            <a:r>
              <a:rPr lang="en-US" dirty="0"/>
              <a:t>Legal Drivers: EU GDPR "Right to Explanation."</a:t>
            </a:r>
          </a:p>
          <a:p>
            <a:endParaRPr lang="en-US" dirty="0"/>
          </a:p>
          <a:p>
            <a:endParaRPr lang="en-US" dirty="0"/>
          </a:p>
          <a:p>
            <a:r>
              <a:rPr lang="en-US" dirty="0"/>
              <a:t>This is exactly why we are here today. To close this gap, we don't just need faster AI; we need Explainable AI (XAI). We need to turn that 'Black Box' into a story that humans can trust.</a:t>
            </a:r>
          </a:p>
          <a:p>
            <a:endParaRPr lang="en-US" dirty="0"/>
          </a:p>
          <a:p>
            <a:r>
              <a:rPr lang="en-US" dirty="0"/>
              <a:t>Led by the University of Melbourne in collaboration with KPMG, Trust, attitudes and use of Artificial Intelligence: A global study 2025opens in a new tab, surveyed more than 48,000 people across 47 countries to explore the impact AI is having on individuals and organizations. It is one of the most wide-ranging global studies into the public’s trust, use, and attitudes towards AI to date.</a:t>
            </a:r>
          </a:p>
          <a:p>
            <a:endParaRPr lang="en-US" dirty="0"/>
          </a:p>
          <a:p>
            <a:r>
              <a:rPr lang="en-US" dirty="0"/>
              <a:t>The findings reveal that AI adoption is on the rise, but trust remains a critical challenge - reflecting a tension between the benefits and risks: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bridge the trust gap we just discussed, we’ve structured today’s seminar into three distinct phases. You can see this as our XAI Value Chain.</a:t>
            </a:r>
          </a:p>
          <a:p>
            <a:endParaRPr lang="en-US"/>
          </a:p>
          <a:p>
            <a:r>
              <a:rPr lang="en-US"/>
              <a:t>Phase 1: Foundation. We start with the 'Brains.' Led by Role A, we will dissect the technical taxonomies of XAI. We need to understand how models are categorized based on their logic and sources before we can explain them to others.</a:t>
            </a:r>
          </a:p>
          <a:p>
            <a:endParaRPr lang="en-US"/>
          </a:p>
          <a:p>
            <a:r>
              <a:rPr lang="en-US"/>
              <a:t>Phase 2: Transformation. This is where the magic happens. Role B will show us how to turn cold technical data into human-centric narratives. We will introduce SHAPstories—using LLMs to ensure that an explanation isn't just accurate, but actually memorable and persuasive.</a:t>
            </a:r>
          </a:p>
          <a:p>
            <a:endParaRPr lang="en-US"/>
          </a:p>
          <a:p>
            <a:r>
              <a:rPr lang="en-US"/>
              <a:t>Phase 3: Synergy. Finally, Role C will bring us into the real world. We will analyze the data worker's workflow—from planning to communication—to see how AI can act as a creator, optimizer, or reviewer, while maintaining our professional integrity.</a:t>
            </a:r>
          </a:p>
          <a:p>
            <a:endParaRPr lang="en-US"/>
          </a:p>
          <a:p>
            <a:r>
              <a:rPr lang="en-US"/>
              <a:t>By the end of these 50 minutes, you will have a complete toolkit to navigate the future of AI trust.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290763" y="512763"/>
            <a:ext cx="4562475" cy="25669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71B2431-D351-4C6E-A3CF-9DFAC0E3E050}" type="slidenum">
              <a:rPr lang="cs-CZ" smtClean="0"/>
              <a:t>10</a:t>
            </a:fld>
            <a:endParaRPr lang="cs-CZ"/>
          </a:p>
        </p:txBody>
      </p:sp>
    </p:spTree>
    <p:extLst>
      <p:ext uri="{BB962C8B-B14F-4D97-AF65-F5344CB8AC3E}">
        <p14:creationId xmlns:p14="http://schemas.microsoft.com/office/powerpoint/2010/main" val="121610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As we wrap up our 50-minute journey, we want to leave you with two core conclusions that define the future of our field.</a:t>
            </a:r>
          </a:p>
          <a:p>
            <a:endParaRPr lang="en-US" dirty="0"/>
          </a:p>
          <a:p>
            <a:r>
              <a:rPr lang="en-US" dirty="0"/>
              <a:t>First, we are witnessing an evolution. XAI is no longer about a one-way technical report. It is moving toward context-awareness—AI that understands the specific business scenario and can engage in interactive explanations that actually make sense to a human listener.</a:t>
            </a:r>
          </a:p>
          <a:p>
            <a:endParaRPr lang="en-US" dirty="0"/>
          </a:p>
          <a:p>
            <a:r>
              <a:rPr lang="en-US" dirty="0"/>
              <a:t>Second, we are seeing a fusion. Pure machine logic is insufficient for high-stakes decisions. The future belongs to systems that can integrate technical data with the vast, heterogeneous knowledge that only humans possess—our ethics, our experience, and our intuition.</a:t>
            </a:r>
          </a:p>
          <a:p>
            <a:endParaRPr lang="en-US" dirty="0"/>
          </a:p>
          <a:p>
            <a:r>
              <a:rPr lang="en-US" dirty="0"/>
              <a:t>This brings us to our final perspective. As future leaders, we must embrace a paradigm shift: We are moving from 'Explaining the model' to 'Curating the truth.' AI provides the logic; we provide the meaning and the accountability."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3.png"/><Relationship Id="rId5" Type="http://schemas.openxmlformats.org/officeDocument/2006/relationships/image" Target="../media/image3.svg"/><Relationship Id="rId10"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5.svg"/><Relationship Id="rId12"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7.png"/><Relationship Id="rId5" Type="http://schemas.openxmlformats.org/officeDocument/2006/relationships/image" Target="../media/image3.svg"/><Relationship Id="rId10"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2.png"/><Relationship Id="rId7"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22.jpeg"/><Relationship Id="rId4" Type="http://schemas.openxmlformats.org/officeDocument/2006/relationships/image" Target="../media/image3.svg"/><Relationship Id="rId9" Type="http://schemas.openxmlformats.org/officeDocument/2006/relationships/image" Target="../media/image21.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27.jpeg"/><Relationship Id="rId4" Type="http://schemas.openxmlformats.org/officeDocument/2006/relationships/image" Target="../media/image2.png"/><Relationship Id="rId9"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9.sv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5.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8" Type="http://schemas.openxmlformats.org/officeDocument/2006/relationships/hyperlink" Target="https://link.springer.com/content/pdf/10.1007/s44230-023-00038-y.pdf" TargetMode="External"/><Relationship Id="rId3" Type="http://schemas.openxmlformats.org/officeDocument/2006/relationships/image" Target="../media/image2.png"/><Relationship Id="rId7" Type="http://schemas.openxmlformats.org/officeDocument/2006/relationships/hyperlink" Target="https://kpmg.com/xx/en/our-insights/ai-and-technology/trust-attitudes-and-use-of-ai.html"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hyperlink" Target="https://arxiv.org/pdf/2304.08366" TargetMode="External"/><Relationship Id="rId4" Type="http://schemas.openxmlformats.org/officeDocument/2006/relationships/image" Target="../media/image3.svg"/><Relationship Id="rId9" Type="http://schemas.openxmlformats.org/officeDocument/2006/relationships/hyperlink" Target="https://arxiv.org/pdf/2309.1705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a:off x="15849371" y="9576839"/>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361167" y="1057906"/>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Freeform 5"/>
          <p:cNvSpPr/>
          <p:nvPr/>
        </p:nvSpPr>
        <p:spPr>
          <a:xfrm>
            <a:off x="1402783" y="7869421"/>
            <a:ext cx="359299" cy="359299"/>
          </a:xfrm>
          <a:custGeom>
            <a:avLst/>
            <a:gdLst/>
            <a:ahLst/>
            <a:cxnLst/>
            <a:rect l="l" t="t" r="r" b="b"/>
            <a:pathLst>
              <a:path w="359299" h="359299">
                <a:moveTo>
                  <a:pt x="0" y="0"/>
                </a:moveTo>
                <a:lnTo>
                  <a:pt x="359299" y="0"/>
                </a:lnTo>
                <a:lnTo>
                  <a:pt x="359299" y="359300"/>
                </a:lnTo>
                <a:lnTo>
                  <a:pt x="0" y="359300"/>
                </a:lnTo>
                <a:lnTo>
                  <a:pt x="0" y="0"/>
                </a:lnTo>
                <a:close/>
              </a:path>
            </a:pathLst>
          </a:custGeom>
          <a:blipFill>
            <a:blip r:embed="rId7"/>
            <a:stretch>
              <a:fillRect/>
            </a:stretch>
          </a:blipFill>
        </p:spPr>
        <p:txBody>
          <a:bodyPr/>
          <a:lstStyle/>
          <a:p>
            <a:endParaRPr lang="zh-TW" altLang="en-US"/>
          </a:p>
        </p:txBody>
      </p:sp>
      <p:sp>
        <p:nvSpPr>
          <p:cNvPr id="6" name="Freeform 6"/>
          <p:cNvSpPr/>
          <p:nvPr/>
        </p:nvSpPr>
        <p:spPr>
          <a:xfrm>
            <a:off x="10262849" y="2601435"/>
            <a:ext cx="7121426" cy="4299268"/>
          </a:xfrm>
          <a:custGeom>
            <a:avLst/>
            <a:gdLst/>
            <a:ahLst/>
            <a:cxnLst/>
            <a:rect l="l" t="t" r="r" b="b"/>
            <a:pathLst>
              <a:path w="7121426" h="4299268">
                <a:moveTo>
                  <a:pt x="0" y="0"/>
                </a:moveTo>
                <a:lnTo>
                  <a:pt x="7121426" y="0"/>
                </a:lnTo>
                <a:lnTo>
                  <a:pt x="7121426" y="4299268"/>
                </a:lnTo>
                <a:lnTo>
                  <a:pt x="0" y="4299268"/>
                </a:lnTo>
                <a:lnTo>
                  <a:pt x="0" y="0"/>
                </a:lnTo>
                <a:close/>
              </a:path>
            </a:pathLst>
          </a:custGeom>
          <a:blipFill>
            <a:blip r:embed="rId8"/>
            <a:stretch>
              <a:fillRect l="-51717"/>
            </a:stretch>
          </a:blipFill>
        </p:spPr>
        <p:txBody>
          <a:bodyPr/>
          <a:lstStyle/>
          <a:p>
            <a:endParaRPr lang="zh-TW" altLang="en-US"/>
          </a:p>
        </p:txBody>
      </p:sp>
      <p:sp>
        <p:nvSpPr>
          <p:cNvPr id="7" name="TextBox 7"/>
          <p:cNvSpPr txBox="1"/>
          <p:nvPr/>
        </p:nvSpPr>
        <p:spPr>
          <a:xfrm>
            <a:off x="1409745" y="2830035"/>
            <a:ext cx="8270646" cy="3705225"/>
          </a:xfrm>
          <a:prstGeom prst="rect">
            <a:avLst/>
          </a:prstGeom>
        </p:spPr>
        <p:txBody>
          <a:bodyPr lIns="0" tIns="0" rIns="0" bIns="0" rtlCol="0" anchor="t">
            <a:spAutoFit/>
          </a:bodyPr>
          <a:lstStyle/>
          <a:p>
            <a:pPr algn="l">
              <a:lnSpc>
                <a:spcPts val="9599"/>
              </a:lnSpc>
            </a:pPr>
            <a:r>
              <a:rPr lang="en-US" sz="9999" b="1">
                <a:solidFill>
                  <a:srgbClr val="000000"/>
                </a:solidFill>
                <a:latin typeface="Cormorant Garamond Bold"/>
                <a:ea typeface="Cormorant Garamond Bold"/>
                <a:cs typeface="Cormorant Garamond Bold"/>
                <a:sym typeface="Cormorant Garamond Bold"/>
              </a:rPr>
              <a:t>Explainable AI and Data Story Telling</a:t>
            </a:r>
          </a:p>
        </p:txBody>
      </p:sp>
      <p:sp>
        <p:nvSpPr>
          <p:cNvPr id="8" name="TextBox 8"/>
          <p:cNvSpPr txBox="1"/>
          <p:nvPr/>
        </p:nvSpPr>
        <p:spPr>
          <a:xfrm>
            <a:off x="1409745" y="6929613"/>
            <a:ext cx="7809980" cy="464820"/>
          </a:xfrm>
          <a:prstGeom prst="rect">
            <a:avLst/>
          </a:prstGeom>
        </p:spPr>
        <p:txBody>
          <a:bodyPr lIns="0" tIns="0" rIns="0" bIns="0" rtlCol="0" anchor="t">
            <a:spAutoFit/>
          </a:bodyPr>
          <a:lstStyle/>
          <a:p>
            <a:pPr algn="l">
              <a:lnSpc>
                <a:spcPts val="3779"/>
              </a:lnSpc>
            </a:pPr>
            <a:r>
              <a:rPr lang="en-US" sz="2699">
                <a:solidFill>
                  <a:srgbClr val="000000"/>
                </a:solidFill>
                <a:latin typeface="Inter"/>
                <a:ea typeface="Inter"/>
                <a:cs typeface="Inter"/>
                <a:sym typeface="Inter"/>
              </a:rPr>
              <a:t>Bridging the Black Box with Narratives</a:t>
            </a:r>
          </a:p>
        </p:txBody>
      </p:sp>
      <p:sp>
        <p:nvSpPr>
          <p:cNvPr id="9" name="TextBox 9"/>
          <p:cNvSpPr txBox="1"/>
          <p:nvPr/>
        </p:nvSpPr>
        <p:spPr>
          <a:xfrm>
            <a:off x="1932433" y="7798311"/>
            <a:ext cx="14062930" cy="400679"/>
          </a:xfrm>
          <a:prstGeom prst="rect">
            <a:avLst/>
          </a:prstGeom>
        </p:spPr>
        <p:txBody>
          <a:bodyPr lIns="0" tIns="0" rIns="0" bIns="0" rtlCol="0" anchor="t">
            <a:spAutoFit/>
          </a:bodyPr>
          <a:lstStyle/>
          <a:p>
            <a:pPr algn="l">
              <a:lnSpc>
                <a:spcPts val="3277"/>
              </a:lnSpc>
            </a:pPr>
            <a:r>
              <a:rPr lang="en-US" sz="2341" dirty="0">
                <a:solidFill>
                  <a:srgbClr val="000000"/>
                </a:solidFill>
                <a:latin typeface="Inter"/>
                <a:ea typeface="Inter"/>
                <a:cs typeface="Inter"/>
                <a:sym typeface="Inter"/>
              </a:rPr>
              <a:t>Himadri Joy </a:t>
            </a:r>
            <a:r>
              <a:rPr lang="en-US" sz="2341" dirty="0" err="1">
                <a:solidFill>
                  <a:srgbClr val="000000"/>
                </a:solidFill>
                <a:latin typeface="Inter"/>
                <a:ea typeface="Inter"/>
                <a:cs typeface="Inter"/>
                <a:sym typeface="Inter"/>
              </a:rPr>
              <a:t>Bepari</a:t>
            </a:r>
            <a:r>
              <a:rPr lang="en-US" sz="2341" dirty="0">
                <a:solidFill>
                  <a:srgbClr val="000000"/>
                </a:solidFill>
                <a:latin typeface="Inter"/>
                <a:ea typeface="Inter"/>
                <a:cs typeface="Inter"/>
                <a:sym typeface="Inter"/>
              </a:rPr>
              <a:t>, Jing Chen, Le Hsu, Shu-Pei Huang, Varun Arun</a:t>
            </a:r>
          </a:p>
        </p:txBody>
      </p:sp>
      <p:sp>
        <p:nvSpPr>
          <p:cNvPr id="10" name="TextBox 10"/>
          <p:cNvSpPr txBox="1"/>
          <p:nvPr/>
        </p:nvSpPr>
        <p:spPr>
          <a:xfrm>
            <a:off x="13823562" y="820713"/>
            <a:ext cx="2171801" cy="306738"/>
          </a:xfrm>
          <a:prstGeom prst="rect">
            <a:avLst/>
          </a:prstGeom>
        </p:spPr>
        <p:txBody>
          <a:bodyPr lIns="0" tIns="0" rIns="0" bIns="0" rtlCol="0" anchor="t">
            <a:spAutoFit/>
          </a:bodyPr>
          <a:lstStyle/>
          <a:p>
            <a:pPr algn="l">
              <a:lnSpc>
                <a:spcPts val="2520"/>
              </a:lnSpc>
            </a:pPr>
            <a:r>
              <a:rPr lang="en-US" sz="1800">
                <a:solidFill>
                  <a:srgbClr val="000000"/>
                </a:solidFill>
                <a:latin typeface="Inter"/>
                <a:ea typeface="Inter"/>
                <a:cs typeface="Inter"/>
                <a:sym typeface="Inter"/>
              </a:rPr>
              <a:t>Presented by</a:t>
            </a:r>
          </a:p>
        </p:txBody>
      </p:sp>
      <p:sp>
        <p:nvSpPr>
          <p:cNvPr id="11" name="TextBox 11"/>
          <p:cNvSpPr txBox="1"/>
          <p:nvPr/>
        </p:nvSpPr>
        <p:spPr>
          <a:xfrm>
            <a:off x="15380313" y="817837"/>
            <a:ext cx="2264577" cy="306705"/>
          </a:xfrm>
          <a:prstGeom prst="rect">
            <a:avLst/>
          </a:prstGeom>
        </p:spPr>
        <p:txBody>
          <a:bodyPr lIns="0" tIns="0" rIns="0" bIns="0" rtlCol="0" anchor="t">
            <a:spAutoFit/>
          </a:bodyPr>
          <a:lstStyle/>
          <a:p>
            <a:pPr algn="l">
              <a:lnSpc>
                <a:spcPts val="2520"/>
              </a:lnSpc>
            </a:pPr>
            <a:r>
              <a:rPr lang="en-US" sz="1800" b="1">
                <a:solidFill>
                  <a:srgbClr val="000000"/>
                </a:solidFill>
                <a:latin typeface="Inter Bold"/>
                <a:ea typeface="Inter Bold"/>
                <a:cs typeface="Inter Bold"/>
                <a:sym typeface="Inter Bold"/>
              </a:rPr>
              <a:t>Group 4</a:t>
            </a:r>
          </a:p>
        </p:txBody>
      </p:sp>
      <p:sp>
        <p:nvSpPr>
          <p:cNvPr id="12" name="TextBox 12"/>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TextBox 3"/>
          <p:cNvSpPr txBox="1"/>
          <p:nvPr/>
        </p:nvSpPr>
        <p:spPr>
          <a:xfrm>
            <a:off x="1865614" y="1755870"/>
            <a:ext cx="6149269"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Team Members</a:t>
            </a:r>
          </a:p>
        </p:txBody>
      </p:sp>
      <p:grpSp>
        <p:nvGrpSpPr>
          <p:cNvPr id="4" name="Group 4"/>
          <p:cNvGrpSpPr/>
          <p:nvPr/>
        </p:nvGrpSpPr>
        <p:grpSpPr>
          <a:xfrm>
            <a:off x="3641783" y="6268617"/>
            <a:ext cx="5163766" cy="2323125"/>
            <a:chOff x="0" y="0"/>
            <a:chExt cx="1360004" cy="611852"/>
          </a:xfrm>
        </p:grpSpPr>
        <p:sp>
          <p:nvSpPr>
            <p:cNvPr id="5" name="Freeform 5"/>
            <p:cNvSpPr/>
            <p:nvPr/>
          </p:nvSpPr>
          <p:spPr>
            <a:xfrm>
              <a:off x="0" y="0"/>
              <a:ext cx="1360004" cy="611852"/>
            </a:xfrm>
            <a:custGeom>
              <a:avLst/>
              <a:gdLst/>
              <a:ahLst/>
              <a:cxnLst/>
              <a:rect l="l" t="t" r="r" b="b"/>
              <a:pathLst>
                <a:path w="1360004" h="611852">
                  <a:moveTo>
                    <a:pt x="55473" y="0"/>
                  </a:moveTo>
                  <a:lnTo>
                    <a:pt x="1304531" y="0"/>
                  </a:lnTo>
                  <a:cubicBezTo>
                    <a:pt x="1319243" y="0"/>
                    <a:pt x="1333353" y="5844"/>
                    <a:pt x="1343757" y="16248"/>
                  </a:cubicBezTo>
                  <a:cubicBezTo>
                    <a:pt x="1354160" y="26651"/>
                    <a:pt x="1360004" y="40761"/>
                    <a:pt x="1360004" y="55473"/>
                  </a:cubicBezTo>
                  <a:lnTo>
                    <a:pt x="1360004" y="556379"/>
                  </a:lnTo>
                  <a:cubicBezTo>
                    <a:pt x="1360004" y="571091"/>
                    <a:pt x="1354160" y="585201"/>
                    <a:pt x="1343757" y="595604"/>
                  </a:cubicBezTo>
                  <a:cubicBezTo>
                    <a:pt x="1333353" y="606007"/>
                    <a:pt x="1319243" y="611852"/>
                    <a:pt x="1304531" y="611852"/>
                  </a:cubicBezTo>
                  <a:lnTo>
                    <a:pt x="55473" y="611852"/>
                  </a:lnTo>
                  <a:cubicBezTo>
                    <a:pt x="40761" y="611852"/>
                    <a:pt x="26651" y="606007"/>
                    <a:pt x="16248" y="595604"/>
                  </a:cubicBezTo>
                  <a:cubicBezTo>
                    <a:pt x="5844" y="585201"/>
                    <a:pt x="0" y="571091"/>
                    <a:pt x="0" y="556379"/>
                  </a:cubicBezTo>
                  <a:lnTo>
                    <a:pt x="0" y="55473"/>
                  </a:lnTo>
                  <a:cubicBezTo>
                    <a:pt x="0" y="40761"/>
                    <a:pt x="5844" y="26651"/>
                    <a:pt x="16248" y="16248"/>
                  </a:cubicBezTo>
                  <a:cubicBezTo>
                    <a:pt x="26651" y="5844"/>
                    <a:pt x="40761" y="0"/>
                    <a:pt x="55473"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6" name="TextBox 6"/>
            <p:cNvSpPr txBox="1"/>
            <p:nvPr/>
          </p:nvSpPr>
          <p:spPr>
            <a:xfrm>
              <a:off x="0" y="19050"/>
              <a:ext cx="1360004" cy="592802"/>
            </a:xfrm>
            <a:prstGeom prst="rect">
              <a:avLst/>
            </a:prstGeom>
          </p:spPr>
          <p:txBody>
            <a:bodyPr lIns="50800" tIns="50800" rIns="50800" bIns="50800" rtlCol="0" anchor="ctr"/>
            <a:lstStyle/>
            <a:p>
              <a:pPr algn="ctr">
                <a:lnSpc>
                  <a:spcPts val="2530"/>
                </a:lnSpc>
              </a:pPr>
              <a:endParaRPr/>
            </a:p>
          </p:txBody>
        </p:sp>
      </p:grpSp>
      <p:sp>
        <p:nvSpPr>
          <p:cNvPr id="7" name="Freeform 7"/>
          <p:cNvSpPr/>
          <p:nvPr/>
        </p:nvSpPr>
        <p:spPr>
          <a:xfrm>
            <a:off x="4290750" y="6644361"/>
            <a:ext cx="381257" cy="381257"/>
          </a:xfrm>
          <a:custGeom>
            <a:avLst/>
            <a:gdLst/>
            <a:ahLst/>
            <a:cxnLst/>
            <a:rect l="l" t="t" r="r" b="b"/>
            <a:pathLst>
              <a:path w="381257" h="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8" name="TextBox 8"/>
          <p:cNvSpPr txBox="1"/>
          <p:nvPr/>
        </p:nvSpPr>
        <p:spPr>
          <a:xfrm>
            <a:off x="4928371" y="6701099"/>
            <a:ext cx="2978064"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Shu-Pei Huang</a:t>
            </a:r>
          </a:p>
        </p:txBody>
      </p:sp>
      <p:sp>
        <p:nvSpPr>
          <p:cNvPr id="9" name="TextBox 9"/>
          <p:cNvSpPr txBox="1"/>
          <p:nvPr/>
        </p:nvSpPr>
        <p:spPr>
          <a:xfrm>
            <a:off x="4156181" y="7129717"/>
            <a:ext cx="4431745" cy="935241"/>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Find applied field to bridge theory with practice. Supplement regulatory frameworks and authentication of AI.</a:t>
            </a:r>
          </a:p>
        </p:txBody>
      </p:sp>
      <p:grpSp>
        <p:nvGrpSpPr>
          <p:cNvPr id="10" name="Group 10"/>
          <p:cNvGrpSpPr/>
          <p:nvPr/>
        </p:nvGrpSpPr>
        <p:grpSpPr>
          <a:xfrm>
            <a:off x="9811595" y="6253424"/>
            <a:ext cx="4890688" cy="2338318"/>
            <a:chOff x="0" y="0"/>
            <a:chExt cx="1288082" cy="615853"/>
          </a:xfrm>
        </p:grpSpPr>
        <p:sp>
          <p:nvSpPr>
            <p:cNvPr id="11" name="Freeform 11"/>
            <p:cNvSpPr/>
            <p:nvPr/>
          </p:nvSpPr>
          <p:spPr>
            <a:xfrm>
              <a:off x="0" y="0"/>
              <a:ext cx="1288082" cy="615853"/>
            </a:xfrm>
            <a:custGeom>
              <a:avLst/>
              <a:gdLst/>
              <a:ahLst/>
              <a:cxnLst/>
              <a:rect l="l" t="t" r="r" b="b"/>
              <a:pathLst>
                <a:path w="1288082" h="615853">
                  <a:moveTo>
                    <a:pt x="58571" y="0"/>
                  </a:moveTo>
                  <a:lnTo>
                    <a:pt x="1229512" y="0"/>
                  </a:lnTo>
                  <a:cubicBezTo>
                    <a:pt x="1245046" y="0"/>
                    <a:pt x="1259943" y="6171"/>
                    <a:pt x="1270927" y="17155"/>
                  </a:cubicBezTo>
                  <a:cubicBezTo>
                    <a:pt x="1281912" y="28139"/>
                    <a:pt x="1288082" y="43037"/>
                    <a:pt x="1288082" y="58571"/>
                  </a:cubicBezTo>
                  <a:lnTo>
                    <a:pt x="1288082" y="557283"/>
                  </a:lnTo>
                  <a:cubicBezTo>
                    <a:pt x="1288082" y="572816"/>
                    <a:pt x="1281912" y="587714"/>
                    <a:pt x="1270927" y="598698"/>
                  </a:cubicBezTo>
                  <a:cubicBezTo>
                    <a:pt x="1259943" y="609682"/>
                    <a:pt x="1245046" y="615853"/>
                    <a:pt x="1229512" y="615853"/>
                  </a:cubicBezTo>
                  <a:lnTo>
                    <a:pt x="58571" y="615853"/>
                  </a:lnTo>
                  <a:cubicBezTo>
                    <a:pt x="43037" y="615853"/>
                    <a:pt x="28139" y="609682"/>
                    <a:pt x="17155" y="598698"/>
                  </a:cubicBezTo>
                  <a:cubicBezTo>
                    <a:pt x="6171" y="587714"/>
                    <a:pt x="0" y="572816"/>
                    <a:pt x="0" y="557283"/>
                  </a:cubicBezTo>
                  <a:lnTo>
                    <a:pt x="0" y="58571"/>
                  </a:lnTo>
                  <a:cubicBezTo>
                    <a:pt x="0" y="43037"/>
                    <a:pt x="6171" y="28139"/>
                    <a:pt x="17155" y="17155"/>
                  </a:cubicBezTo>
                  <a:cubicBezTo>
                    <a:pt x="28139" y="6171"/>
                    <a:pt x="43037" y="0"/>
                    <a:pt x="58571"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2" name="TextBox 12"/>
            <p:cNvSpPr txBox="1"/>
            <p:nvPr/>
          </p:nvSpPr>
          <p:spPr>
            <a:xfrm>
              <a:off x="0" y="19050"/>
              <a:ext cx="1288082" cy="596803"/>
            </a:xfrm>
            <a:prstGeom prst="rect">
              <a:avLst/>
            </a:prstGeom>
          </p:spPr>
          <p:txBody>
            <a:bodyPr lIns="50800" tIns="50800" rIns="50800" bIns="50800" rtlCol="0" anchor="ctr"/>
            <a:lstStyle/>
            <a:p>
              <a:pPr algn="ctr">
                <a:lnSpc>
                  <a:spcPts val="2530"/>
                </a:lnSpc>
              </a:pPr>
              <a:endParaRPr/>
            </a:p>
          </p:txBody>
        </p:sp>
      </p:grpSp>
      <p:sp>
        <p:nvSpPr>
          <p:cNvPr id="13" name="Freeform 13"/>
          <p:cNvSpPr/>
          <p:nvPr/>
        </p:nvSpPr>
        <p:spPr>
          <a:xfrm>
            <a:off x="10535679" y="6644361"/>
            <a:ext cx="381257" cy="381257"/>
          </a:xfrm>
          <a:custGeom>
            <a:avLst/>
            <a:gdLst/>
            <a:ahLst/>
            <a:cxnLst/>
            <a:rect l="l" t="t" r="r" b="b"/>
            <a:pathLst>
              <a:path w="381257" h="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4" name="TextBox 14"/>
          <p:cNvSpPr txBox="1"/>
          <p:nvPr/>
        </p:nvSpPr>
        <p:spPr>
          <a:xfrm>
            <a:off x="11174111" y="6701099"/>
            <a:ext cx="3115320"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Le Hsu</a:t>
            </a:r>
          </a:p>
        </p:txBody>
      </p:sp>
      <p:sp>
        <p:nvSpPr>
          <p:cNvPr id="15" name="TextBox 15"/>
          <p:cNvSpPr txBox="1"/>
          <p:nvPr/>
        </p:nvSpPr>
        <p:spPr>
          <a:xfrm>
            <a:off x="10369381" y="7129717"/>
            <a:ext cx="3992738" cy="1249528"/>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Coordinate a 50-minute seminar by shaping a clear narrative, audience journey, design an audience interaction, and a unified final deck.</a:t>
            </a:r>
          </a:p>
        </p:txBody>
      </p:sp>
      <p:sp>
        <p:nvSpPr>
          <p:cNvPr id="16" name="TextBox 16"/>
          <p:cNvSpPr txBox="1"/>
          <p:nvPr/>
        </p:nvSpPr>
        <p:spPr>
          <a:xfrm>
            <a:off x="13442517" y="741838"/>
            <a:ext cx="2171801" cy="306738"/>
          </a:xfrm>
          <a:prstGeom prst="rect">
            <a:avLst/>
          </a:prstGeom>
        </p:spPr>
        <p:txBody>
          <a:bodyPr lIns="0" tIns="0" rIns="0" bIns="0" rtlCol="0" anchor="t">
            <a:spAutoFit/>
          </a:bodyPr>
          <a:lstStyle/>
          <a:p>
            <a:pPr algn="l">
              <a:lnSpc>
                <a:spcPts val="2520"/>
              </a:lnSpc>
            </a:pPr>
            <a:r>
              <a:rPr lang="en-US" sz="1800">
                <a:solidFill>
                  <a:srgbClr val="363336"/>
                </a:solidFill>
                <a:latin typeface="Inter"/>
                <a:ea typeface="Inter"/>
                <a:cs typeface="Inter"/>
                <a:sym typeface="Inter"/>
              </a:rPr>
              <a:t>Presented by</a:t>
            </a:r>
          </a:p>
        </p:txBody>
      </p:sp>
      <p:sp>
        <p:nvSpPr>
          <p:cNvPr id="17" name="TextBox 17"/>
          <p:cNvSpPr txBox="1"/>
          <p:nvPr/>
        </p:nvSpPr>
        <p:spPr>
          <a:xfrm>
            <a:off x="14999267" y="738961"/>
            <a:ext cx="2264577" cy="306705"/>
          </a:xfrm>
          <a:prstGeom prst="rect">
            <a:avLst/>
          </a:prstGeom>
        </p:spPr>
        <p:txBody>
          <a:bodyPr lIns="0" tIns="0" rIns="0" bIns="0" rtlCol="0" anchor="t">
            <a:spAutoFit/>
          </a:bodyPr>
          <a:lstStyle/>
          <a:p>
            <a:pPr algn="l">
              <a:lnSpc>
                <a:spcPts val="2520"/>
              </a:lnSpc>
            </a:pPr>
            <a:r>
              <a:rPr lang="en-US" sz="1800" b="1">
                <a:solidFill>
                  <a:srgbClr val="363336"/>
                </a:solidFill>
                <a:latin typeface="Inter Bold"/>
                <a:ea typeface="Inter Bold"/>
                <a:cs typeface="Inter Bold"/>
                <a:sym typeface="Inter Bold"/>
              </a:rPr>
              <a:t>Group 4</a:t>
            </a:r>
          </a:p>
        </p:txBody>
      </p:sp>
      <p:sp>
        <p:nvSpPr>
          <p:cNvPr id="18" name="Freeform 18"/>
          <p:cNvSpPr/>
          <p:nvPr/>
        </p:nvSpPr>
        <p:spPr>
          <a:xfrm rot="-10800000">
            <a:off x="15437788" y="9450111"/>
            <a:ext cx="3115252" cy="543753"/>
          </a:xfrm>
          <a:custGeom>
            <a:avLst/>
            <a:gdLst/>
            <a:ahLst/>
            <a:cxnLst/>
            <a:rect l="l" t="t" r="r" b="b"/>
            <a:pathLst>
              <a:path w="3115252" h="543753">
                <a:moveTo>
                  <a:pt x="0" y="0"/>
                </a:moveTo>
                <a:lnTo>
                  <a:pt x="3115253" y="0"/>
                </a:lnTo>
                <a:lnTo>
                  <a:pt x="3115253"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19" name="Freeform 19"/>
          <p:cNvSpPr/>
          <p:nvPr/>
        </p:nvSpPr>
        <p:spPr>
          <a:xfrm>
            <a:off x="8361167" y="1057906"/>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grpSp>
        <p:nvGrpSpPr>
          <p:cNvPr id="20" name="Group 20"/>
          <p:cNvGrpSpPr/>
          <p:nvPr/>
        </p:nvGrpSpPr>
        <p:grpSpPr>
          <a:xfrm>
            <a:off x="1760657" y="2926735"/>
            <a:ext cx="4463010" cy="2413373"/>
            <a:chOff x="0" y="0"/>
            <a:chExt cx="1175443" cy="635621"/>
          </a:xfrm>
        </p:grpSpPr>
        <p:sp>
          <p:nvSpPr>
            <p:cNvPr id="21" name="Freeform 21"/>
            <p:cNvSpPr/>
            <p:nvPr/>
          </p:nvSpPr>
          <p:spPr>
            <a:xfrm>
              <a:off x="0" y="0"/>
              <a:ext cx="1175443" cy="635621"/>
            </a:xfrm>
            <a:custGeom>
              <a:avLst/>
              <a:gdLst/>
              <a:ahLst/>
              <a:cxnLst/>
              <a:rect l="l" t="t" r="r" b="b"/>
              <a:pathLst>
                <a:path w="1175443" h="635621">
                  <a:moveTo>
                    <a:pt x="64183" y="0"/>
                  </a:moveTo>
                  <a:lnTo>
                    <a:pt x="1111259" y="0"/>
                  </a:lnTo>
                  <a:cubicBezTo>
                    <a:pt x="1128282" y="0"/>
                    <a:pt x="1144607" y="6762"/>
                    <a:pt x="1156644" y="18799"/>
                  </a:cubicBezTo>
                  <a:cubicBezTo>
                    <a:pt x="1168681" y="30836"/>
                    <a:pt x="1175443" y="47161"/>
                    <a:pt x="1175443" y="64183"/>
                  </a:cubicBezTo>
                  <a:lnTo>
                    <a:pt x="1175443" y="571438"/>
                  </a:lnTo>
                  <a:cubicBezTo>
                    <a:pt x="1175443" y="588460"/>
                    <a:pt x="1168681" y="604785"/>
                    <a:pt x="1156644" y="616822"/>
                  </a:cubicBezTo>
                  <a:cubicBezTo>
                    <a:pt x="1144607" y="628859"/>
                    <a:pt x="1128282" y="635621"/>
                    <a:pt x="1111259" y="635621"/>
                  </a:cubicBezTo>
                  <a:lnTo>
                    <a:pt x="64183" y="635621"/>
                  </a:lnTo>
                  <a:cubicBezTo>
                    <a:pt x="47161" y="635621"/>
                    <a:pt x="30836" y="628859"/>
                    <a:pt x="18799" y="616822"/>
                  </a:cubicBezTo>
                  <a:cubicBezTo>
                    <a:pt x="6762" y="604785"/>
                    <a:pt x="0" y="588460"/>
                    <a:pt x="0" y="571438"/>
                  </a:cubicBezTo>
                  <a:lnTo>
                    <a:pt x="0" y="64183"/>
                  </a:lnTo>
                  <a:cubicBezTo>
                    <a:pt x="0" y="47161"/>
                    <a:pt x="6762" y="30836"/>
                    <a:pt x="18799" y="18799"/>
                  </a:cubicBezTo>
                  <a:cubicBezTo>
                    <a:pt x="30836" y="6762"/>
                    <a:pt x="47161" y="0"/>
                    <a:pt x="64183"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22" name="TextBox 22"/>
            <p:cNvSpPr txBox="1"/>
            <p:nvPr/>
          </p:nvSpPr>
          <p:spPr>
            <a:xfrm>
              <a:off x="0" y="19050"/>
              <a:ext cx="1175443" cy="616571"/>
            </a:xfrm>
            <a:prstGeom prst="rect">
              <a:avLst/>
            </a:prstGeom>
          </p:spPr>
          <p:txBody>
            <a:bodyPr lIns="50800" tIns="50800" rIns="50800" bIns="50800" rtlCol="0" anchor="ctr"/>
            <a:lstStyle/>
            <a:p>
              <a:pPr algn="ctr">
                <a:lnSpc>
                  <a:spcPts val="2530"/>
                </a:lnSpc>
              </a:pPr>
              <a:endParaRPr/>
            </a:p>
          </p:txBody>
        </p:sp>
      </p:grpSp>
      <p:grpSp>
        <p:nvGrpSpPr>
          <p:cNvPr id="23" name="Group 23"/>
          <p:cNvGrpSpPr/>
          <p:nvPr/>
        </p:nvGrpSpPr>
        <p:grpSpPr>
          <a:xfrm>
            <a:off x="7063203" y="2926735"/>
            <a:ext cx="4463010" cy="2413373"/>
            <a:chOff x="0" y="0"/>
            <a:chExt cx="1175443" cy="635621"/>
          </a:xfrm>
        </p:grpSpPr>
        <p:sp>
          <p:nvSpPr>
            <p:cNvPr id="24" name="Freeform 24"/>
            <p:cNvSpPr/>
            <p:nvPr/>
          </p:nvSpPr>
          <p:spPr>
            <a:xfrm>
              <a:off x="0" y="0"/>
              <a:ext cx="1175443" cy="635621"/>
            </a:xfrm>
            <a:custGeom>
              <a:avLst/>
              <a:gdLst/>
              <a:ahLst/>
              <a:cxnLst/>
              <a:rect l="l" t="t" r="r" b="b"/>
              <a:pathLst>
                <a:path w="1175443" h="635621">
                  <a:moveTo>
                    <a:pt x="64183" y="0"/>
                  </a:moveTo>
                  <a:lnTo>
                    <a:pt x="1111259" y="0"/>
                  </a:lnTo>
                  <a:cubicBezTo>
                    <a:pt x="1128282" y="0"/>
                    <a:pt x="1144607" y="6762"/>
                    <a:pt x="1156644" y="18799"/>
                  </a:cubicBezTo>
                  <a:cubicBezTo>
                    <a:pt x="1168681" y="30836"/>
                    <a:pt x="1175443" y="47161"/>
                    <a:pt x="1175443" y="64183"/>
                  </a:cubicBezTo>
                  <a:lnTo>
                    <a:pt x="1175443" y="571438"/>
                  </a:lnTo>
                  <a:cubicBezTo>
                    <a:pt x="1175443" y="588460"/>
                    <a:pt x="1168681" y="604785"/>
                    <a:pt x="1156644" y="616822"/>
                  </a:cubicBezTo>
                  <a:cubicBezTo>
                    <a:pt x="1144607" y="628859"/>
                    <a:pt x="1128282" y="635621"/>
                    <a:pt x="1111259" y="635621"/>
                  </a:cubicBezTo>
                  <a:lnTo>
                    <a:pt x="64183" y="635621"/>
                  </a:lnTo>
                  <a:cubicBezTo>
                    <a:pt x="47161" y="635621"/>
                    <a:pt x="30836" y="628859"/>
                    <a:pt x="18799" y="616822"/>
                  </a:cubicBezTo>
                  <a:cubicBezTo>
                    <a:pt x="6762" y="604785"/>
                    <a:pt x="0" y="588460"/>
                    <a:pt x="0" y="571438"/>
                  </a:cubicBezTo>
                  <a:lnTo>
                    <a:pt x="0" y="64183"/>
                  </a:lnTo>
                  <a:cubicBezTo>
                    <a:pt x="0" y="47161"/>
                    <a:pt x="6762" y="30836"/>
                    <a:pt x="18799" y="18799"/>
                  </a:cubicBezTo>
                  <a:cubicBezTo>
                    <a:pt x="30836" y="6762"/>
                    <a:pt x="47161" y="0"/>
                    <a:pt x="64183"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25" name="TextBox 25"/>
            <p:cNvSpPr txBox="1"/>
            <p:nvPr/>
          </p:nvSpPr>
          <p:spPr>
            <a:xfrm>
              <a:off x="0" y="19050"/>
              <a:ext cx="1175443" cy="616571"/>
            </a:xfrm>
            <a:prstGeom prst="rect">
              <a:avLst/>
            </a:prstGeom>
          </p:spPr>
          <p:txBody>
            <a:bodyPr lIns="50800" tIns="50800" rIns="50800" bIns="50800" rtlCol="0" anchor="ctr"/>
            <a:lstStyle/>
            <a:p>
              <a:pPr algn="ctr">
                <a:lnSpc>
                  <a:spcPts val="2530"/>
                </a:lnSpc>
              </a:pPr>
              <a:endParaRPr/>
            </a:p>
          </p:txBody>
        </p:sp>
      </p:grpSp>
      <p:grpSp>
        <p:nvGrpSpPr>
          <p:cNvPr id="26" name="Group 26"/>
          <p:cNvGrpSpPr/>
          <p:nvPr/>
        </p:nvGrpSpPr>
        <p:grpSpPr>
          <a:xfrm>
            <a:off x="12365750" y="2926735"/>
            <a:ext cx="4463010" cy="2413373"/>
            <a:chOff x="0" y="0"/>
            <a:chExt cx="1175443" cy="635621"/>
          </a:xfrm>
        </p:grpSpPr>
        <p:sp>
          <p:nvSpPr>
            <p:cNvPr id="27" name="Freeform 27"/>
            <p:cNvSpPr/>
            <p:nvPr/>
          </p:nvSpPr>
          <p:spPr>
            <a:xfrm>
              <a:off x="0" y="0"/>
              <a:ext cx="1175443" cy="635621"/>
            </a:xfrm>
            <a:custGeom>
              <a:avLst/>
              <a:gdLst/>
              <a:ahLst/>
              <a:cxnLst/>
              <a:rect l="l" t="t" r="r" b="b"/>
              <a:pathLst>
                <a:path w="1175443" h="635621">
                  <a:moveTo>
                    <a:pt x="64183" y="0"/>
                  </a:moveTo>
                  <a:lnTo>
                    <a:pt x="1111259" y="0"/>
                  </a:lnTo>
                  <a:cubicBezTo>
                    <a:pt x="1128282" y="0"/>
                    <a:pt x="1144607" y="6762"/>
                    <a:pt x="1156644" y="18799"/>
                  </a:cubicBezTo>
                  <a:cubicBezTo>
                    <a:pt x="1168681" y="30836"/>
                    <a:pt x="1175443" y="47161"/>
                    <a:pt x="1175443" y="64183"/>
                  </a:cubicBezTo>
                  <a:lnTo>
                    <a:pt x="1175443" y="571438"/>
                  </a:lnTo>
                  <a:cubicBezTo>
                    <a:pt x="1175443" y="588460"/>
                    <a:pt x="1168681" y="604785"/>
                    <a:pt x="1156644" y="616822"/>
                  </a:cubicBezTo>
                  <a:cubicBezTo>
                    <a:pt x="1144607" y="628859"/>
                    <a:pt x="1128282" y="635621"/>
                    <a:pt x="1111259" y="635621"/>
                  </a:cubicBezTo>
                  <a:lnTo>
                    <a:pt x="64183" y="635621"/>
                  </a:lnTo>
                  <a:cubicBezTo>
                    <a:pt x="47161" y="635621"/>
                    <a:pt x="30836" y="628859"/>
                    <a:pt x="18799" y="616822"/>
                  </a:cubicBezTo>
                  <a:cubicBezTo>
                    <a:pt x="6762" y="604785"/>
                    <a:pt x="0" y="588460"/>
                    <a:pt x="0" y="571438"/>
                  </a:cubicBezTo>
                  <a:lnTo>
                    <a:pt x="0" y="64183"/>
                  </a:lnTo>
                  <a:cubicBezTo>
                    <a:pt x="0" y="47161"/>
                    <a:pt x="6762" y="30836"/>
                    <a:pt x="18799" y="18799"/>
                  </a:cubicBezTo>
                  <a:cubicBezTo>
                    <a:pt x="30836" y="6762"/>
                    <a:pt x="47161" y="0"/>
                    <a:pt x="64183"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28" name="TextBox 28"/>
            <p:cNvSpPr txBox="1"/>
            <p:nvPr/>
          </p:nvSpPr>
          <p:spPr>
            <a:xfrm>
              <a:off x="0" y="19050"/>
              <a:ext cx="1175443" cy="616571"/>
            </a:xfrm>
            <a:prstGeom prst="rect">
              <a:avLst/>
            </a:prstGeom>
          </p:spPr>
          <p:txBody>
            <a:bodyPr lIns="50800" tIns="50800" rIns="50800" bIns="50800" rtlCol="0" anchor="ctr"/>
            <a:lstStyle/>
            <a:p>
              <a:pPr algn="ctr">
                <a:lnSpc>
                  <a:spcPts val="2530"/>
                </a:lnSpc>
              </a:pPr>
              <a:endParaRPr/>
            </a:p>
          </p:txBody>
        </p:sp>
      </p:grpSp>
      <p:sp>
        <p:nvSpPr>
          <p:cNvPr id="29" name="Freeform 29"/>
          <p:cNvSpPr/>
          <p:nvPr/>
        </p:nvSpPr>
        <p:spPr>
          <a:xfrm>
            <a:off x="2396149" y="3308146"/>
            <a:ext cx="381257" cy="381257"/>
          </a:xfrm>
          <a:custGeom>
            <a:avLst/>
            <a:gdLst/>
            <a:ahLst/>
            <a:cxnLst/>
            <a:rect l="l" t="t" r="r" b="b"/>
            <a:pathLst>
              <a:path w="381257" h="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30" name="Freeform 30"/>
          <p:cNvSpPr/>
          <p:nvPr/>
        </p:nvSpPr>
        <p:spPr>
          <a:xfrm>
            <a:off x="7787287" y="3308146"/>
            <a:ext cx="381257" cy="381257"/>
          </a:xfrm>
          <a:custGeom>
            <a:avLst/>
            <a:gdLst/>
            <a:ahLst/>
            <a:cxnLst/>
            <a:rect l="l" t="t" r="r" b="b"/>
            <a:pathLst>
              <a:path w="381257" h="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31" name="Freeform 31"/>
          <p:cNvSpPr/>
          <p:nvPr/>
        </p:nvSpPr>
        <p:spPr>
          <a:xfrm>
            <a:off x="13103139" y="3308146"/>
            <a:ext cx="381257" cy="381257"/>
          </a:xfrm>
          <a:custGeom>
            <a:avLst/>
            <a:gdLst/>
            <a:ahLst/>
            <a:cxnLst/>
            <a:rect l="l" t="t" r="r" b="b"/>
            <a:pathLst>
              <a:path w="381257" h="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32" name="TextBox 32"/>
          <p:cNvSpPr txBox="1"/>
          <p:nvPr/>
        </p:nvSpPr>
        <p:spPr>
          <a:xfrm>
            <a:off x="3033770" y="3364885"/>
            <a:ext cx="2978064" cy="324485"/>
          </a:xfrm>
          <a:prstGeom prst="rect">
            <a:avLst/>
          </a:prstGeom>
        </p:spPr>
        <p:txBody>
          <a:bodyPr lIns="0" tIns="0" rIns="0" bIns="0" rtlCol="0" anchor="t">
            <a:spAutoFit/>
          </a:bodyPr>
          <a:lstStyle/>
          <a:p>
            <a:pPr algn="l">
              <a:lnSpc>
                <a:spcPts val="2530"/>
              </a:lnSpc>
            </a:pPr>
            <a:r>
              <a:rPr lang="en-US" sz="2300" dirty="0">
                <a:solidFill>
                  <a:srgbClr val="000000"/>
                </a:solidFill>
                <a:latin typeface="Inter"/>
                <a:ea typeface="Inter"/>
                <a:cs typeface="Inter"/>
                <a:sym typeface="Inter"/>
              </a:rPr>
              <a:t>Varun Arun</a:t>
            </a:r>
          </a:p>
        </p:txBody>
      </p:sp>
      <p:sp>
        <p:nvSpPr>
          <p:cNvPr id="33" name="TextBox 33"/>
          <p:cNvSpPr txBox="1"/>
          <p:nvPr/>
        </p:nvSpPr>
        <p:spPr>
          <a:xfrm>
            <a:off x="8425719" y="3364885"/>
            <a:ext cx="3115320"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Himadri Joy Bepari</a:t>
            </a:r>
          </a:p>
        </p:txBody>
      </p:sp>
      <p:sp>
        <p:nvSpPr>
          <p:cNvPr id="34" name="TextBox 34"/>
          <p:cNvSpPr txBox="1"/>
          <p:nvPr/>
        </p:nvSpPr>
        <p:spPr>
          <a:xfrm>
            <a:off x="13741571" y="3364885"/>
            <a:ext cx="3389585"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Jing Chen</a:t>
            </a:r>
          </a:p>
        </p:txBody>
      </p:sp>
      <p:sp>
        <p:nvSpPr>
          <p:cNvPr id="35" name="TextBox 35"/>
          <p:cNvSpPr txBox="1"/>
          <p:nvPr/>
        </p:nvSpPr>
        <p:spPr>
          <a:xfrm>
            <a:off x="2396149" y="4005848"/>
            <a:ext cx="3189896" cy="935354"/>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Focus on XAI foundations, technical approaches, and limitations.</a:t>
            </a:r>
          </a:p>
        </p:txBody>
      </p:sp>
      <p:sp>
        <p:nvSpPr>
          <p:cNvPr id="36" name="TextBox 36"/>
          <p:cNvSpPr txBox="1"/>
          <p:nvPr/>
        </p:nvSpPr>
        <p:spPr>
          <a:xfrm>
            <a:off x="7787287" y="4005848"/>
            <a:ext cx="3314386" cy="935354"/>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Focus on Narrative-driven XAI and how LLMs empower storytelling.</a:t>
            </a:r>
          </a:p>
        </p:txBody>
      </p:sp>
      <p:sp>
        <p:nvSpPr>
          <p:cNvPr id="37" name="TextBox 37"/>
          <p:cNvSpPr txBox="1"/>
          <p:nvPr/>
        </p:nvSpPr>
        <p:spPr>
          <a:xfrm>
            <a:off x="13088313" y="4005848"/>
            <a:ext cx="3227940" cy="935354"/>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Focus on Human-AI collaboration and why AI isn't a panacea for data workers.</a:t>
            </a:r>
          </a:p>
        </p:txBody>
      </p:sp>
      <p:sp>
        <p:nvSpPr>
          <p:cNvPr id="38" name="TextBox 38"/>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zh-TW" altLang="en-US"/>
          </a:p>
        </p:txBody>
      </p:sp>
      <p:sp>
        <p:nvSpPr>
          <p:cNvPr id="3" name="Freeform 3"/>
          <p:cNvSpPr/>
          <p:nvPr/>
        </p:nvSpPr>
        <p:spPr>
          <a:xfrm rot="-10800000">
            <a:off x="15629067" y="9425622"/>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4" name="Freeform 4"/>
          <p:cNvSpPr/>
          <p:nvPr/>
        </p:nvSpPr>
        <p:spPr>
          <a:xfrm>
            <a:off x="1364364" y="2063293"/>
            <a:ext cx="1045375" cy="296506"/>
          </a:xfrm>
          <a:custGeom>
            <a:avLst/>
            <a:gdLst/>
            <a:ahLst/>
            <a:cxnLst/>
            <a:rect l="l" t="t" r="r" b="b"/>
            <a:pathLst>
              <a:path w="1045375" h="296506">
                <a:moveTo>
                  <a:pt x="0" y="0"/>
                </a:moveTo>
                <a:lnTo>
                  <a:pt x="1045376" y="0"/>
                </a:lnTo>
                <a:lnTo>
                  <a:pt x="1045376" y="296506"/>
                </a:lnTo>
                <a:lnTo>
                  <a:pt x="0" y="2965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grpSp>
        <p:nvGrpSpPr>
          <p:cNvPr id="5" name="Group 5"/>
          <p:cNvGrpSpPr/>
          <p:nvPr/>
        </p:nvGrpSpPr>
        <p:grpSpPr>
          <a:xfrm>
            <a:off x="663658" y="3975499"/>
            <a:ext cx="3990549" cy="3702766"/>
            <a:chOff x="0" y="0"/>
            <a:chExt cx="1051009" cy="975214"/>
          </a:xfrm>
        </p:grpSpPr>
        <p:sp>
          <p:nvSpPr>
            <p:cNvPr id="6" name="Freeform 6"/>
            <p:cNvSpPr/>
            <p:nvPr/>
          </p:nvSpPr>
          <p:spPr>
            <a:xfrm>
              <a:off x="0" y="0"/>
              <a:ext cx="1051009" cy="975214"/>
            </a:xfrm>
            <a:custGeom>
              <a:avLst/>
              <a:gdLst/>
              <a:ahLst/>
              <a:cxnLst/>
              <a:rect l="l" t="t" r="r" b="b"/>
              <a:pathLst>
                <a:path w="1051009" h="975214">
                  <a:moveTo>
                    <a:pt x="71782" y="0"/>
                  </a:moveTo>
                  <a:lnTo>
                    <a:pt x="979227" y="0"/>
                  </a:lnTo>
                  <a:cubicBezTo>
                    <a:pt x="998264" y="0"/>
                    <a:pt x="1016523" y="7563"/>
                    <a:pt x="1029984" y="21025"/>
                  </a:cubicBezTo>
                  <a:cubicBezTo>
                    <a:pt x="1043446" y="34486"/>
                    <a:pt x="1051009" y="52744"/>
                    <a:pt x="1051009" y="71782"/>
                  </a:cubicBezTo>
                  <a:lnTo>
                    <a:pt x="1051009" y="903432"/>
                  </a:lnTo>
                  <a:cubicBezTo>
                    <a:pt x="1051009" y="943076"/>
                    <a:pt x="1018871" y="975214"/>
                    <a:pt x="979227" y="975214"/>
                  </a:cubicBezTo>
                  <a:lnTo>
                    <a:pt x="71782" y="975214"/>
                  </a:lnTo>
                  <a:cubicBezTo>
                    <a:pt x="32138" y="975214"/>
                    <a:pt x="0" y="943076"/>
                    <a:pt x="0" y="903432"/>
                  </a:cubicBezTo>
                  <a:lnTo>
                    <a:pt x="0" y="71782"/>
                  </a:lnTo>
                  <a:cubicBezTo>
                    <a:pt x="0" y="32138"/>
                    <a:pt x="32138" y="0"/>
                    <a:pt x="71782"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7" name="TextBox 7"/>
            <p:cNvSpPr txBox="1"/>
            <p:nvPr/>
          </p:nvSpPr>
          <p:spPr>
            <a:xfrm>
              <a:off x="0" y="19050"/>
              <a:ext cx="1051009" cy="956164"/>
            </a:xfrm>
            <a:prstGeom prst="rect">
              <a:avLst/>
            </a:prstGeom>
          </p:spPr>
          <p:txBody>
            <a:bodyPr lIns="50800" tIns="50800" rIns="50800" bIns="50800" rtlCol="0" anchor="ctr"/>
            <a:lstStyle/>
            <a:p>
              <a:pPr algn="l">
                <a:lnSpc>
                  <a:spcPts val="2530"/>
                </a:lnSpc>
              </a:pPr>
              <a:endParaRPr/>
            </a:p>
          </p:txBody>
        </p:sp>
      </p:grpSp>
      <p:grpSp>
        <p:nvGrpSpPr>
          <p:cNvPr id="8" name="Group 8"/>
          <p:cNvGrpSpPr/>
          <p:nvPr/>
        </p:nvGrpSpPr>
        <p:grpSpPr>
          <a:xfrm>
            <a:off x="1143519" y="3638708"/>
            <a:ext cx="869072" cy="86907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txBody>
            <a:bodyPr/>
            <a:lstStyle/>
            <a:p>
              <a:endParaRPr lang="zh-TW" altLang="en-US"/>
            </a:p>
          </p:txBody>
        </p:sp>
        <p:sp>
          <p:nvSpPr>
            <p:cNvPr id="10" name="TextBox 10"/>
            <p:cNvSpPr txBox="1"/>
            <p:nvPr/>
          </p:nvSpPr>
          <p:spPr>
            <a:xfrm>
              <a:off x="76200" y="95250"/>
              <a:ext cx="660400" cy="641350"/>
            </a:xfrm>
            <a:prstGeom prst="rect">
              <a:avLst/>
            </a:prstGeom>
          </p:spPr>
          <p:txBody>
            <a:bodyPr lIns="50800" tIns="50800" rIns="50800" bIns="50800" rtlCol="0" anchor="ctr"/>
            <a:lstStyle/>
            <a:p>
              <a:pPr algn="l">
                <a:lnSpc>
                  <a:spcPts val="2530"/>
                </a:lnSpc>
              </a:pPr>
              <a:endParaRPr/>
            </a:p>
          </p:txBody>
        </p:sp>
      </p:grpSp>
      <p:grpSp>
        <p:nvGrpSpPr>
          <p:cNvPr id="11" name="Group 11"/>
          <p:cNvGrpSpPr/>
          <p:nvPr/>
        </p:nvGrpSpPr>
        <p:grpSpPr>
          <a:xfrm>
            <a:off x="4985943" y="3975499"/>
            <a:ext cx="3990549" cy="3702766"/>
            <a:chOff x="0" y="0"/>
            <a:chExt cx="1051009" cy="975214"/>
          </a:xfrm>
        </p:grpSpPr>
        <p:sp>
          <p:nvSpPr>
            <p:cNvPr id="12" name="Freeform 12"/>
            <p:cNvSpPr/>
            <p:nvPr/>
          </p:nvSpPr>
          <p:spPr>
            <a:xfrm>
              <a:off x="0" y="0"/>
              <a:ext cx="1051009" cy="975214"/>
            </a:xfrm>
            <a:custGeom>
              <a:avLst/>
              <a:gdLst/>
              <a:ahLst/>
              <a:cxnLst/>
              <a:rect l="l" t="t" r="r" b="b"/>
              <a:pathLst>
                <a:path w="1051009" h="975214">
                  <a:moveTo>
                    <a:pt x="71782" y="0"/>
                  </a:moveTo>
                  <a:lnTo>
                    <a:pt x="979227" y="0"/>
                  </a:lnTo>
                  <a:cubicBezTo>
                    <a:pt x="998264" y="0"/>
                    <a:pt x="1016523" y="7563"/>
                    <a:pt x="1029984" y="21025"/>
                  </a:cubicBezTo>
                  <a:cubicBezTo>
                    <a:pt x="1043446" y="34486"/>
                    <a:pt x="1051009" y="52744"/>
                    <a:pt x="1051009" y="71782"/>
                  </a:cubicBezTo>
                  <a:lnTo>
                    <a:pt x="1051009" y="903432"/>
                  </a:lnTo>
                  <a:cubicBezTo>
                    <a:pt x="1051009" y="943076"/>
                    <a:pt x="1018871" y="975214"/>
                    <a:pt x="979227" y="975214"/>
                  </a:cubicBezTo>
                  <a:lnTo>
                    <a:pt x="71782" y="975214"/>
                  </a:lnTo>
                  <a:cubicBezTo>
                    <a:pt x="32138" y="975214"/>
                    <a:pt x="0" y="943076"/>
                    <a:pt x="0" y="903432"/>
                  </a:cubicBezTo>
                  <a:lnTo>
                    <a:pt x="0" y="71782"/>
                  </a:lnTo>
                  <a:cubicBezTo>
                    <a:pt x="0" y="32138"/>
                    <a:pt x="32138" y="0"/>
                    <a:pt x="71782"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3" name="TextBox 13"/>
            <p:cNvSpPr txBox="1"/>
            <p:nvPr/>
          </p:nvSpPr>
          <p:spPr>
            <a:xfrm>
              <a:off x="0" y="19050"/>
              <a:ext cx="1051009" cy="956164"/>
            </a:xfrm>
            <a:prstGeom prst="rect">
              <a:avLst/>
            </a:prstGeom>
          </p:spPr>
          <p:txBody>
            <a:bodyPr lIns="50800" tIns="50800" rIns="50800" bIns="50800" rtlCol="0" anchor="ctr"/>
            <a:lstStyle/>
            <a:p>
              <a:pPr algn="l">
                <a:lnSpc>
                  <a:spcPts val="2530"/>
                </a:lnSpc>
              </a:pPr>
              <a:endParaRPr/>
            </a:p>
          </p:txBody>
        </p:sp>
      </p:grpSp>
      <p:grpSp>
        <p:nvGrpSpPr>
          <p:cNvPr id="14" name="Group 14"/>
          <p:cNvGrpSpPr/>
          <p:nvPr/>
        </p:nvGrpSpPr>
        <p:grpSpPr>
          <a:xfrm>
            <a:off x="5465804" y="3638708"/>
            <a:ext cx="869072" cy="86907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txBody>
            <a:bodyPr/>
            <a:lstStyle/>
            <a:p>
              <a:endParaRPr lang="zh-TW" altLang="en-US"/>
            </a:p>
          </p:txBody>
        </p:sp>
        <p:sp>
          <p:nvSpPr>
            <p:cNvPr id="16" name="TextBox 16"/>
            <p:cNvSpPr txBox="1"/>
            <p:nvPr/>
          </p:nvSpPr>
          <p:spPr>
            <a:xfrm>
              <a:off x="76200" y="95250"/>
              <a:ext cx="660400" cy="641350"/>
            </a:xfrm>
            <a:prstGeom prst="rect">
              <a:avLst/>
            </a:prstGeom>
          </p:spPr>
          <p:txBody>
            <a:bodyPr lIns="50800" tIns="50800" rIns="50800" bIns="50800" rtlCol="0" anchor="ctr"/>
            <a:lstStyle/>
            <a:p>
              <a:pPr algn="l">
                <a:lnSpc>
                  <a:spcPts val="2530"/>
                </a:lnSpc>
              </a:pPr>
              <a:endParaRPr/>
            </a:p>
          </p:txBody>
        </p:sp>
      </p:grpSp>
      <p:grpSp>
        <p:nvGrpSpPr>
          <p:cNvPr id="17" name="Group 17"/>
          <p:cNvGrpSpPr/>
          <p:nvPr/>
        </p:nvGrpSpPr>
        <p:grpSpPr>
          <a:xfrm>
            <a:off x="9309868" y="3975499"/>
            <a:ext cx="3990549" cy="3702766"/>
            <a:chOff x="0" y="0"/>
            <a:chExt cx="1051009" cy="975214"/>
          </a:xfrm>
        </p:grpSpPr>
        <p:sp>
          <p:nvSpPr>
            <p:cNvPr id="18" name="Freeform 18"/>
            <p:cNvSpPr/>
            <p:nvPr/>
          </p:nvSpPr>
          <p:spPr>
            <a:xfrm>
              <a:off x="0" y="0"/>
              <a:ext cx="1051009" cy="975214"/>
            </a:xfrm>
            <a:custGeom>
              <a:avLst/>
              <a:gdLst/>
              <a:ahLst/>
              <a:cxnLst/>
              <a:rect l="l" t="t" r="r" b="b"/>
              <a:pathLst>
                <a:path w="1051009" h="975214">
                  <a:moveTo>
                    <a:pt x="71782" y="0"/>
                  </a:moveTo>
                  <a:lnTo>
                    <a:pt x="979227" y="0"/>
                  </a:lnTo>
                  <a:cubicBezTo>
                    <a:pt x="998264" y="0"/>
                    <a:pt x="1016523" y="7563"/>
                    <a:pt x="1029984" y="21025"/>
                  </a:cubicBezTo>
                  <a:cubicBezTo>
                    <a:pt x="1043446" y="34486"/>
                    <a:pt x="1051009" y="52744"/>
                    <a:pt x="1051009" y="71782"/>
                  </a:cubicBezTo>
                  <a:lnTo>
                    <a:pt x="1051009" y="903432"/>
                  </a:lnTo>
                  <a:cubicBezTo>
                    <a:pt x="1051009" y="943076"/>
                    <a:pt x="1018871" y="975214"/>
                    <a:pt x="979227" y="975214"/>
                  </a:cubicBezTo>
                  <a:lnTo>
                    <a:pt x="71782" y="975214"/>
                  </a:lnTo>
                  <a:cubicBezTo>
                    <a:pt x="32138" y="975214"/>
                    <a:pt x="0" y="943076"/>
                    <a:pt x="0" y="903432"/>
                  </a:cubicBezTo>
                  <a:lnTo>
                    <a:pt x="0" y="71782"/>
                  </a:lnTo>
                  <a:cubicBezTo>
                    <a:pt x="0" y="32138"/>
                    <a:pt x="32138" y="0"/>
                    <a:pt x="71782"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9" name="TextBox 19"/>
            <p:cNvSpPr txBox="1"/>
            <p:nvPr/>
          </p:nvSpPr>
          <p:spPr>
            <a:xfrm>
              <a:off x="0" y="19050"/>
              <a:ext cx="1051009" cy="956164"/>
            </a:xfrm>
            <a:prstGeom prst="rect">
              <a:avLst/>
            </a:prstGeom>
          </p:spPr>
          <p:txBody>
            <a:bodyPr lIns="50800" tIns="50800" rIns="50800" bIns="50800" rtlCol="0" anchor="ctr"/>
            <a:lstStyle/>
            <a:p>
              <a:pPr algn="l">
                <a:lnSpc>
                  <a:spcPts val="2530"/>
                </a:lnSpc>
              </a:pPr>
              <a:endParaRPr/>
            </a:p>
          </p:txBody>
        </p:sp>
      </p:grpSp>
      <p:grpSp>
        <p:nvGrpSpPr>
          <p:cNvPr id="20" name="Group 20"/>
          <p:cNvGrpSpPr/>
          <p:nvPr/>
        </p:nvGrpSpPr>
        <p:grpSpPr>
          <a:xfrm>
            <a:off x="9789728" y="3638708"/>
            <a:ext cx="869072" cy="86907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txBody>
            <a:bodyPr/>
            <a:lstStyle/>
            <a:p>
              <a:endParaRPr lang="zh-TW" altLang="en-US"/>
            </a:p>
          </p:txBody>
        </p:sp>
        <p:sp>
          <p:nvSpPr>
            <p:cNvPr id="22" name="TextBox 22"/>
            <p:cNvSpPr txBox="1"/>
            <p:nvPr/>
          </p:nvSpPr>
          <p:spPr>
            <a:xfrm>
              <a:off x="76200" y="95250"/>
              <a:ext cx="660400" cy="641350"/>
            </a:xfrm>
            <a:prstGeom prst="rect">
              <a:avLst/>
            </a:prstGeom>
          </p:spPr>
          <p:txBody>
            <a:bodyPr lIns="50800" tIns="50800" rIns="50800" bIns="50800" rtlCol="0" anchor="ctr"/>
            <a:lstStyle/>
            <a:p>
              <a:pPr algn="l">
                <a:lnSpc>
                  <a:spcPts val="2530"/>
                </a:lnSpc>
              </a:pPr>
              <a:endParaRPr/>
            </a:p>
          </p:txBody>
        </p:sp>
      </p:grpSp>
      <p:grpSp>
        <p:nvGrpSpPr>
          <p:cNvPr id="23" name="Group 23"/>
          <p:cNvGrpSpPr/>
          <p:nvPr/>
        </p:nvGrpSpPr>
        <p:grpSpPr>
          <a:xfrm>
            <a:off x="13633792" y="3975499"/>
            <a:ext cx="3990549" cy="3702766"/>
            <a:chOff x="0" y="0"/>
            <a:chExt cx="1051009" cy="975214"/>
          </a:xfrm>
        </p:grpSpPr>
        <p:sp>
          <p:nvSpPr>
            <p:cNvPr id="24" name="Freeform 24"/>
            <p:cNvSpPr/>
            <p:nvPr/>
          </p:nvSpPr>
          <p:spPr>
            <a:xfrm>
              <a:off x="0" y="0"/>
              <a:ext cx="1051009" cy="975214"/>
            </a:xfrm>
            <a:custGeom>
              <a:avLst/>
              <a:gdLst/>
              <a:ahLst/>
              <a:cxnLst/>
              <a:rect l="l" t="t" r="r" b="b"/>
              <a:pathLst>
                <a:path w="1051009" h="975214">
                  <a:moveTo>
                    <a:pt x="71782" y="0"/>
                  </a:moveTo>
                  <a:lnTo>
                    <a:pt x="979227" y="0"/>
                  </a:lnTo>
                  <a:cubicBezTo>
                    <a:pt x="998264" y="0"/>
                    <a:pt x="1016523" y="7563"/>
                    <a:pt x="1029984" y="21025"/>
                  </a:cubicBezTo>
                  <a:cubicBezTo>
                    <a:pt x="1043446" y="34486"/>
                    <a:pt x="1051009" y="52744"/>
                    <a:pt x="1051009" y="71782"/>
                  </a:cubicBezTo>
                  <a:lnTo>
                    <a:pt x="1051009" y="903432"/>
                  </a:lnTo>
                  <a:cubicBezTo>
                    <a:pt x="1051009" y="943076"/>
                    <a:pt x="1018871" y="975214"/>
                    <a:pt x="979227" y="975214"/>
                  </a:cubicBezTo>
                  <a:lnTo>
                    <a:pt x="71782" y="975214"/>
                  </a:lnTo>
                  <a:cubicBezTo>
                    <a:pt x="32138" y="975214"/>
                    <a:pt x="0" y="943076"/>
                    <a:pt x="0" y="903432"/>
                  </a:cubicBezTo>
                  <a:lnTo>
                    <a:pt x="0" y="71782"/>
                  </a:lnTo>
                  <a:cubicBezTo>
                    <a:pt x="0" y="32138"/>
                    <a:pt x="32138" y="0"/>
                    <a:pt x="71782"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25" name="TextBox 25"/>
            <p:cNvSpPr txBox="1"/>
            <p:nvPr/>
          </p:nvSpPr>
          <p:spPr>
            <a:xfrm>
              <a:off x="0" y="19050"/>
              <a:ext cx="1051009" cy="956164"/>
            </a:xfrm>
            <a:prstGeom prst="rect">
              <a:avLst/>
            </a:prstGeom>
          </p:spPr>
          <p:txBody>
            <a:bodyPr lIns="50800" tIns="50800" rIns="50800" bIns="50800" rtlCol="0" anchor="ctr"/>
            <a:lstStyle/>
            <a:p>
              <a:pPr algn="l">
                <a:lnSpc>
                  <a:spcPts val="2530"/>
                </a:lnSpc>
              </a:pPr>
              <a:endParaRPr/>
            </a:p>
          </p:txBody>
        </p:sp>
      </p:grpSp>
      <p:grpSp>
        <p:nvGrpSpPr>
          <p:cNvPr id="26" name="Group 26"/>
          <p:cNvGrpSpPr/>
          <p:nvPr/>
        </p:nvGrpSpPr>
        <p:grpSpPr>
          <a:xfrm>
            <a:off x="14113653" y="3638708"/>
            <a:ext cx="869072" cy="86907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txBody>
            <a:bodyPr/>
            <a:lstStyle/>
            <a:p>
              <a:endParaRPr lang="zh-TW" altLang="en-US"/>
            </a:p>
          </p:txBody>
        </p:sp>
        <p:sp>
          <p:nvSpPr>
            <p:cNvPr id="28" name="TextBox 28"/>
            <p:cNvSpPr txBox="1"/>
            <p:nvPr/>
          </p:nvSpPr>
          <p:spPr>
            <a:xfrm>
              <a:off x="76200" y="95250"/>
              <a:ext cx="660400" cy="641350"/>
            </a:xfrm>
            <a:prstGeom prst="rect">
              <a:avLst/>
            </a:prstGeom>
          </p:spPr>
          <p:txBody>
            <a:bodyPr lIns="50800" tIns="50800" rIns="50800" bIns="50800" rtlCol="0" anchor="ctr"/>
            <a:lstStyle/>
            <a:p>
              <a:pPr algn="l">
                <a:lnSpc>
                  <a:spcPts val="2530"/>
                </a:lnSpc>
              </a:pPr>
              <a:endParaRPr/>
            </a:p>
          </p:txBody>
        </p:sp>
      </p:grpSp>
      <p:sp>
        <p:nvSpPr>
          <p:cNvPr id="29" name="Freeform 29"/>
          <p:cNvSpPr/>
          <p:nvPr/>
        </p:nvSpPr>
        <p:spPr>
          <a:xfrm>
            <a:off x="1328220" y="3823410"/>
            <a:ext cx="499668" cy="499668"/>
          </a:xfrm>
          <a:custGeom>
            <a:avLst/>
            <a:gdLst/>
            <a:ahLst/>
            <a:cxnLst/>
            <a:rect l="l" t="t" r="r" b="b"/>
            <a:pathLst>
              <a:path w="499668" h="499668">
                <a:moveTo>
                  <a:pt x="0" y="0"/>
                </a:moveTo>
                <a:lnTo>
                  <a:pt x="499669" y="0"/>
                </a:lnTo>
                <a:lnTo>
                  <a:pt x="499669" y="499668"/>
                </a:lnTo>
                <a:lnTo>
                  <a:pt x="0" y="499668"/>
                </a:lnTo>
                <a:lnTo>
                  <a:pt x="0" y="0"/>
                </a:lnTo>
                <a:close/>
              </a:path>
            </a:pathLst>
          </a:custGeom>
          <a:blipFill>
            <a:blip r:embed="rId8"/>
            <a:stretch>
              <a:fillRect/>
            </a:stretch>
          </a:blipFill>
        </p:spPr>
        <p:txBody>
          <a:bodyPr/>
          <a:lstStyle/>
          <a:p>
            <a:endParaRPr lang="zh-TW" altLang="en-US"/>
          </a:p>
        </p:txBody>
      </p:sp>
      <p:sp>
        <p:nvSpPr>
          <p:cNvPr id="30" name="Freeform 30"/>
          <p:cNvSpPr/>
          <p:nvPr/>
        </p:nvSpPr>
        <p:spPr>
          <a:xfrm>
            <a:off x="5630005" y="3802089"/>
            <a:ext cx="542310" cy="542310"/>
          </a:xfrm>
          <a:custGeom>
            <a:avLst/>
            <a:gdLst/>
            <a:ahLst/>
            <a:cxnLst/>
            <a:rect l="l" t="t" r="r" b="b"/>
            <a:pathLst>
              <a:path w="542310" h="542310">
                <a:moveTo>
                  <a:pt x="0" y="0"/>
                </a:moveTo>
                <a:lnTo>
                  <a:pt x="542309" y="0"/>
                </a:lnTo>
                <a:lnTo>
                  <a:pt x="542309" y="542310"/>
                </a:lnTo>
                <a:lnTo>
                  <a:pt x="0" y="542310"/>
                </a:lnTo>
                <a:lnTo>
                  <a:pt x="0" y="0"/>
                </a:lnTo>
                <a:close/>
              </a:path>
            </a:pathLst>
          </a:custGeom>
          <a:blipFill>
            <a:blip r:embed="rId9"/>
            <a:stretch>
              <a:fillRect/>
            </a:stretch>
          </a:blipFill>
        </p:spPr>
        <p:txBody>
          <a:bodyPr/>
          <a:lstStyle/>
          <a:p>
            <a:endParaRPr lang="zh-TW" altLang="en-US"/>
          </a:p>
        </p:txBody>
      </p:sp>
      <p:sp>
        <p:nvSpPr>
          <p:cNvPr id="31" name="Freeform 31"/>
          <p:cNvSpPr/>
          <p:nvPr/>
        </p:nvSpPr>
        <p:spPr>
          <a:xfrm>
            <a:off x="9971990" y="3802089"/>
            <a:ext cx="504548" cy="504548"/>
          </a:xfrm>
          <a:custGeom>
            <a:avLst/>
            <a:gdLst/>
            <a:ahLst/>
            <a:cxnLst/>
            <a:rect l="l" t="t" r="r" b="b"/>
            <a:pathLst>
              <a:path w="504548" h="504548">
                <a:moveTo>
                  <a:pt x="0" y="0"/>
                </a:moveTo>
                <a:lnTo>
                  <a:pt x="504548" y="0"/>
                </a:lnTo>
                <a:lnTo>
                  <a:pt x="504548" y="504548"/>
                </a:lnTo>
                <a:lnTo>
                  <a:pt x="0" y="504548"/>
                </a:lnTo>
                <a:lnTo>
                  <a:pt x="0" y="0"/>
                </a:lnTo>
                <a:close/>
              </a:path>
            </a:pathLst>
          </a:custGeom>
          <a:blipFill>
            <a:blip r:embed="rId10"/>
            <a:stretch>
              <a:fillRect/>
            </a:stretch>
          </a:blipFill>
        </p:spPr>
        <p:txBody>
          <a:bodyPr/>
          <a:lstStyle/>
          <a:p>
            <a:endParaRPr lang="zh-TW" altLang="en-US"/>
          </a:p>
        </p:txBody>
      </p:sp>
      <p:sp>
        <p:nvSpPr>
          <p:cNvPr id="32" name="Freeform 32"/>
          <p:cNvSpPr/>
          <p:nvPr/>
        </p:nvSpPr>
        <p:spPr>
          <a:xfrm>
            <a:off x="14235942" y="3780769"/>
            <a:ext cx="584951" cy="584951"/>
          </a:xfrm>
          <a:custGeom>
            <a:avLst/>
            <a:gdLst/>
            <a:ahLst/>
            <a:cxnLst/>
            <a:rect l="l" t="t" r="r" b="b"/>
            <a:pathLst>
              <a:path w="584951" h="584951">
                <a:moveTo>
                  <a:pt x="0" y="0"/>
                </a:moveTo>
                <a:lnTo>
                  <a:pt x="584950" y="0"/>
                </a:lnTo>
                <a:lnTo>
                  <a:pt x="584950" y="584951"/>
                </a:lnTo>
                <a:lnTo>
                  <a:pt x="0" y="584951"/>
                </a:lnTo>
                <a:lnTo>
                  <a:pt x="0" y="0"/>
                </a:lnTo>
                <a:close/>
              </a:path>
            </a:pathLst>
          </a:custGeom>
          <a:blipFill>
            <a:blip r:embed="rId11"/>
            <a:stretch>
              <a:fillRect/>
            </a:stretch>
          </a:blipFill>
        </p:spPr>
        <p:txBody>
          <a:bodyPr/>
          <a:lstStyle/>
          <a:p>
            <a:endParaRPr lang="zh-TW" altLang="en-US"/>
          </a:p>
        </p:txBody>
      </p:sp>
      <p:sp>
        <p:nvSpPr>
          <p:cNvPr id="33" name="TextBox 33"/>
          <p:cNvSpPr txBox="1"/>
          <p:nvPr/>
        </p:nvSpPr>
        <p:spPr>
          <a:xfrm>
            <a:off x="2493484" y="1784508"/>
            <a:ext cx="15461560" cy="920750"/>
          </a:xfrm>
          <a:prstGeom prst="rect">
            <a:avLst/>
          </a:prstGeom>
        </p:spPr>
        <p:txBody>
          <a:bodyPr lIns="0" tIns="0" rIns="0" bIns="0" rtlCol="0" anchor="t">
            <a:spAutoFit/>
          </a:bodyPr>
          <a:lstStyle/>
          <a:p>
            <a:pPr algn="ctr">
              <a:lnSpc>
                <a:spcPts val="7150"/>
              </a:lnSpc>
            </a:pPr>
            <a:r>
              <a:rPr lang="en-US" sz="6500" b="1">
                <a:solidFill>
                  <a:srgbClr val="000000"/>
                </a:solidFill>
                <a:latin typeface="Cormorant Garamond Bold"/>
                <a:ea typeface="Cormorant Garamond Bold"/>
                <a:cs typeface="Cormorant Garamond Bold"/>
                <a:sym typeface="Cormorant Garamond Bold"/>
              </a:rPr>
              <a:t>Rising AI Adoption, Trust Remains Challenge</a:t>
            </a:r>
          </a:p>
        </p:txBody>
      </p:sp>
      <p:sp>
        <p:nvSpPr>
          <p:cNvPr id="34" name="TextBox 34"/>
          <p:cNvSpPr txBox="1"/>
          <p:nvPr/>
        </p:nvSpPr>
        <p:spPr>
          <a:xfrm>
            <a:off x="670984" y="9415369"/>
            <a:ext cx="9525000" cy="282129"/>
          </a:xfrm>
          <a:prstGeom prst="rect">
            <a:avLst/>
          </a:prstGeom>
        </p:spPr>
        <p:txBody>
          <a:bodyPr wrap="square" lIns="0" tIns="0" rIns="0" bIns="0" rtlCol="0" anchor="t">
            <a:spAutoFit/>
          </a:bodyPr>
          <a:lstStyle/>
          <a:p>
            <a:pPr>
              <a:lnSpc>
                <a:spcPts val="2200"/>
              </a:lnSpc>
              <a:spcBef>
                <a:spcPct val="0"/>
              </a:spcBef>
            </a:pPr>
            <a:r>
              <a:rPr lang="en-US" sz="2000" dirty="0">
                <a:solidFill>
                  <a:srgbClr val="000000"/>
                </a:solidFill>
                <a:latin typeface="Inter"/>
                <a:ea typeface="Inter"/>
                <a:cs typeface="Inter"/>
                <a:sym typeface="Inter"/>
              </a:rPr>
              <a:t>Data Source: KPMG Global Study (2025) - Trust in Artificial Intelligence</a:t>
            </a:r>
          </a:p>
        </p:txBody>
      </p:sp>
      <p:sp>
        <p:nvSpPr>
          <p:cNvPr id="35" name="TextBox 35"/>
          <p:cNvSpPr txBox="1"/>
          <p:nvPr/>
        </p:nvSpPr>
        <p:spPr>
          <a:xfrm>
            <a:off x="1196857" y="4755104"/>
            <a:ext cx="3115320" cy="638810"/>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The intelligent age has arrived</a:t>
            </a:r>
          </a:p>
        </p:txBody>
      </p:sp>
      <p:sp>
        <p:nvSpPr>
          <p:cNvPr id="36" name="TextBox 36"/>
          <p:cNvSpPr txBox="1"/>
          <p:nvPr/>
        </p:nvSpPr>
        <p:spPr>
          <a:xfrm>
            <a:off x="1143519" y="5480449"/>
            <a:ext cx="3316704" cy="1249679"/>
          </a:xfrm>
          <a:prstGeom prst="rect">
            <a:avLst/>
          </a:prstGeom>
        </p:spPr>
        <p:txBody>
          <a:bodyPr lIns="0" tIns="0" rIns="0" bIns="0" rtlCol="0" anchor="t">
            <a:spAutoFit/>
          </a:bodyPr>
          <a:lstStyle/>
          <a:p>
            <a:pPr algn="l">
              <a:lnSpc>
                <a:spcPts val="2520"/>
              </a:lnSpc>
            </a:pPr>
            <a:r>
              <a:rPr lang="en-US" sz="2500" b="1" i="1" dirty="0">
                <a:solidFill>
                  <a:srgbClr val="FF751F"/>
                </a:solidFill>
                <a:latin typeface="Inter Bold Italics"/>
                <a:ea typeface="Inter Bold Italics"/>
                <a:sym typeface="Inter Bold"/>
              </a:rPr>
              <a:t>66%</a:t>
            </a:r>
            <a:r>
              <a:rPr lang="en-US" sz="1800" dirty="0">
                <a:solidFill>
                  <a:srgbClr val="737373"/>
                </a:solidFill>
                <a:latin typeface="Inter"/>
                <a:ea typeface="Inter"/>
                <a:cs typeface="Inter"/>
                <a:sym typeface="Inter"/>
              </a:rPr>
              <a:t> </a:t>
            </a:r>
            <a:r>
              <a:rPr lang="en-US" sz="1800" b="1" dirty="0">
                <a:solidFill>
                  <a:srgbClr val="737373"/>
                </a:solidFill>
                <a:latin typeface="Inter Bold"/>
                <a:ea typeface="Inter Bold"/>
                <a:cs typeface="Inter Bold"/>
                <a:sym typeface="Inter Bold"/>
              </a:rPr>
              <a:t>of people use AI regularly</a:t>
            </a:r>
            <a:r>
              <a:rPr lang="en-US" sz="1800" dirty="0">
                <a:solidFill>
                  <a:srgbClr val="737373"/>
                </a:solidFill>
                <a:latin typeface="Inter"/>
                <a:ea typeface="Inter"/>
                <a:cs typeface="Inter"/>
                <a:sym typeface="Inter"/>
              </a:rPr>
              <a:t>, and 83% believe the use of AI will result in a wide range of benefits.</a:t>
            </a:r>
          </a:p>
        </p:txBody>
      </p:sp>
      <p:sp>
        <p:nvSpPr>
          <p:cNvPr id="37" name="TextBox 37"/>
          <p:cNvSpPr txBox="1"/>
          <p:nvPr/>
        </p:nvSpPr>
        <p:spPr>
          <a:xfrm>
            <a:off x="5519142" y="4755104"/>
            <a:ext cx="3115320" cy="638810"/>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Trust remains a critical challenge</a:t>
            </a:r>
          </a:p>
        </p:txBody>
      </p:sp>
      <p:sp>
        <p:nvSpPr>
          <p:cNvPr id="38" name="TextBox 38"/>
          <p:cNvSpPr txBox="1"/>
          <p:nvPr/>
        </p:nvSpPr>
        <p:spPr>
          <a:xfrm>
            <a:off x="5465804" y="5480449"/>
            <a:ext cx="3316704" cy="1249679"/>
          </a:xfrm>
          <a:prstGeom prst="rect">
            <a:avLst/>
          </a:prstGeom>
        </p:spPr>
        <p:txBody>
          <a:bodyPr lIns="0" tIns="0" rIns="0" bIns="0" rtlCol="0" anchor="t">
            <a:spAutoFit/>
          </a:bodyPr>
          <a:lstStyle/>
          <a:p>
            <a:pPr algn="l">
              <a:lnSpc>
                <a:spcPts val="2520"/>
              </a:lnSpc>
            </a:pPr>
            <a:r>
              <a:rPr lang="en-US" sz="1800" dirty="0">
                <a:solidFill>
                  <a:srgbClr val="737373"/>
                </a:solidFill>
                <a:latin typeface="Inter"/>
                <a:ea typeface="Inter"/>
                <a:cs typeface="Inter"/>
                <a:sym typeface="Inter"/>
              </a:rPr>
              <a:t>Yet, trust remains a critical challenge: only </a:t>
            </a:r>
            <a:r>
              <a:rPr lang="en-US" sz="2500" b="1" i="1" dirty="0">
                <a:solidFill>
                  <a:srgbClr val="FF751F"/>
                </a:solidFill>
                <a:latin typeface="Inter Bold Italics"/>
                <a:ea typeface="Inter Bold Italics"/>
                <a:sym typeface="Inter Bold"/>
              </a:rPr>
              <a:t>46%</a:t>
            </a:r>
            <a:r>
              <a:rPr lang="en-US" sz="1800" b="1" dirty="0">
                <a:solidFill>
                  <a:srgbClr val="737373"/>
                </a:solidFill>
                <a:latin typeface="Inter Bold"/>
                <a:ea typeface="Inter Bold"/>
                <a:cs typeface="Inter Bold"/>
                <a:sym typeface="Inter Bold"/>
              </a:rPr>
              <a:t> of people globally are willing to trust AI systems.</a:t>
            </a:r>
          </a:p>
        </p:txBody>
      </p:sp>
      <p:sp>
        <p:nvSpPr>
          <p:cNvPr id="39" name="TextBox 39"/>
          <p:cNvSpPr txBox="1"/>
          <p:nvPr/>
        </p:nvSpPr>
        <p:spPr>
          <a:xfrm>
            <a:off x="9843067" y="4755104"/>
            <a:ext cx="3115320" cy="324485"/>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AI regulation</a:t>
            </a:r>
          </a:p>
        </p:txBody>
      </p:sp>
      <p:sp>
        <p:nvSpPr>
          <p:cNvPr id="40" name="TextBox 40"/>
          <p:cNvSpPr txBox="1"/>
          <p:nvPr/>
        </p:nvSpPr>
        <p:spPr>
          <a:xfrm>
            <a:off x="9789728" y="5480449"/>
            <a:ext cx="3316704" cy="1577163"/>
          </a:xfrm>
          <a:prstGeom prst="rect">
            <a:avLst/>
          </a:prstGeom>
        </p:spPr>
        <p:txBody>
          <a:bodyPr lIns="0" tIns="0" rIns="0" bIns="0" rtlCol="0" anchor="t">
            <a:spAutoFit/>
          </a:bodyPr>
          <a:lstStyle/>
          <a:p>
            <a:pPr algn="l">
              <a:lnSpc>
                <a:spcPts val="2520"/>
              </a:lnSpc>
            </a:pPr>
            <a:r>
              <a:rPr lang="en-US" sz="1800" dirty="0">
                <a:solidFill>
                  <a:srgbClr val="737373"/>
                </a:solidFill>
                <a:latin typeface="Inter"/>
                <a:ea typeface="Inter"/>
                <a:cs typeface="Inter"/>
                <a:sym typeface="Inter"/>
              </a:rPr>
              <a:t>There is a public mandate for national and international AI regulation with </a:t>
            </a:r>
            <a:r>
              <a:rPr lang="en-US" sz="2500" b="1" i="1" dirty="0">
                <a:solidFill>
                  <a:srgbClr val="FF751F"/>
                </a:solidFill>
                <a:latin typeface="Inter Bold Italics"/>
                <a:ea typeface="Inter Bold Italics"/>
                <a:sym typeface="Inter Bold"/>
              </a:rPr>
              <a:t>70%</a:t>
            </a:r>
            <a:r>
              <a:rPr lang="en-US" sz="1800" b="1" dirty="0">
                <a:solidFill>
                  <a:srgbClr val="737373"/>
                </a:solidFill>
                <a:latin typeface="Inter Bold"/>
                <a:ea typeface="Inter Bold"/>
                <a:cs typeface="Inter Bold"/>
                <a:sym typeface="Inter Bold"/>
              </a:rPr>
              <a:t> believing regulation is needed.</a:t>
            </a:r>
          </a:p>
        </p:txBody>
      </p:sp>
      <p:sp>
        <p:nvSpPr>
          <p:cNvPr id="41" name="TextBox 41"/>
          <p:cNvSpPr txBox="1"/>
          <p:nvPr/>
        </p:nvSpPr>
        <p:spPr>
          <a:xfrm>
            <a:off x="14166991" y="4755104"/>
            <a:ext cx="3115320" cy="324485"/>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AI at work</a:t>
            </a:r>
          </a:p>
        </p:txBody>
      </p:sp>
      <p:sp>
        <p:nvSpPr>
          <p:cNvPr id="42" name="TextBox 42"/>
          <p:cNvSpPr txBox="1"/>
          <p:nvPr/>
        </p:nvSpPr>
        <p:spPr>
          <a:xfrm>
            <a:off x="14113653" y="5480449"/>
            <a:ext cx="3316704" cy="1603003"/>
          </a:xfrm>
          <a:prstGeom prst="rect">
            <a:avLst/>
          </a:prstGeom>
        </p:spPr>
        <p:txBody>
          <a:bodyPr lIns="0" tIns="0" rIns="0" bIns="0" rtlCol="0" anchor="t">
            <a:spAutoFit/>
          </a:bodyPr>
          <a:lstStyle/>
          <a:p>
            <a:pPr algn="l">
              <a:lnSpc>
                <a:spcPts val="2520"/>
              </a:lnSpc>
            </a:pPr>
            <a:r>
              <a:rPr lang="en-US" sz="1800" dirty="0">
                <a:solidFill>
                  <a:srgbClr val="737373"/>
                </a:solidFill>
                <a:latin typeface="Inter"/>
                <a:ea typeface="Inter"/>
                <a:cs typeface="Inter"/>
                <a:sym typeface="Inter"/>
              </a:rPr>
              <a:t>Many </a:t>
            </a:r>
            <a:r>
              <a:rPr lang="en-US" sz="1800" b="1" dirty="0">
                <a:solidFill>
                  <a:srgbClr val="737373"/>
                </a:solidFill>
                <a:latin typeface="Inter Bold"/>
                <a:ea typeface="Inter Bold"/>
                <a:cs typeface="Inter Bold"/>
                <a:sym typeface="Inter Bold"/>
              </a:rPr>
              <a:t>rely on AI output without evaluating accuracy</a:t>
            </a:r>
            <a:r>
              <a:rPr lang="en-US" sz="1800" dirty="0">
                <a:solidFill>
                  <a:srgbClr val="737373"/>
                </a:solidFill>
                <a:latin typeface="Inter"/>
                <a:ea typeface="Inter"/>
                <a:cs typeface="Inter"/>
                <a:sym typeface="Inter"/>
              </a:rPr>
              <a:t> (66%) and are making mistakes in their work due to AI (</a:t>
            </a:r>
            <a:r>
              <a:rPr lang="en-US" sz="2500" b="1" i="1" dirty="0">
                <a:solidFill>
                  <a:srgbClr val="FF751F"/>
                </a:solidFill>
                <a:latin typeface="Inter Bold Italics"/>
                <a:ea typeface="Inter Bold Italics"/>
                <a:sym typeface="Inter"/>
              </a:rPr>
              <a:t>56%</a:t>
            </a:r>
            <a:r>
              <a:rPr lang="en-US" sz="1800" dirty="0">
                <a:solidFill>
                  <a:srgbClr val="737373"/>
                </a:solidFill>
                <a:latin typeface="Inter"/>
                <a:ea typeface="Inter"/>
                <a:cs typeface="Inter"/>
                <a:sym typeface="Inter"/>
              </a:rPr>
              <a:t>).</a:t>
            </a:r>
          </a:p>
        </p:txBody>
      </p:sp>
      <p:sp>
        <p:nvSpPr>
          <p:cNvPr id="43" name="TextBox 43"/>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3</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zh-TW" altLang="en-US"/>
          </a:p>
        </p:txBody>
      </p:sp>
      <p:grpSp>
        <p:nvGrpSpPr>
          <p:cNvPr id="3" name="Group 3"/>
          <p:cNvGrpSpPr/>
          <p:nvPr/>
        </p:nvGrpSpPr>
        <p:grpSpPr>
          <a:xfrm>
            <a:off x="1653805" y="3792573"/>
            <a:ext cx="4463010" cy="5227485"/>
            <a:chOff x="0" y="0"/>
            <a:chExt cx="1175443" cy="1376786"/>
          </a:xfrm>
        </p:grpSpPr>
        <p:sp>
          <p:nvSpPr>
            <p:cNvPr id="4" name="Freeform 4"/>
            <p:cNvSpPr/>
            <p:nvPr/>
          </p:nvSpPr>
          <p:spPr>
            <a:xfrm>
              <a:off x="0" y="0"/>
              <a:ext cx="1175443" cy="1376786"/>
            </a:xfrm>
            <a:custGeom>
              <a:avLst/>
              <a:gdLst/>
              <a:ahLst/>
              <a:cxnLst/>
              <a:rect l="l" t="t" r="r" b="b"/>
              <a:pathLst>
                <a:path w="1175443" h="1376786">
                  <a:moveTo>
                    <a:pt x="64183" y="0"/>
                  </a:moveTo>
                  <a:lnTo>
                    <a:pt x="1111259" y="0"/>
                  </a:lnTo>
                  <a:cubicBezTo>
                    <a:pt x="1128282" y="0"/>
                    <a:pt x="1144607" y="6762"/>
                    <a:pt x="1156644" y="18799"/>
                  </a:cubicBezTo>
                  <a:cubicBezTo>
                    <a:pt x="1168681" y="30836"/>
                    <a:pt x="1175443" y="47161"/>
                    <a:pt x="1175443" y="64183"/>
                  </a:cubicBezTo>
                  <a:lnTo>
                    <a:pt x="1175443" y="1312603"/>
                  </a:lnTo>
                  <a:cubicBezTo>
                    <a:pt x="1175443" y="1329625"/>
                    <a:pt x="1168681" y="1345950"/>
                    <a:pt x="1156644" y="1357987"/>
                  </a:cubicBezTo>
                  <a:cubicBezTo>
                    <a:pt x="1144607" y="1370024"/>
                    <a:pt x="1128282" y="1376786"/>
                    <a:pt x="1111259" y="1376786"/>
                  </a:cubicBezTo>
                  <a:lnTo>
                    <a:pt x="64183" y="1376786"/>
                  </a:lnTo>
                  <a:cubicBezTo>
                    <a:pt x="47161" y="1376786"/>
                    <a:pt x="30836" y="1370024"/>
                    <a:pt x="18799" y="1357987"/>
                  </a:cubicBezTo>
                  <a:cubicBezTo>
                    <a:pt x="6762" y="1345950"/>
                    <a:pt x="0" y="1329625"/>
                    <a:pt x="0" y="1312603"/>
                  </a:cubicBezTo>
                  <a:lnTo>
                    <a:pt x="0" y="64183"/>
                  </a:lnTo>
                  <a:cubicBezTo>
                    <a:pt x="0" y="47161"/>
                    <a:pt x="6762" y="30836"/>
                    <a:pt x="18799" y="18799"/>
                  </a:cubicBezTo>
                  <a:cubicBezTo>
                    <a:pt x="30836" y="6762"/>
                    <a:pt x="47161" y="0"/>
                    <a:pt x="64183"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5" name="TextBox 5"/>
            <p:cNvSpPr txBox="1"/>
            <p:nvPr/>
          </p:nvSpPr>
          <p:spPr>
            <a:xfrm>
              <a:off x="0" y="19050"/>
              <a:ext cx="1175443" cy="1357736"/>
            </a:xfrm>
            <a:prstGeom prst="rect">
              <a:avLst/>
            </a:prstGeom>
          </p:spPr>
          <p:txBody>
            <a:bodyPr lIns="50800" tIns="50800" rIns="50800" bIns="50800" rtlCol="0" anchor="ctr"/>
            <a:lstStyle/>
            <a:p>
              <a:pPr algn="ctr">
                <a:lnSpc>
                  <a:spcPts val="2530"/>
                </a:lnSpc>
              </a:pPr>
              <a:endParaRPr/>
            </a:p>
          </p:txBody>
        </p:sp>
      </p:grpSp>
      <p:sp>
        <p:nvSpPr>
          <p:cNvPr id="6" name="Freeform 6"/>
          <p:cNvSpPr/>
          <p:nvPr/>
        </p:nvSpPr>
        <p:spPr>
          <a:xfrm rot="-10800000">
            <a:off x="15408013" y="9321068"/>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7" name="Freeform 7"/>
          <p:cNvSpPr/>
          <p:nvPr/>
        </p:nvSpPr>
        <p:spPr>
          <a:xfrm>
            <a:off x="1364364" y="2063293"/>
            <a:ext cx="1045375" cy="296506"/>
          </a:xfrm>
          <a:custGeom>
            <a:avLst/>
            <a:gdLst/>
            <a:ahLst/>
            <a:cxnLst/>
            <a:rect l="l" t="t" r="r" b="b"/>
            <a:pathLst>
              <a:path w="1045375" h="296506">
                <a:moveTo>
                  <a:pt x="0" y="0"/>
                </a:moveTo>
                <a:lnTo>
                  <a:pt x="1045376" y="0"/>
                </a:lnTo>
                <a:lnTo>
                  <a:pt x="1045376" y="296506"/>
                </a:lnTo>
                <a:lnTo>
                  <a:pt x="0" y="2965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grpSp>
        <p:nvGrpSpPr>
          <p:cNvPr id="8" name="Group 8"/>
          <p:cNvGrpSpPr/>
          <p:nvPr/>
        </p:nvGrpSpPr>
        <p:grpSpPr>
          <a:xfrm>
            <a:off x="6599381" y="3792573"/>
            <a:ext cx="4463010" cy="5227485"/>
            <a:chOff x="0" y="0"/>
            <a:chExt cx="1175443" cy="1376786"/>
          </a:xfrm>
        </p:grpSpPr>
        <p:sp>
          <p:nvSpPr>
            <p:cNvPr id="9" name="Freeform 9"/>
            <p:cNvSpPr/>
            <p:nvPr/>
          </p:nvSpPr>
          <p:spPr>
            <a:xfrm>
              <a:off x="0" y="0"/>
              <a:ext cx="1175443" cy="1376786"/>
            </a:xfrm>
            <a:custGeom>
              <a:avLst/>
              <a:gdLst/>
              <a:ahLst/>
              <a:cxnLst/>
              <a:rect l="l" t="t" r="r" b="b"/>
              <a:pathLst>
                <a:path w="1175443" h="1376786">
                  <a:moveTo>
                    <a:pt x="64183" y="0"/>
                  </a:moveTo>
                  <a:lnTo>
                    <a:pt x="1111259" y="0"/>
                  </a:lnTo>
                  <a:cubicBezTo>
                    <a:pt x="1128282" y="0"/>
                    <a:pt x="1144607" y="6762"/>
                    <a:pt x="1156644" y="18799"/>
                  </a:cubicBezTo>
                  <a:cubicBezTo>
                    <a:pt x="1168681" y="30836"/>
                    <a:pt x="1175443" y="47161"/>
                    <a:pt x="1175443" y="64183"/>
                  </a:cubicBezTo>
                  <a:lnTo>
                    <a:pt x="1175443" y="1312603"/>
                  </a:lnTo>
                  <a:cubicBezTo>
                    <a:pt x="1175443" y="1329625"/>
                    <a:pt x="1168681" y="1345950"/>
                    <a:pt x="1156644" y="1357987"/>
                  </a:cubicBezTo>
                  <a:cubicBezTo>
                    <a:pt x="1144607" y="1370024"/>
                    <a:pt x="1128282" y="1376786"/>
                    <a:pt x="1111259" y="1376786"/>
                  </a:cubicBezTo>
                  <a:lnTo>
                    <a:pt x="64183" y="1376786"/>
                  </a:lnTo>
                  <a:cubicBezTo>
                    <a:pt x="47161" y="1376786"/>
                    <a:pt x="30836" y="1370024"/>
                    <a:pt x="18799" y="1357987"/>
                  </a:cubicBezTo>
                  <a:cubicBezTo>
                    <a:pt x="6762" y="1345950"/>
                    <a:pt x="0" y="1329625"/>
                    <a:pt x="0" y="1312603"/>
                  </a:cubicBezTo>
                  <a:lnTo>
                    <a:pt x="0" y="64183"/>
                  </a:lnTo>
                  <a:cubicBezTo>
                    <a:pt x="0" y="47161"/>
                    <a:pt x="6762" y="30836"/>
                    <a:pt x="18799" y="18799"/>
                  </a:cubicBezTo>
                  <a:cubicBezTo>
                    <a:pt x="30836" y="6762"/>
                    <a:pt x="47161" y="0"/>
                    <a:pt x="64183"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0" name="TextBox 10"/>
            <p:cNvSpPr txBox="1"/>
            <p:nvPr/>
          </p:nvSpPr>
          <p:spPr>
            <a:xfrm>
              <a:off x="0" y="19050"/>
              <a:ext cx="1175443" cy="1357736"/>
            </a:xfrm>
            <a:prstGeom prst="rect">
              <a:avLst/>
            </a:prstGeom>
          </p:spPr>
          <p:txBody>
            <a:bodyPr lIns="50800" tIns="50800" rIns="50800" bIns="50800" rtlCol="0" anchor="ctr"/>
            <a:lstStyle/>
            <a:p>
              <a:pPr algn="ctr">
                <a:lnSpc>
                  <a:spcPts val="2530"/>
                </a:lnSpc>
              </a:pPr>
              <a:endParaRPr/>
            </a:p>
          </p:txBody>
        </p:sp>
      </p:grpSp>
      <p:grpSp>
        <p:nvGrpSpPr>
          <p:cNvPr id="11" name="Group 11"/>
          <p:cNvGrpSpPr/>
          <p:nvPr/>
        </p:nvGrpSpPr>
        <p:grpSpPr>
          <a:xfrm>
            <a:off x="11548166" y="3792573"/>
            <a:ext cx="4463010" cy="5227485"/>
            <a:chOff x="0" y="0"/>
            <a:chExt cx="1175443" cy="1376786"/>
          </a:xfrm>
        </p:grpSpPr>
        <p:sp>
          <p:nvSpPr>
            <p:cNvPr id="12" name="Freeform 12"/>
            <p:cNvSpPr/>
            <p:nvPr/>
          </p:nvSpPr>
          <p:spPr>
            <a:xfrm>
              <a:off x="0" y="0"/>
              <a:ext cx="1175443" cy="1376786"/>
            </a:xfrm>
            <a:custGeom>
              <a:avLst/>
              <a:gdLst/>
              <a:ahLst/>
              <a:cxnLst/>
              <a:rect l="l" t="t" r="r" b="b"/>
              <a:pathLst>
                <a:path w="1175443" h="1376786">
                  <a:moveTo>
                    <a:pt x="64183" y="0"/>
                  </a:moveTo>
                  <a:lnTo>
                    <a:pt x="1111259" y="0"/>
                  </a:lnTo>
                  <a:cubicBezTo>
                    <a:pt x="1128282" y="0"/>
                    <a:pt x="1144607" y="6762"/>
                    <a:pt x="1156644" y="18799"/>
                  </a:cubicBezTo>
                  <a:cubicBezTo>
                    <a:pt x="1168681" y="30836"/>
                    <a:pt x="1175443" y="47161"/>
                    <a:pt x="1175443" y="64183"/>
                  </a:cubicBezTo>
                  <a:lnTo>
                    <a:pt x="1175443" y="1312603"/>
                  </a:lnTo>
                  <a:cubicBezTo>
                    <a:pt x="1175443" y="1329625"/>
                    <a:pt x="1168681" y="1345950"/>
                    <a:pt x="1156644" y="1357987"/>
                  </a:cubicBezTo>
                  <a:cubicBezTo>
                    <a:pt x="1144607" y="1370024"/>
                    <a:pt x="1128282" y="1376786"/>
                    <a:pt x="1111259" y="1376786"/>
                  </a:cubicBezTo>
                  <a:lnTo>
                    <a:pt x="64183" y="1376786"/>
                  </a:lnTo>
                  <a:cubicBezTo>
                    <a:pt x="47161" y="1376786"/>
                    <a:pt x="30836" y="1370024"/>
                    <a:pt x="18799" y="1357987"/>
                  </a:cubicBezTo>
                  <a:cubicBezTo>
                    <a:pt x="6762" y="1345950"/>
                    <a:pt x="0" y="1329625"/>
                    <a:pt x="0" y="1312603"/>
                  </a:cubicBezTo>
                  <a:lnTo>
                    <a:pt x="0" y="64183"/>
                  </a:lnTo>
                  <a:cubicBezTo>
                    <a:pt x="0" y="47161"/>
                    <a:pt x="6762" y="30836"/>
                    <a:pt x="18799" y="18799"/>
                  </a:cubicBezTo>
                  <a:cubicBezTo>
                    <a:pt x="30836" y="6762"/>
                    <a:pt x="47161" y="0"/>
                    <a:pt x="64183"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3" name="TextBox 13"/>
            <p:cNvSpPr txBox="1"/>
            <p:nvPr/>
          </p:nvSpPr>
          <p:spPr>
            <a:xfrm>
              <a:off x="0" y="19050"/>
              <a:ext cx="1175443" cy="1357736"/>
            </a:xfrm>
            <a:prstGeom prst="rect">
              <a:avLst/>
            </a:prstGeom>
          </p:spPr>
          <p:txBody>
            <a:bodyPr lIns="50800" tIns="50800" rIns="50800" bIns="50800" rtlCol="0" anchor="ctr"/>
            <a:lstStyle/>
            <a:p>
              <a:pPr algn="ctr">
                <a:lnSpc>
                  <a:spcPts val="2530"/>
                </a:lnSpc>
              </a:pPr>
              <a:endParaRPr/>
            </a:p>
          </p:txBody>
        </p:sp>
      </p:grpSp>
      <p:grpSp>
        <p:nvGrpSpPr>
          <p:cNvPr id="14" name="Group 14"/>
          <p:cNvGrpSpPr/>
          <p:nvPr/>
        </p:nvGrpSpPr>
        <p:grpSpPr>
          <a:xfrm>
            <a:off x="5923562" y="5709980"/>
            <a:ext cx="869072" cy="86907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txBody>
            <a:bodyPr/>
            <a:lstStyle/>
            <a:p>
              <a:endParaRPr lang="zh-TW" altLang="en-US"/>
            </a:p>
          </p:txBody>
        </p:sp>
        <p:sp>
          <p:nvSpPr>
            <p:cNvPr id="16" name="TextBox 16"/>
            <p:cNvSpPr txBox="1"/>
            <p:nvPr/>
          </p:nvSpPr>
          <p:spPr>
            <a:xfrm>
              <a:off x="76200" y="95250"/>
              <a:ext cx="660400" cy="641350"/>
            </a:xfrm>
            <a:prstGeom prst="rect">
              <a:avLst/>
            </a:prstGeom>
          </p:spPr>
          <p:txBody>
            <a:bodyPr lIns="50800" tIns="50800" rIns="50800" bIns="50800" rtlCol="0" anchor="ctr"/>
            <a:lstStyle/>
            <a:p>
              <a:pPr algn="ctr">
                <a:lnSpc>
                  <a:spcPts val="2530"/>
                </a:lnSpc>
              </a:pPr>
              <a:endParaRPr/>
            </a:p>
          </p:txBody>
        </p:sp>
      </p:grpSp>
      <p:sp>
        <p:nvSpPr>
          <p:cNvPr id="17" name="Freeform 17"/>
          <p:cNvSpPr/>
          <p:nvPr/>
        </p:nvSpPr>
        <p:spPr>
          <a:xfrm rot="-5400000">
            <a:off x="6220275" y="5958269"/>
            <a:ext cx="275646" cy="372494"/>
          </a:xfrm>
          <a:custGeom>
            <a:avLst/>
            <a:gdLst/>
            <a:ahLst/>
            <a:cxnLst/>
            <a:rect l="l" t="t" r="r" b="b"/>
            <a:pathLst>
              <a:path w="275646" h="372494">
                <a:moveTo>
                  <a:pt x="0" y="0"/>
                </a:moveTo>
                <a:lnTo>
                  <a:pt x="275646" y="0"/>
                </a:lnTo>
                <a:lnTo>
                  <a:pt x="275646" y="372494"/>
                </a:lnTo>
                <a:lnTo>
                  <a:pt x="0" y="3724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grpSp>
        <p:nvGrpSpPr>
          <p:cNvPr id="18" name="Group 18"/>
          <p:cNvGrpSpPr/>
          <p:nvPr/>
        </p:nvGrpSpPr>
        <p:grpSpPr>
          <a:xfrm>
            <a:off x="10866425" y="5709980"/>
            <a:ext cx="869072" cy="86907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 cap="sq">
              <a:solidFill>
                <a:srgbClr val="000000"/>
              </a:solidFill>
              <a:prstDash val="solid"/>
              <a:miter/>
            </a:ln>
          </p:spPr>
          <p:txBody>
            <a:bodyPr/>
            <a:lstStyle/>
            <a:p>
              <a:endParaRPr lang="zh-TW" altLang="en-US"/>
            </a:p>
          </p:txBody>
        </p:sp>
        <p:sp>
          <p:nvSpPr>
            <p:cNvPr id="20" name="TextBox 20"/>
            <p:cNvSpPr txBox="1"/>
            <p:nvPr/>
          </p:nvSpPr>
          <p:spPr>
            <a:xfrm>
              <a:off x="76200" y="95250"/>
              <a:ext cx="660400" cy="641350"/>
            </a:xfrm>
            <a:prstGeom prst="rect">
              <a:avLst/>
            </a:prstGeom>
          </p:spPr>
          <p:txBody>
            <a:bodyPr lIns="50800" tIns="50800" rIns="50800" bIns="50800" rtlCol="0" anchor="ctr"/>
            <a:lstStyle/>
            <a:p>
              <a:pPr algn="ctr">
                <a:lnSpc>
                  <a:spcPts val="2530"/>
                </a:lnSpc>
              </a:pPr>
              <a:endParaRPr/>
            </a:p>
          </p:txBody>
        </p:sp>
      </p:grpSp>
      <p:sp>
        <p:nvSpPr>
          <p:cNvPr id="21" name="Freeform 21"/>
          <p:cNvSpPr/>
          <p:nvPr/>
        </p:nvSpPr>
        <p:spPr>
          <a:xfrm rot="-5400000">
            <a:off x="11163138" y="5958269"/>
            <a:ext cx="275646" cy="372494"/>
          </a:xfrm>
          <a:custGeom>
            <a:avLst/>
            <a:gdLst/>
            <a:ahLst/>
            <a:cxnLst/>
            <a:rect l="l" t="t" r="r" b="b"/>
            <a:pathLst>
              <a:path w="275646" h="372494">
                <a:moveTo>
                  <a:pt x="0" y="0"/>
                </a:moveTo>
                <a:lnTo>
                  <a:pt x="275646" y="0"/>
                </a:lnTo>
                <a:lnTo>
                  <a:pt x="275646" y="372494"/>
                </a:lnTo>
                <a:lnTo>
                  <a:pt x="0" y="3724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2" name="Freeform 22"/>
          <p:cNvSpPr/>
          <p:nvPr/>
        </p:nvSpPr>
        <p:spPr>
          <a:xfrm>
            <a:off x="3230144" y="4340003"/>
            <a:ext cx="1086963" cy="1086963"/>
          </a:xfrm>
          <a:custGeom>
            <a:avLst/>
            <a:gdLst/>
            <a:ahLst/>
            <a:cxnLst/>
            <a:rect l="l" t="t" r="r" b="b"/>
            <a:pathLst>
              <a:path w="1086963" h="1086963">
                <a:moveTo>
                  <a:pt x="0" y="0"/>
                </a:moveTo>
                <a:lnTo>
                  <a:pt x="1086963" y="0"/>
                </a:lnTo>
                <a:lnTo>
                  <a:pt x="1086963" y="1086963"/>
                </a:lnTo>
                <a:lnTo>
                  <a:pt x="0" y="1086963"/>
                </a:lnTo>
                <a:lnTo>
                  <a:pt x="0" y="0"/>
                </a:lnTo>
                <a:close/>
              </a:path>
            </a:pathLst>
          </a:custGeom>
          <a:blipFill>
            <a:blip r:embed="rId10"/>
            <a:stretch>
              <a:fillRect/>
            </a:stretch>
          </a:blipFill>
        </p:spPr>
        <p:txBody>
          <a:bodyPr/>
          <a:lstStyle/>
          <a:p>
            <a:endParaRPr lang="zh-TW" altLang="en-US"/>
          </a:p>
        </p:txBody>
      </p:sp>
      <p:sp>
        <p:nvSpPr>
          <p:cNvPr id="23" name="Freeform 23"/>
          <p:cNvSpPr/>
          <p:nvPr/>
        </p:nvSpPr>
        <p:spPr>
          <a:xfrm>
            <a:off x="8076185" y="4182801"/>
            <a:ext cx="1401366" cy="1401366"/>
          </a:xfrm>
          <a:custGeom>
            <a:avLst/>
            <a:gdLst/>
            <a:ahLst/>
            <a:cxnLst/>
            <a:rect l="l" t="t" r="r" b="b"/>
            <a:pathLst>
              <a:path w="1401366" h="1401366">
                <a:moveTo>
                  <a:pt x="0" y="0"/>
                </a:moveTo>
                <a:lnTo>
                  <a:pt x="1401366" y="0"/>
                </a:lnTo>
                <a:lnTo>
                  <a:pt x="1401366" y="1401366"/>
                </a:lnTo>
                <a:lnTo>
                  <a:pt x="0" y="1401366"/>
                </a:lnTo>
                <a:lnTo>
                  <a:pt x="0" y="0"/>
                </a:lnTo>
                <a:close/>
              </a:path>
            </a:pathLst>
          </a:custGeom>
          <a:blipFill>
            <a:blip r:embed="rId11"/>
            <a:stretch>
              <a:fillRect/>
            </a:stretch>
          </a:blipFill>
        </p:spPr>
        <p:txBody>
          <a:bodyPr/>
          <a:lstStyle/>
          <a:p>
            <a:endParaRPr lang="zh-TW" altLang="en-US"/>
          </a:p>
        </p:txBody>
      </p:sp>
      <p:sp>
        <p:nvSpPr>
          <p:cNvPr id="24" name="Freeform 24"/>
          <p:cNvSpPr/>
          <p:nvPr/>
        </p:nvSpPr>
        <p:spPr>
          <a:xfrm>
            <a:off x="13159643" y="4166491"/>
            <a:ext cx="1166606" cy="1166606"/>
          </a:xfrm>
          <a:custGeom>
            <a:avLst/>
            <a:gdLst/>
            <a:ahLst/>
            <a:cxnLst/>
            <a:rect l="l" t="t" r="r" b="b"/>
            <a:pathLst>
              <a:path w="1166606" h="1166606">
                <a:moveTo>
                  <a:pt x="0" y="0"/>
                </a:moveTo>
                <a:lnTo>
                  <a:pt x="1166606" y="0"/>
                </a:lnTo>
                <a:lnTo>
                  <a:pt x="1166606" y="1166606"/>
                </a:lnTo>
                <a:lnTo>
                  <a:pt x="0" y="1166606"/>
                </a:lnTo>
                <a:lnTo>
                  <a:pt x="0" y="0"/>
                </a:lnTo>
                <a:close/>
              </a:path>
            </a:pathLst>
          </a:custGeom>
          <a:blipFill>
            <a:blip r:embed="rId12"/>
            <a:stretch>
              <a:fillRect/>
            </a:stretch>
          </a:blipFill>
        </p:spPr>
        <p:txBody>
          <a:bodyPr/>
          <a:lstStyle/>
          <a:p>
            <a:endParaRPr lang="zh-TW" altLang="en-US"/>
          </a:p>
        </p:txBody>
      </p:sp>
      <p:sp>
        <p:nvSpPr>
          <p:cNvPr id="25" name="TextBox 25"/>
          <p:cNvSpPr txBox="1"/>
          <p:nvPr/>
        </p:nvSpPr>
        <p:spPr>
          <a:xfrm>
            <a:off x="2826440" y="1784508"/>
            <a:ext cx="14139199"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Seminar Overview: Explainable AI </a:t>
            </a:r>
          </a:p>
        </p:txBody>
      </p:sp>
      <p:sp>
        <p:nvSpPr>
          <p:cNvPr id="26" name="TextBox 26"/>
          <p:cNvSpPr txBox="1"/>
          <p:nvPr/>
        </p:nvSpPr>
        <p:spPr>
          <a:xfrm>
            <a:off x="2220243" y="3267966"/>
            <a:ext cx="3330134" cy="355600"/>
          </a:xfrm>
          <a:prstGeom prst="rect">
            <a:avLst/>
          </a:prstGeom>
        </p:spPr>
        <p:txBody>
          <a:bodyPr lIns="0" tIns="0" rIns="0" bIns="0" rtlCol="0" anchor="t">
            <a:spAutoFit/>
          </a:bodyPr>
          <a:lstStyle/>
          <a:p>
            <a:pPr algn="ctr">
              <a:lnSpc>
                <a:spcPts val="2750"/>
              </a:lnSpc>
            </a:pPr>
            <a:r>
              <a:rPr lang="en-US" sz="2500" b="1">
                <a:solidFill>
                  <a:srgbClr val="000000"/>
                </a:solidFill>
                <a:latin typeface="Inter Bold"/>
                <a:ea typeface="Inter Bold"/>
                <a:cs typeface="Inter Bold"/>
                <a:sym typeface="Inter Bold"/>
              </a:rPr>
              <a:t>FOUNDATION</a:t>
            </a:r>
          </a:p>
        </p:txBody>
      </p:sp>
      <p:sp>
        <p:nvSpPr>
          <p:cNvPr id="27" name="TextBox 27"/>
          <p:cNvSpPr txBox="1"/>
          <p:nvPr/>
        </p:nvSpPr>
        <p:spPr>
          <a:xfrm>
            <a:off x="2030746" y="6907468"/>
            <a:ext cx="3709128" cy="1249679"/>
          </a:xfrm>
          <a:prstGeom prst="rect">
            <a:avLst/>
          </a:prstGeom>
        </p:spPr>
        <p:txBody>
          <a:bodyPr lIns="0" tIns="0" rIns="0" bIns="0" rtlCol="0" anchor="t">
            <a:spAutoFit/>
          </a:bodyPr>
          <a:lstStyle/>
          <a:p>
            <a:pPr marL="388628" lvl="1" indent="-194314" algn="l">
              <a:lnSpc>
                <a:spcPts val="2520"/>
              </a:lnSpc>
              <a:buFont typeface="Arial"/>
              <a:buChar char="•"/>
            </a:pPr>
            <a:r>
              <a:rPr lang="en-US" sz="1800">
                <a:solidFill>
                  <a:srgbClr val="737373"/>
                </a:solidFill>
                <a:latin typeface="Inter"/>
                <a:ea typeface="Inter"/>
                <a:cs typeface="Inter"/>
                <a:sym typeface="Inter"/>
              </a:rPr>
              <a:t>Source, Logic, &amp; Representation</a:t>
            </a:r>
          </a:p>
          <a:p>
            <a:pPr marL="388628" lvl="1" indent="-194314" algn="l">
              <a:lnSpc>
                <a:spcPts val="2520"/>
              </a:lnSpc>
              <a:buFont typeface="Arial"/>
              <a:buChar char="•"/>
            </a:pPr>
            <a:r>
              <a:rPr lang="en-US" sz="1800">
                <a:solidFill>
                  <a:srgbClr val="737373"/>
                </a:solidFill>
                <a:latin typeface="Inter"/>
                <a:ea typeface="Inter"/>
                <a:cs typeface="Inter"/>
                <a:sym typeface="Inter"/>
              </a:rPr>
              <a:t>Mapping XAI to Stakeholders</a:t>
            </a:r>
          </a:p>
          <a:p>
            <a:pPr marL="388628" lvl="1" indent="-194314" algn="l">
              <a:lnSpc>
                <a:spcPts val="2520"/>
              </a:lnSpc>
              <a:buFont typeface="Arial"/>
              <a:buChar char="•"/>
            </a:pPr>
            <a:r>
              <a:rPr lang="en-US" sz="1800">
                <a:solidFill>
                  <a:srgbClr val="737373"/>
                </a:solidFill>
                <a:latin typeface="Inter"/>
                <a:ea typeface="Inter"/>
                <a:cs typeface="Inter"/>
                <a:sym typeface="Inter"/>
              </a:rPr>
              <a:t>Technical Boundaries</a:t>
            </a:r>
          </a:p>
        </p:txBody>
      </p:sp>
      <p:sp>
        <p:nvSpPr>
          <p:cNvPr id="28" name="TextBox 28"/>
          <p:cNvSpPr txBox="1"/>
          <p:nvPr/>
        </p:nvSpPr>
        <p:spPr>
          <a:xfrm>
            <a:off x="1917153" y="5880552"/>
            <a:ext cx="3330134" cy="718145"/>
          </a:xfrm>
          <a:prstGeom prst="rect">
            <a:avLst/>
          </a:prstGeom>
        </p:spPr>
        <p:txBody>
          <a:bodyPr lIns="0" tIns="0" rIns="0" bIns="0" rtlCol="0" anchor="t">
            <a:spAutoFit/>
          </a:bodyPr>
          <a:lstStyle/>
          <a:p>
            <a:pPr algn="ctr">
              <a:lnSpc>
                <a:spcPts val="2750"/>
              </a:lnSpc>
            </a:pPr>
            <a:r>
              <a:rPr lang="en-US" sz="2500" b="1" dirty="0">
                <a:solidFill>
                  <a:srgbClr val="000000"/>
                </a:solidFill>
                <a:latin typeface="Inter"/>
                <a:ea typeface="Inter"/>
                <a:cs typeface="Inter"/>
                <a:sym typeface="Inter"/>
              </a:rPr>
              <a:t>The Technical Taxonomies</a:t>
            </a:r>
          </a:p>
        </p:txBody>
      </p:sp>
      <p:sp>
        <p:nvSpPr>
          <p:cNvPr id="29" name="TextBox 29"/>
          <p:cNvSpPr txBox="1"/>
          <p:nvPr/>
        </p:nvSpPr>
        <p:spPr>
          <a:xfrm>
            <a:off x="7165819" y="3267966"/>
            <a:ext cx="3330134" cy="355600"/>
          </a:xfrm>
          <a:prstGeom prst="rect">
            <a:avLst/>
          </a:prstGeom>
        </p:spPr>
        <p:txBody>
          <a:bodyPr lIns="0" tIns="0" rIns="0" bIns="0" rtlCol="0" anchor="t">
            <a:spAutoFit/>
          </a:bodyPr>
          <a:lstStyle/>
          <a:p>
            <a:pPr algn="ctr">
              <a:lnSpc>
                <a:spcPts val="2750"/>
              </a:lnSpc>
            </a:pPr>
            <a:r>
              <a:rPr lang="en-US" sz="2500" b="1">
                <a:solidFill>
                  <a:srgbClr val="000000"/>
                </a:solidFill>
                <a:latin typeface="Inter Bold"/>
                <a:ea typeface="Inter Bold"/>
                <a:cs typeface="Inter Bold"/>
                <a:sym typeface="Inter Bold"/>
              </a:rPr>
              <a:t>TRANSFORMATION</a:t>
            </a:r>
          </a:p>
        </p:txBody>
      </p:sp>
      <p:sp>
        <p:nvSpPr>
          <p:cNvPr id="30" name="TextBox 30"/>
          <p:cNvSpPr txBox="1"/>
          <p:nvPr/>
        </p:nvSpPr>
        <p:spPr>
          <a:xfrm>
            <a:off x="6976322" y="6907468"/>
            <a:ext cx="3709128" cy="935354"/>
          </a:xfrm>
          <a:prstGeom prst="rect">
            <a:avLst/>
          </a:prstGeom>
        </p:spPr>
        <p:txBody>
          <a:bodyPr lIns="0" tIns="0" rIns="0" bIns="0" rtlCol="0" anchor="t">
            <a:spAutoFit/>
          </a:bodyPr>
          <a:lstStyle/>
          <a:p>
            <a:pPr marL="388628" lvl="1" indent="-194314" algn="l">
              <a:lnSpc>
                <a:spcPts val="2520"/>
              </a:lnSpc>
              <a:buFont typeface="Arial"/>
              <a:buChar char="•"/>
            </a:pPr>
            <a:r>
              <a:rPr lang="en-US" sz="1800">
                <a:solidFill>
                  <a:srgbClr val="737373"/>
                </a:solidFill>
                <a:latin typeface="Inter"/>
                <a:ea typeface="Inter"/>
                <a:cs typeface="Inter"/>
                <a:sym typeface="Inter"/>
              </a:rPr>
              <a:t>LLMs as Translators</a:t>
            </a:r>
          </a:p>
          <a:p>
            <a:pPr marL="388628" lvl="1" indent="-194314" algn="l">
              <a:lnSpc>
                <a:spcPts val="2520"/>
              </a:lnSpc>
              <a:buFont typeface="Arial"/>
              <a:buChar char="•"/>
            </a:pPr>
            <a:r>
              <a:rPr lang="en-US" sz="1800">
                <a:solidFill>
                  <a:srgbClr val="737373"/>
                </a:solidFill>
                <a:latin typeface="Inter"/>
                <a:ea typeface="Inter"/>
                <a:cs typeface="Inter"/>
                <a:sym typeface="Inter"/>
              </a:rPr>
              <a:t>SHAPstories &amp; CFstories</a:t>
            </a:r>
          </a:p>
          <a:p>
            <a:pPr marL="388628" lvl="1" indent="-194314" algn="l">
              <a:lnSpc>
                <a:spcPts val="2520"/>
              </a:lnSpc>
              <a:buFont typeface="Arial"/>
              <a:buChar char="•"/>
            </a:pPr>
            <a:r>
              <a:rPr lang="en-US" sz="1800">
                <a:solidFill>
                  <a:srgbClr val="737373"/>
                </a:solidFill>
                <a:latin typeface="Inter"/>
                <a:ea typeface="Inter"/>
                <a:cs typeface="Inter"/>
                <a:sym typeface="Inter"/>
              </a:rPr>
              <a:t>Memorability vs. Complexity</a:t>
            </a:r>
          </a:p>
        </p:txBody>
      </p:sp>
      <p:sp>
        <p:nvSpPr>
          <p:cNvPr id="31" name="TextBox 31"/>
          <p:cNvSpPr txBox="1"/>
          <p:nvPr/>
        </p:nvSpPr>
        <p:spPr>
          <a:xfrm>
            <a:off x="7318629" y="5880552"/>
            <a:ext cx="3021801" cy="718145"/>
          </a:xfrm>
          <a:prstGeom prst="rect">
            <a:avLst/>
          </a:prstGeom>
        </p:spPr>
        <p:txBody>
          <a:bodyPr lIns="0" tIns="0" rIns="0" bIns="0" rtlCol="0" anchor="t">
            <a:spAutoFit/>
          </a:bodyPr>
          <a:lstStyle/>
          <a:p>
            <a:pPr algn="ctr">
              <a:lnSpc>
                <a:spcPts val="2750"/>
              </a:lnSpc>
            </a:pPr>
            <a:r>
              <a:rPr lang="en-US" sz="2500" b="1" dirty="0">
                <a:solidFill>
                  <a:srgbClr val="000000"/>
                </a:solidFill>
                <a:latin typeface="Inter"/>
                <a:ea typeface="Inter"/>
                <a:cs typeface="Inter"/>
                <a:sym typeface="Inter"/>
              </a:rPr>
              <a:t>Narrative-Driven XAI</a:t>
            </a:r>
          </a:p>
        </p:txBody>
      </p:sp>
      <p:sp>
        <p:nvSpPr>
          <p:cNvPr id="32" name="TextBox 32"/>
          <p:cNvSpPr txBox="1"/>
          <p:nvPr/>
        </p:nvSpPr>
        <p:spPr>
          <a:xfrm>
            <a:off x="12077878" y="3267966"/>
            <a:ext cx="3330134" cy="355600"/>
          </a:xfrm>
          <a:prstGeom prst="rect">
            <a:avLst/>
          </a:prstGeom>
        </p:spPr>
        <p:txBody>
          <a:bodyPr lIns="0" tIns="0" rIns="0" bIns="0" rtlCol="0" anchor="t">
            <a:spAutoFit/>
          </a:bodyPr>
          <a:lstStyle/>
          <a:p>
            <a:pPr algn="ctr">
              <a:lnSpc>
                <a:spcPts val="2750"/>
              </a:lnSpc>
            </a:pPr>
            <a:r>
              <a:rPr lang="en-US" sz="2500" b="1">
                <a:solidFill>
                  <a:srgbClr val="000000"/>
                </a:solidFill>
                <a:latin typeface="Inter Bold"/>
                <a:ea typeface="Inter Bold"/>
                <a:cs typeface="Inter Bold"/>
                <a:sym typeface="Inter Bold"/>
              </a:rPr>
              <a:t>SYNERGY </a:t>
            </a:r>
          </a:p>
        </p:txBody>
      </p:sp>
      <p:sp>
        <p:nvSpPr>
          <p:cNvPr id="33" name="TextBox 33"/>
          <p:cNvSpPr txBox="1"/>
          <p:nvPr/>
        </p:nvSpPr>
        <p:spPr>
          <a:xfrm>
            <a:off x="11925107" y="6907468"/>
            <a:ext cx="3709128" cy="1249679"/>
          </a:xfrm>
          <a:prstGeom prst="rect">
            <a:avLst/>
          </a:prstGeom>
        </p:spPr>
        <p:txBody>
          <a:bodyPr lIns="0" tIns="0" rIns="0" bIns="0" rtlCol="0" anchor="t">
            <a:spAutoFit/>
          </a:bodyPr>
          <a:lstStyle/>
          <a:p>
            <a:pPr marL="388628" lvl="1" indent="-194314" algn="l">
              <a:lnSpc>
                <a:spcPts val="2520"/>
              </a:lnSpc>
              <a:buFont typeface="Arial"/>
              <a:buChar char="•"/>
            </a:pPr>
            <a:r>
              <a:rPr lang="en-US" sz="1800" dirty="0">
                <a:solidFill>
                  <a:srgbClr val="737373"/>
                </a:solidFill>
                <a:latin typeface="Inter"/>
                <a:ea typeface="Inter"/>
                <a:cs typeface="Inter"/>
                <a:sym typeface="Inter"/>
              </a:rPr>
              <a:t>Planning, Implementation, Communication.</a:t>
            </a:r>
          </a:p>
          <a:p>
            <a:pPr marL="388628" lvl="1" indent="-194314" algn="l">
              <a:lnSpc>
                <a:spcPts val="2520"/>
              </a:lnSpc>
              <a:buFont typeface="Arial"/>
              <a:buChar char="•"/>
            </a:pPr>
            <a:r>
              <a:rPr lang="en-US" sz="1800" dirty="0">
                <a:solidFill>
                  <a:srgbClr val="737373"/>
                </a:solidFill>
                <a:latin typeface="Inter"/>
                <a:ea typeface="Inter"/>
                <a:cs typeface="Inter"/>
                <a:sym typeface="Inter"/>
              </a:rPr>
              <a:t>4 Roles of AI Collaborators</a:t>
            </a:r>
          </a:p>
          <a:p>
            <a:pPr marL="388628" lvl="1" indent="-194314" algn="l">
              <a:lnSpc>
                <a:spcPts val="2520"/>
              </a:lnSpc>
              <a:buFont typeface="Arial"/>
              <a:buChar char="•"/>
            </a:pPr>
            <a:r>
              <a:rPr lang="en-US" sz="1800" dirty="0">
                <a:solidFill>
                  <a:srgbClr val="737373"/>
                </a:solidFill>
                <a:latin typeface="Inter"/>
                <a:ea typeface="Inter"/>
                <a:cs typeface="Inter"/>
                <a:sym typeface="Inter"/>
              </a:rPr>
              <a:t>Agency vs. Automation</a:t>
            </a:r>
          </a:p>
        </p:txBody>
      </p:sp>
      <p:sp>
        <p:nvSpPr>
          <p:cNvPr id="34" name="TextBox 34"/>
          <p:cNvSpPr txBox="1"/>
          <p:nvPr/>
        </p:nvSpPr>
        <p:spPr>
          <a:xfrm>
            <a:off x="12221272" y="5804791"/>
            <a:ext cx="3330134" cy="718145"/>
          </a:xfrm>
          <a:prstGeom prst="rect">
            <a:avLst/>
          </a:prstGeom>
        </p:spPr>
        <p:txBody>
          <a:bodyPr lIns="0" tIns="0" rIns="0" bIns="0" rtlCol="0" anchor="t">
            <a:spAutoFit/>
          </a:bodyPr>
          <a:lstStyle/>
          <a:p>
            <a:pPr algn="ctr">
              <a:lnSpc>
                <a:spcPts val="2750"/>
              </a:lnSpc>
            </a:pPr>
            <a:r>
              <a:rPr lang="en-US" sz="2500" b="1" dirty="0">
                <a:solidFill>
                  <a:srgbClr val="000000"/>
                </a:solidFill>
                <a:latin typeface="Inter"/>
                <a:ea typeface="Inter"/>
                <a:cs typeface="Inter"/>
                <a:sym typeface="Inter"/>
              </a:rPr>
              <a:t>Human-AI Collaboration</a:t>
            </a:r>
          </a:p>
        </p:txBody>
      </p:sp>
      <p:sp>
        <p:nvSpPr>
          <p:cNvPr id="35" name="TextBox 35"/>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4</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AutoShape 3"/>
          <p:cNvSpPr/>
          <p:nvPr/>
        </p:nvSpPr>
        <p:spPr>
          <a:xfrm>
            <a:off x="1647357" y="4367025"/>
            <a:ext cx="2126908" cy="0"/>
          </a:xfrm>
          <a:prstGeom prst="line">
            <a:avLst/>
          </a:prstGeom>
          <a:ln w="38100" cap="flat">
            <a:solidFill>
              <a:srgbClr val="90816A"/>
            </a:solidFill>
            <a:prstDash val="solid"/>
            <a:headEnd type="none" w="sm" len="sm"/>
            <a:tailEnd type="none" w="sm" len="sm"/>
          </a:ln>
        </p:spPr>
        <p:txBody>
          <a:bodyPr/>
          <a:lstStyle/>
          <a:p>
            <a:endParaRPr lang="zh-TW" altLang="en-US"/>
          </a:p>
        </p:txBody>
      </p:sp>
      <p:sp>
        <p:nvSpPr>
          <p:cNvPr id="4" name="Freeform 4"/>
          <p:cNvSpPr/>
          <p:nvPr/>
        </p:nvSpPr>
        <p:spPr>
          <a:xfrm rot="-10800000">
            <a:off x="15701674"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 name="Freeform 5"/>
          <p:cNvSpPr/>
          <p:nvPr/>
        </p:nvSpPr>
        <p:spPr>
          <a:xfrm>
            <a:off x="1589335" y="1152973"/>
            <a:ext cx="1045375" cy="296506"/>
          </a:xfrm>
          <a:custGeom>
            <a:avLst/>
            <a:gdLst/>
            <a:ahLst/>
            <a:cxnLst/>
            <a:rect l="l" t="t" r="r" b="b"/>
            <a:pathLst>
              <a:path w="1045375" h="296506">
                <a:moveTo>
                  <a:pt x="0" y="0"/>
                </a:moveTo>
                <a:lnTo>
                  <a:pt x="1045375" y="0"/>
                </a:lnTo>
                <a:lnTo>
                  <a:pt x="1045375" y="296507"/>
                </a:lnTo>
                <a:lnTo>
                  <a:pt x="0" y="2965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6" name="Freeform 6"/>
          <p:cNvSpPr/>
          <p:nvPr/>
        </p:nvSpPr>
        <p:spPr>
          <a:xfrm>
            <a:off x="7523360" y="5848510"/>
            <a:ext cx="1302663" cy="1302663"/>
          </a:xfrm>
          <a:custGeom>
            <a:avLst/>
            <a:gdLst/>
            <a:ahLst/>
            <a:cxnLst/>
            <a:rect l="l" t="t" r="r" b="b"/>
            <a:pathLst>
              <a:path w="1302663" h="1302663">
                <a:moveTo>
                  <a:pt x="0" y="0"/>
                </a:moveTo>
                <a:lnTo>
                  <a:pt x="1302663" y="0"/>
                </a:lnTo>
                <a:lnTo>
                  <a:pt x="1302663" y="1302664"/>
                </a:lnTo>
                <a:lnTo>
                  <a:pt x="0" y="1302664"/>
                </a:lnTo>
                <a:lnTo>
                  <a:pt x="0" y="0"/>
                </a:lnTo>
                <a:close/>
              </a:path>
            </a:pathLst>
          </a:custGeom>
          <a:blipFill>
            <a:blip r:embed="rId7"/>
            <a:stretch>
              <a:fillRect/>
            </a:stretch>
          </a:blipFill>
        </p:spPr>
        <p:txBody>
          <a:bodyPr/>
          <a:lstStyle/>
          <a:p>
            <a:endParaRPr lang="zh-TW" altLang="en-US"/>
          </a:p>
        </p:txBody>
      </p:sp>
      <p:sp>
        <p:nvSpPr>
          <p:cNvPr id="7" name="Freeform 7"/>
          <p:cNvSpPr/>
          <p:nvPr/>
        </p:nvSpPr>
        <p:spPr>
          <a:xfrm>
            <a:off x="9884075" y="5848510"/>
            <a:ext cx="1182078" cy="1182078"/>
          </a:xfrm>
          <a:custGeom>
            <a:avLst/>
            <a:gdLst/>
            <a:ahLst/>
            <a:cxnLst/>
            <a:rect l="l" t="t" r="r" b="b"/>
            <a:pathLst>
              <a:path w="1182078" h="1182078">
                <a:moveTo>
                  <a:pt x="0" y="0"/>
                </a:moveTo>
                <a:lnTo>
                  <a:pt x="1182077" y="0"/>
                </a:lnTo>
                <a:lnTo>
                  <a:pt x="1182077" y="1182078"/>
                </a:lnTo>
                <a:lnTo>
                  <a:pt x="0" y="1182078"/>
                </a:lnTo>
                <a:lnTo>
                  <a:pt x="0" y="0"/>
                </a:lnTo>
                <a:close/>
              </a:path>
            </a:pathLst>
          </a:custGeom>
          <a:blipFill>
            <a:blip r:embed="rId8"/>
            <a:stretch>
              <a:fillRect/>
            </a:stretch>
          </a:blipFill>
        </p:spPr>
        <p:txBody>
          <a:bodyPr/>
          <a:lstStyle/>
          <a:p>
            <a:endParaRPr lang="zh-TW" altLang="en-US"/>
          </a:p>
        </p:txBody>
      </p:sp>
      <p:sp>
        <p:nvSpPr>
          <p:cNvPr id="8" name="Freeform 8"/>
          <p:cNvSpPr/>
          <p:nvPr/>
        </p:nvSpPr>
        <p:spPr>
          <a:xfrm>
            <a:off x="12598901" y="5920119"/>
            <a:ext cx="1159446" cy="1159446"/>
          </a:xfrm>
          <a:custGeom>
            <a:avLst/>
            <a:gdLst/>
            <a:ahLst/>
            <a:cxnLst/>
            <a:rect l="l" t="t" r="r" b="b"/>
            <a:pathLst>
              <a:path w="1159446" h="1159446">
                <a:moveTo>
                  <a:pt x="0" y="0"/>
                </a:moveTo>
                <a:lnTo>
                  <a:pt x="1159445" y="0"/>
                </a:lnTo>
                <a:lnTo>
                  <a:pt x="1159445" y="1159446"/>
                </a:lnTo>
                <a:lnTo>
                  <a:pt x="0" y="1159446"/>
                </a:lnTo>
                <a:lnTo>
                  <a:pt x="0" y="0"/>
                </a:lnTo>
                <a:close/>
              </a:path>
            </a:pathLst>
          </a:custGeom>
          <a:blipFill>
            <a:blip r:embed="rId9"/>
            <a:stretch>
              <a:fillRect/>
            </a:stretch>
          </a:blipFill>
        </p:spPr>
        <p:txBody>
          <a:bodyPr/>
          <a:lstStyle/>
          <a:p>
            <a:endParaRPr lang="zh-TW" altLang="en-US"/>
          </a:p>
        </p:txBody>
      </p:sp>
      <p:sp>
        <p:nvSpPr>
          <p:cNvPr id="9" name="Freeform 9"/>
          <p:cNvSpPr/>
          <p:nvPr/>
        </p:nvSpPr>
        <p:spPr>
          <a:xfrm>
            <a:off x="15183905" y="5920119"/>
            <a:ext cx="1159446" cy="1159446"/>
          </a:xfrm>
          <a:custGeom>
            <a:avLst/>
            <a:gdLst/>
            <a:ahLst/>
            <a:cxnLst/>
            <a:rect l="l" t="t" r="r" b="b"/>
            <a:pathLst>
              <a:path w="1159446" h="1159446">
                <a:moveTo>
                  <a:pt x="0" y="0"/>
                </a:moveTo>
                <a:lnTo>
                  <a:pt x="1159446" y="0"/>
                </a:lnTo>
                <a:lnTo>
                  <a:pt x="1159446" y="1159446"/>
                </a:lnTo>
                <a:lnTo>
                  <a:pt x="0" y="1159446"/>
                </a:lnTo>
                <a:lnTo>
                  <a:pt x="0" y="0"/>
                </a:lnTo>
                <a:close/>
              </a:path>
            </a:pathLst>
          </a:custGeom>
          <a:blipFill>
            <a:blip r:embed="rId10"/>
            <a:stretch>
              <a:fillRect/>
            </a:stretch>
          </a:blipFill>
        </p:spPr>
        <p:txBody>
          <a:bodyPr/>
          <a:lstStyle/>
          <a:p>
            <a:endParaRPr lang="zh-TW" altLang="en-US"/>
          </a:p>
        </p:txBody>
      </p:sp>
      <p:sp>
        <p:nvSpPr>
          <p:cNvPr id="10" name="TextBox 10"/>
          <p:cNvSpPr txBox="1"/>
          <p:nvPr/>
        </p:nvSpPr>
        <p:spPr>
          <a:xfrm>
            <a:off x="1589335" y="1925730"/>
            <a:ext cx="4634432" cy="1825625"/>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Why XAI Matters</a:t>
            </a:r>
          </a:p>
        </p:txBody>
      </p:sp>
      <p:sp>
        <p:nvSpPr>
          <p:cNvPr id="11" name="TextBox 11"/>
          <p:cNvSpPr txBox="1"/>
          <p:nvPr/>
        </p:nvSpPr>
        <p:spPr>
          <a:xfrm>
            <a:off x="1028700" y="6085032"/>
            <a:ext cx="5047809" cy="1249679"/>
          </a:xfrm>
          <a:prstGeom prst="rect">
            <a:avLst/>
          </a:prstGeom>
        </p:spPr>
        <p:txBody>
          <a:bodyPr lIns="0" tIns="0" rIns="0" bIns="0" rtlCol="0" anchor="t">
            <a:spAutoFit/>
          </a:bodyPr>
          <a:lstStyle/>
          <a:p>
            <a:pPr algn="l">
              <a:lnSpc>
                <a:spcPts val="2520"/>
              </a:lnSpc>
            </a:pPr>
            <a:r>
              <a:rPr lang="en-US" sz="1800" b="1">
                <a:solidFill>
                  <a:srgbClr val="737373"/>
                </a:solidFill>
                <a:latin typeface="Inter Bold"/>
                <a:ea typeface="Inter Bold"/>
                <a:cs typeface="Inter Bold"/>
                <a:sym typeface="Inter Bold"/>
              </a:rPr>
              <a:t>Consequence of lack of opacity:</a:t>
            </a:r>
          </a:p>
          <a:p>
            <a:pPr marL="388628" lvl="1" indent="-194314" algn="l">
              <a:lnSpc>
                <a:spcPts val="2520"/>
              </a:lnSpc>
              <a:buFont typeface="Arial"/>
              <a:buChar char="•"/>
            </a:pPr>
            <a:r>
              <a:rPr lang="en-US" sz="1800">
                <a:solidFill>
                  <a:srgbClr val="737373"/>
                </a:solidFill>
                <a:latin typeface="Inter"/>
                <a:ea typeface="Inter"/>
                <a:cs typeface="Inter"/>
                <a:sym typeface="Inter"/>
              </a:rPr>
              <a:t>Lack of trust</a:t>
            </a:r>
          </a:p>
          <a:p>
            <a:pPr marL="388628" lvl="1" indent="-194314" algn="l">
              <a:lnSpc>
                <a:spcPts val="2520"/>
              </a:lnSpc>
              <a:buFont typeface="Arial"/>
              <a:buChar char="•"/>
            </a:pPr>
            <a:r>
              <a:rPr lang="en-US" sz="1800">
                <a:solidFill>
                  <a:srgbClr val="737373"/>
                </a:solidFill>
                <a:latin typeface="Inter"/>
                <a:ea typeface="Inter"/>
                <a:cs typeface="Inter"/>
                <a:sym typeface="Inter"/>
              </a:rPr>
              <a:t>Hard to debug, regulate, validate</a:t>
            </a:r>
          </a:p>
          <a:p>
            <a:pPr marL="388628" lvl="1" indent="-194314" algn="l">
              <a:lnSpc>
                <a:spcPts val="2520"/>
              </a:lnSpc>
              <a:buFont typeface="Arial"/>
              <a:buChar char="•"/>
            </a:pPr>
            <a:r>
              <a:rPr lang="en-US" sz="1800">
                <a:solidFill>
                  <a:srgbClr val="737373"/>
                </a:solidFill>
                <a:latin typeface="Inter"/>
                <a:ea typeface="Inter"/>
                <a:cs typeface="Inter"/>
                <a:sym typeface="Inter"/>
              </a:rPr>
              <a:t>Poor communication of insights</a:t>
            </a:r>
          </a:p>
        </p:txBody>
      </p:sp>
      <p:sp>
        <p:nvSpPr>
          <p:cNvPr id="12" name="TextBox 12"/>
          <p:cNvSpPr txBox="1"/>
          <p:nvPr/>
        </p:nvSpPr>
        <p:spPr>
          <a:xfrm>
            <a:off x="1028700" y="5105400"/>
            <a:ext cx="5276552" cy="621029"/>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Modern AI are accurate but opaque.</a:t>
            </a:r>
          </a:p>
          <a:p>
            <a:pPr marL="388628" lvl="1" indent="-194314" algn="l">
              <a:lnSpc>
                <a:spcPts val="2520"/>
              </a:lnSpc>
              <a:buFont typeface="Arial"/>
              <a:buChar char="•"/>
            </a:pPr>
            <a:r>
              <a:rPr lang="en-US" sz="1800">
                <a:solidFill>
                  <a:srgbClr val="737373"/>
                </a:solidFill>
                <a:latin typeface="Inter"/>
                <a:ea typeface="Inter"/>
                <a:cs typeface="Inter"/>
                <a:sym typeface="Inter"/>
              </a:rPr>
              <a:t>Black boxes</a:t>
            </a:r>
          </a:p>
        </p:txBody>
      </p:sp>
      <p:sp>
        <p:nvSpPr>
          <p:cNvPr id="13" name="TextBox 13"/>
          <p:cNvSpPr txBox="1"/>
          <p:nvPr/>
        </p:nvSpPr>
        <p:spPr>
          <a:xfrm>
            <a:off x="7523360" y="7181993"/>
            <a:ext cx="1557660"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End-users</a:t>
            </a:r>
          </a:p>
        </p:txBody>
      </p:sp>
      <p:sp>
        <p:nvSpPr>
          <p:cNvPr id="14" name="TextBox 14"/>
          <p:cNvSpPr txBox="1"/>
          <p:nvPr/>
        </p:nvSpPr>
        <p:spPr>
          <a:xfrm>
            <a:off x="9577838" y="7173428"/>
            <a:ext cx="2260798"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Domain Experts</a:t>
            </a:r>
          </a:p>
        </p:txBody>
      </p:sp>
      <p:sp>
        <p:nvSpPr>
          <p:cNvPr id="15" name="TextBox 15"/>
          <p:cNvSpPr txBox="1"/>
          <p:nvPr/>
        </p:nvSpPr>
        <p:spPr>
          <a:xfrm>
            <a:off x="12598901" y="7170224"/>
            <a:ext cx="1661206" cy="638810"/>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Developers &amp; Engineers</a:t>
            </a:r>
          </a:p>
        </p:txBody>
      </p:sp>
      <p:sp>
        <p:nvSpPr>
          <p:cNvPr id="16" name="TextBox 16"/>
          <p:cNvSpPr txBox="1"/>
          <p:nvPr/>
        </p:nvSpPr>
        <p:spPr>
          <a:xfrm>
            <a:off x="7547235" y="8076693"/>
            <a:ext cx="1611503" cy="935354"/>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Trust, reassurance, accountability</a:t>
            </a:r>
          </a:p>
        </p:txBody>
      </p:sp>
      <p:sp>
        <p:nvSpPr>
          <p:cNvPr id="17" name="TextBox 17"/>
          <p:cNvSpPr txBox="1"/>
          <p:nvPr/>
        </p:nvSpPr>
        <p:spPr>
          <a:xfrm>
            <a:off x="9577838" y="8076693"/>
            <a:ext cx="2499663" cy="1249679"/>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Doctors, lawyers, and analysts</a:t>
            </a:r>
          </a:p>
          <a:p>
            <a:pPr marL="388628" lvl="1" indent="-194314" algn="l">
              <a:lnSpc>
                <a:spcPts val="2520"/>
              </a:lnSpc>
              <a:buFont typeface="Arial"/>
              <a:buChar char="•"/>
            </a:pPr>
            <a:r>
              <a:rPr lang="en-US" sz="1800">
                <a:solidFill>
                  <a:srgbClr val="737373"/>
                </a:solidFill>
                <a:latin typeface="Inter"/>
                <a:ea typeface="Inter"/>
                <a:cs typeface="Inter"/>
                <a:sym typeface="Inter"/>
              </a:rPr>
              <a:t>Validation and decision support</a:t>
            </a:r>
          </a:p>
        </p:txBody>
      </p:sp>
      <p:sp>
        <p:nvSpPr>
          <p:cNvPr id="18" name="TextBox 18"/>
          <p:cNvSpPr txBox="1"/>
          <p:nvPr/>
        </p:nvSpPr>
        <p:spPr>
          <a:xfrm>
            <a:off x="12572801" y="8076693"/>
            <a:ext cx="1861663" cy="935354"/>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Debugging, bias detection, model improvement</a:t>
            </a:r>
          </a:p>
        </p:txBody>
      </p:sp>
      <p:sp>
        <p:nvSpPr>
          <p:cNvPr id="19" name="TextBox 19"/>
          <p:cNvSpPr txBox="1"/>
          <p:nvPr/>
        </p:nvSpPr>
        <p:spPr>
          <a:xfrm>
            <a:off x="10042696" y="4990782"/>
            <a:ext cx="3591880"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Who needs explanations?</a:t>
            </a:r>
          </a:p>
        </p:txBody>
      </p:sp>
      <p:sp>
        <p:nvSpPr>
          <p:cNvPr id="20" name="TextBox 20"/>
          <p:cNvSpPr txBox="1"/>
          <p:nvPr/>
        </p:nvSpPr>
        <p:spPr>
          <a:xfrm>
            <a:off x="15075592" y="7181993"/>
            <a:ext cx="3222352"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Regulation</a:t>
            </a:r>
          </a:p>
        </p:txBody>
      </p:sp>
      <p:sp>
        <p:nvSpPr>
          <p:cNvPr id="21" name="TextBox 21"/>
          <p:cNvSpPr txBox="1"/>
          <p:nvPr/>
        </p:nvSpPr>
        <p:spPr>
          <a:xfrm>
            <a:off x="15075592" y="8052825"/>
            <a:ext cx="2409812" cy="621029"/>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Fairness, compliance, transparency</a:t>
            </a:r>
          </a:p>
        </p:txBody>
      </p:sp>
      <p:sp>
        <p:nvSpPr>
          <p:cNvPr id="22" name="TextBox 22"/>
          <p:cNvSpPr txBox="1"/>
          <p:nvPr/>
        </p:nvSpPr>
        <p:spPr>
          <a:xfrm>
            <a:off x="10042696" y="1172023"/>
            <a:ext cx="3250533"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What is Explainable AI?</a:t>
            </a:r>
          </a:p>
        </p:txBody>
      </p:sp>
      <p:sp>
        <p:nvSpPr>
          <p:cNvPr id="23" name="TextBox 23"/>
          <p:cNvSpPr txBox="1"/>
          <p:nvPr/>
        </p:nvSpPr>
        <p:spPr>
          <a:xfrm>
            <a:off x="9200360" y="1762412"/>
            <a:ext cx="5276552" cy="621029"/>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Methods that make AI decisions transparent and interpretable.</a:t>
            </a:r>
          </a:p>
        </p:txBody>
      </p:sp>
      <p:sp>
        <p:nvSpPr>
          <p:cNvPr id="24" name="TextBox 24"/>
          <p:cNvSpPr txBox="1"/>
          <p:nvPr/>
        </p:nvSpPr>
        <p:spPr>
          <a:xfrm>
            <a:off x="9200360" y="2619363"/>
            <a:ext cx="5276552" cy="1564004"/>
          </a:xfrm>
          <a:prstGeom prst="rect">
            <a:avLst/>
          </a:prstGeom>
        </p:spPr>
        <p:txBody>
          <a:bodyPr lIns="0" tIns="0" rIns="0" bIns="0" rtlCol="0" anchor="t">
            <a:spAutoFit/>
          </a:bodyPr>
          <a:lstStyle/>
          <a:p>
            <a:pPr algn="just">
              <a:lnSpc>
                <a:spcPts val="2520"/>
              </a:lnSpc>
            </a:pPr>
            <a:r>
              <a:rPr lang="en-US" sz="1800" b="1">
                <a:solidFill>
                  <a:srgbClr val="737373"/>
                </a:solidFill>
                <a:latin typeface="Inter Bold"/>
                <a:ea typeface="Inter Bold"/>
                <a:cs typeface="Inter Bold"/>
                <a:sym typeface="Inter Bold"/>
              </a:rPr>
              <a:t>Core principles</a:t>
            </a:r>
          </a:p>
          <a:p>
            <a:pPr marL="388628" lvl="1" indent="-194314" algn="just">
              <a:lnSpc>
                <a:spcPts val="2520"/>
              </a:lnSpc>
              <a:buFont typeface="Arial"/>
              <a:buChar char="•"/>
            </a:pPr>
            <a:r>
              <a:rPr lang="en-US" sz="1800">
                <a:solidFill>
                  <a:srgbClr val="737373"/>
                </a:solidFill>
                <a:latin typeface="Inter"/>
                <a:ea typeface="Inter"/>
                <a:cs typeface="Inter"/>
                <a:sym typeface="Inter"/>
              </a:rPr>
              <a:t>Transparency</a:t>
            </a:r>
          </a:p>
          <a:p>
            <a:pPr marL="388628" lvl="1" indent="-194314" algn="just">
              <a:lnSpc>
                <a:spcPts val="2520"/>
              </a:lnSpc>
              <a:buFont typeface="Arial"/>
              <a:buChar char="•"/>
            </a:pPr>
            <a:r>
              <a:rPr lang="en-US" sz="1800">
                <a:solidFill>
                  <a:srgbClr val="737373"/>
                </a:solidFill>
                <a:latin typeface="Inter"/>
                <a:ea typeface="Inter"/>
                <a:cs typeface="Inter"/>
                <a:sym typeface="Inter"/>
              </a:rPr>
              <a:t>Interpretability </a:t>
            </a:r>
          </a:p>
          <a:p>
            <a:pPr marL="388628" lvl="1" indent="-194314" algn="just">
              <a:lnSpc>
                <a:spcPts val="2520"/>
              </a:lnSpc>
              <a:buFont typeface="Arial"/>
              <a:buChar char="•"/>
            </a:pPr>
            <a:r>
              <a:rPr lang="en-US" sz="1800">
                <a:solidFill>
                  <a:srgbClr val="737373"/>
                </a:solidFill>
                <a:latin typeface="Inter"/>
                <a:ea typeface="Inter"/>
                <a:cs typeface="Inter"/>
                <a:sym typeface="Inter"/>
              </a:rPr>
              <a:t>Fidelity</a:t>
            </a:r>
          </a:p>
          <a:p>
            <a:pPr marL="388628" lvl="1" indent="-194314" algn="just">
              <a:lnSpc>
                <a:spcPts val="2520"/>
              </a:lnSpc>
              <a:buFont typeface="Arial"/>
              <a:buChar char="•"/>
            </a:pPr>
            <a:r>
              <a:rPr lang="en-US" sz="1800">
                <a:solidFill>
                  <a:srgbClr val="737373"/>
                </a:solidFill>
                <a:latin typeface="Inter"/>
                <a:ea typeface="Inter"/>
                <a:cs typeface="Inter"/>
                <a:sym typeface="Inter"/>
              </a:rPr>
              <a:t>Actionability</a:t>
            </a:r>
          </a:p>
        </p:txBody>
      </p:sp>
      <p:sp>
        <p:nvSpPr>
          <p:cNvPr id="25" name="TextBox 25"/>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5</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grpSp>
        <p:nvGrpSpPr>
          <p:cNvPr id="3" name="Group 3"/>
          <p:cNvGrpSpPr/>
          <p:nvPr/>
        </p:nvGrpSpPr>
        <p:grpSpPr>
          <a:xfrm>
            <a:off x="781571" y="4276322"/>
            <a:ext cx="3057712" cy="545968"/>
            <a:chOff x="0" y="0"/>
            <a:chExt cx="805323" cy="143794"/>
          </a:xfrm>
        </p:grpSpPr>
        <p:sp>
          <p:nvSpPr>
            <p:cNvPr id="4" name="Freeform 4"/>
            <p:cNvSpPr/>
            <p:nvPr/>
          </p:nvSpPr>
          <p:spPr>
            <a:xfrm>
              <a:off x="0" y="0"/>
              <a:ext cx="805323" cy="143794"/>
            </a:xfrm>
            <a:custGeom>
              <a:avLst/>
              <a:gdLst/>
              <a:ahLst/>
              <a:cxnLst/>
              <a:rect l="l" t="t" r="r" b="b"/>
              <a:pathLst>
                <a:path w="805323" h="143794">
                  <a:moveTo>
                    <a:pt x="71897" y="0"/>
                  </a:moveTo>
                  <a:lnTo>
                    <a:pt x="733426" y="0"/>
                  </a:lnTo>
                  <a:cubicBezTo>
                    <a:pt x="752495" y="0"/>
                    <a:pt x="770782" y="7575"/>
                    <a:pt x="784265" y="21058"/>
                  </a:cubicBezTo>
                  <a:cubicBezTo>
                    <a:pt x="797748" y="34541"/>
                    <a:pt x="805323" y="52829"/>
                    <a:pt x="805323" y="71897"/>
                  </a:cubicBezTo>
                  <a:lnTo>
                    <a:pt x="805323" y="71897"/>
                  </a:lnTo>
                  <a:cubicBezTo>
                    <a:pt x="805323" y="111605"/>
                    <a:pt x="773134" y="143794"/>
                    <a:pt x="733426"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5" name="TextBox 5"/>
            <p:cNvSpPr txBox="1"/>
            <p:nvPr/>
          </p:nvSpPr>
          <p:spPr>
            <a:xfrm>
              <a:off x="0" y="19050"/>
              <a:ext cx="805323" cy="124744"/>
            </a:xfrm>
            <a:prstGeom prst="rect">
              <a:avLst/>
            </a:prstGeom>
          </p:spPr>
          <p:txBody>
            <a:bodyPr lIns="50800" tIns="50800" rIns="50800" bIns="50800" rtlCol="0" anchor="ctr"/>
            <a:lstStyle/>
            <a:p>
              <a:pPr algn="ctr">
                <a:lnSpc>
                  <a:spcPts val="2530"/>
                </a:lnSpc>
              </a:pPr>
              <a:endParaRPr/>
            </a:p>
          </p:txBody>
        </p:sp>
      </p:grpSp>
      <p:grpSp>
        <p:nvGrpSpPr>
          <p:cNvPr id="6" name="Group 6"/>
          <p:cNvGrpSpPr/>
          <p:nvPr/>
        </p:nvGrpSpPr>
        <p:grpSpPr>
          <a:xfrm>
            <a:off x="6887495" y="4269007"/>
            <a:ext cx="3761243" cy="545968"/>
            <a:chOff x="0" y="0"/>
            <a:chExt cx="990616" cy="143794"/>
          </a:xfrm>
        </p:grpSpPr>
        <p:sp>
          <p:nvSpPr>
            <p:cNvPr id="7" name="Freeform 7"/>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8" name="TextBox 8"/>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grpSp>
        <p:nvGrpSpPr>
          <p:cNvPr id="9" name="Group 9"/>
          <p:cNvGrpSpPr/>
          <p:nvPr/>
        </p:nvGrpSpPr>
        <p:grpSpPr>
          <a:xfrm>
            <a:off x="12993418" y="4276322"/>
            <a:ext cx="3057712" cy="545968"/>
            <a:chOff x="0" y="0"/>
            <a:chExt cx="805323" cy="143794"/>
          </a:xfrm>
        </p:grpSpPr>
        <p:sp>
          <p:nvSpPr>
            <p:cNvPr id="10" name="Freeform 10"/>
            <p:cNvSpPr/>
            <p:nvPr/>
          </p:nvSpPr>
          <p:spPr>
            <a:xfrm>
              <a:off x="0" y="0"/>
              <a:ext cx="805323" cy="143794"/>
            </a:xfrm>
            <a:custGeom>
              <a:avLst/>
              <a:gdLst/>
              <a:ahLst/>
              <a:cxnLst/>
              <a:rect l="l" t="t" r="r" b="b"/>
              <a:pathLst>
                <a:path w="805323" h="143794">
                  <a:moveTo>
                    <a:pt x="71897" y="0"/>
                  </a:moveTo>
                  <a:lnTo>
                    <a:pt x="733426" y="0"/>
                  </a:lnTo>
                  <a:cubicBezTo>
                    <a:pt x="752495" y="0"/>
                    <a:pt x="770782" y="7575"/>
                    <a:pt x="784265" y="21058"/>
                  </a:cubicBezTo>
                  <a:cubicBezTo>
                    <a:pt x="797748" y="34541"/>
                    <a:pt x="805323" y="52829"/>
                    <a:pt x="805323" y="71897"/>
                  </a:cubicBezTo>
                  <a:lnTo>
                    <a:pt x="805323" y="71897"/>
                  </a:lnTo>
                  <a:cubicBezTo>
                    <a:pt x="805323" y="111605"/>
                    <a:pt x="773134" y="143794"/>
                    <a:pt x="733426"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1" name="TextBox 11"/>
            <p:cNvSpPr txBox="1"/>
            <p:nvPr/>
          </p:nvSpPr>
          <p:spPr>
            <a:xfrm>
              <a:off x="0" y="19050"/>
              <a:ext cx="805323" cy="124744"/>
            </a:xfrm>
            <a:prstGeom prst="rect">
              <a:avLst/>
            </a:prstGeom>
          </p:spPr>
          <p:txBody>
            <a:bodyPr lIns="50800" tIns="50800" rIns="50800" bIns="50800" rtlCol="0" anchor="ctr"/>
            <a:lstStyle/>
            <a:p>
              <a:pPr algn="ctr">
                <a:lnSpc>
                  <a:spcPts val="2530"/>
                </a:lnSpc>
              </a:pPr>
              <a:endParaRPr/>
            </a:p>
          </p:txBody>
        </p:sp>
      </p:grpSp>
      <p:sp>
        <p:nvSpPr>
          <p:cNvPr id="12" name="TextBox 12"/>
          <p:cNvSpPr txBox="1"/>
          <p:nvPr/>
        </p:nvSpPr>
        <p:spPr>
          <a:xfrm>
            <a:off x="1028700" y="1095375"/>
            <a:ext cx="6391493" cy="1825625"/>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Technical Approaches to XAI</a:t>
            </a:r>
          </a:p>
        </p:txBody>
      </p:sp>
      <p:sp>
        <p:nvSpPr>
          <p:cNvPr id="13" name="TextBox 13"/>
          <p:cNvSpPr txBox="1"/>
          <p:nvPr/>
        </p:nvSpPr>
        <p:spPr>
          <a:xfrm>
            <a:off x="781571" y="5403314"/>
            <a:ext cx="4389164" cy="1249679"/>
          </a:xfrm>
          <a:prstGeom prst="rect">
            <a:avLst/>
          </a:prstGeom>
        </p:spPr>
        <p:txBody>
          <a:bodyPr lIns="0" tIns="0" rIns="0" bIns="0" rtlCol="0" anchor="t">
            <a:spAutoFit/>
          </a:bodyPr>
          <a:lstStyle/>
          <a:p>
            <a:pPr algn="l">
              <a:lnSpc>
                <a:spcPts val="2520"/>
              </a:lnSpc>
            </a:pPr>
            <a:r>
              <a:rPr lang="en-US" sz="1800" b="1">
                <a:solidFill>
                  <a:srgbClr val="737373"/>
                </a:solidFill>
                <a:latin typeface="Inter Bold"/>
                <a:ea typeface="Inter Bold"/>
                <a:cs typeface="Inter Bold"/>
                <a:sym typeface="Inter Bold"/>
              </a:rPr>
              <a:t>Where explanations come from</a:t>
            </a:r>
          </a:p>
          <a:p>
            <a:pPr marL="388628" lvl="1" indent="-194314" algn="l">
              <a:lnSpc>
                <a:spcPts val="2520"/>
              </a:lnSpc>
              <a:buFont typeface="Arial"/>
              <a:buChar char="•"/>
            </a:pPr>
            <a:r>
              <a:rPr lang="en-US" sz="1800">
                <a:solidFill>
                  <a:srgbClr val="737373"/>
                </a:solidFill>
                <a:latin typeface="Inter"/>
                <a:ea typeface="Inter"/>
                <a:cs typeface="Inter"/>
                <a:sym typeface="Inter"/>
              </a:rPr>
              <a:t>Objective: data &amp; model behavior</a:t>
            </a:r>
          </a:p>
          <a:p>
            <a:pPr marL="388628" lvl="1" indent="-194314" algn="l">
              <a:lnSpc>
                <a:spcPts val="2520"/>
              </a:lnSpc>
              <a:buFont typeface="Arial"/>
              <a:buChar char="•"/>
            </a:pPr>
            <a:r>
              <a:rPr lang="en-US" sz="1800">
                <a:solidFill>
                  <a:srgbClr val="737373"/>
                </a:solidFill>
                <a:latin typeface="Inter"/>
                <a:ea typeface="Inter"/>
                <a:cs typeface="Inter"/>
                <a:sym typeface="Inter"/>
              </a:rPr>
              <a:t>Subjective: human expertise &amp; context</a:t>
            </a:r>
          </a:p>
        </p:txBody>
      </p:sp>
      <p:sp>
        <p:nvSpPr>
          <p:cNvPr id="14" name="TextBox 14"/>
          <p:cNvSpPr txBox="1"/>
          <p:nvPr/>
        </p:nvSpPr>
        <p:spPr>
          <a:xfrm>
            <a:off x="6887495" y="5403314"/>
            <a:ext cx="4467867" cy="1878329"/>
          </a:xfrm>
          <a:prstGeom prst="rect">
            <a:avLst/>
          </a:prstGeom>
        </p:spPr>
        <p:txBody>
          <a:bodyPr lIns="0" tIns="0" rIns="0" bIns="0" rtlCol="0" anchor="t">
            <a:spAutoFit/>
          </a:bodyPr>
          <a:lstStyle/>
          <a:p>
            <a:pPr algn="l">
              <a:lnSpc>
                <a:spcPts val="2520"/>
              </a:lnSpc>
            </a:pPr>
            <a:r>
              <a:rPr lang="en-US" sz="1800" b="1">
                <a:solidFill>
                  <a:srgbClr val="737373"/>
                </a:solidFill>
                <a:latin typeface="Inter Bold"/>
                <a:ea typeface="Inter Bold"/>
                <a:cs typeface="Inter Bold"/>
                <a:sym typeface="Inter Bold"/>
              </a:rPr>
              <a:t>How explanations are shown</a:t>
            </a:r>
          </a:p>
          <a:p>
            <a:pPr marL="388628" lvl="1" indent="-194314" algn="l">
              <a:lnSpc>
                <a:spcPts val="2520"/>
              </a:lnSpc>
              <a:buFont typeface="Arial"/>
              <a:buChar char="•"/>
            </a:pPr>
            <a:r>
              <a:rPr lang="en-US" sz="1800">
                <a:solidFill>
                  <a:srgbClr val="737373"/>
                </a:solidFill>
                <a:latin typeface="Inter"/>
                <a:ea typeface="Inter"/>
                <a:cs typeface="Inter"/>
                <a:sym typeface="Inter"/>
              </a:rPr>
              <a:t>Visual: heatmaps, attention maps</a:t>
            </a:r>
          </a:p>
          <a:p>
            <a:pPr marL="388628" lvl="1" indent="-194314" algn="l">
              <a:lnSpc>
                <a:spcPts val="2520"/>
              </a:lnSpc>
              <a:buFont typeface="Arial"/>
              <a:buChar char="•"/>
            </a:pPr>
            <a:r>
              <a:rPr lang="en-US" sz="1800">
                <a:solidFill>
                  <a:srgbClr val="737373"/>
                </a:solidFill>
                <a:latin typeface="Inter"/>
                <a:ea typeface="Inter"/>
                <a:cs typeface="Inter"/>
                <a:sym typeface="Inter"/>
              </a:rPr>
              <a:t>Symbolic: numbers, rules, text</a:t>
            </a:r>
          </a:p>
          <a:p>
            <a:pPr marL="388628" lvl="1" indent="-194314" algn="l">
              <a:lnSpc>
                <a:spcPts val="2520"/>
              </a:lnSpc>
              <a:buFont typeface="Arial"/>
              <a:buChar char="•"/>
            </a:pPr>
            <a:r>
              <a:rPr lang="en-US" sz="1800">
                <a:solidFill>
                  <a:srgbClr val="737373"/>
                </a:solidFill>
                <a:latin typeface="Inter"/>
                <a:ea typeface="Inter"/>
                <a:cs typeface="Inter"/>
                <a:sym typeface="Inter"/>
              </a:rPr>
              <a:t>Hybrid: visuals + text (best for storytelling)</a:t>
            </a:r>
          </a:p>
          <a:p>
            <a:pPr algn="l">
              <a:lnSpc>
                <a:spcPts val="2520"/>
              </a:lnSpc>
            </a:pPr>
            <a:endParaRPr lang="en-US" sz="1800">
              <a:solidFill>
                <a:srgbClr val="737373"/>
              </a:solidFill>
              <a:latin typeface="Inter"/>
              <a:ea typeface="Inter"/>
              <a:cs typeface="Inter"/>
              <a:sym typeface="Inter"/>
            </a:endParaRPr>
          </a:p>
        </p:txBody>
      </p:sp>
      <p:sp>
        <p:nvSpPr>
          <p:cNvPr id="15" name="TextBox 15"/>
          <p:cNvSpPr txBox="1"/>
          <p:nvPr/>
        </p:nvSpPr>
        <p:spPr>
          <a:xfrm>
            <a:off x="13446756" y="4396588"/>
            <a:ext cx="2151036" cy="324485"/>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Logic-oriented</a:t>
            </a:r>
          </a:p>
        </p:txBody>
      </p:sp>
      <p:sp>
        <p:nvSpPr>
          <p:cNvPr id="16" name="TextBox 16"/>
          <p:cNvSpPr txBox="1"/>
          <p:nvPr/>
        </p:nvSpPr>
        <p:spPr>
          <a:xfrm>
            <a:off x="7072968" y="4389273"/>
            <a:ext cx="3452332" cy="324485"/>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Representation-oriented</a:t>
            </a:r>
          </a:p>
        </p:txBody>
      </p:sp>
      <p:sp>
        <p:nvSpPr>
          <p:cNvPr id="17" name="TextBox 17"/>
          <p:cNvSpPr txBox="1"/>
          <p:nvPr/>
        </p:nvSpPr>
        <p:spPr>
          <a:xfrm>
            <a:off x="1155297" y="4389273"/>
            <a:ext cx="2310260" cy="324485"/>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Source-oriented</a:t>
            </a:r>
          </a:p>
        </p:txBody>
      </p:sp>
      <p:sp>
        <p:nvSpPr>
          <p:cNvPr id="18" name="Freeform 18"/>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9" name="Freeform 19"/>
          <p:cNvSpPr/>
          <p:nvPr/>
        </p:nvSpPr>
        <p:spPr>
          <a:xfrm>
            <a:off x="1028700" y="567862"/>
            <a:ext cx="1045375" cy="296506"/>
          </a:xfrm>
          <a:custGeom>
            <a:avLst/>
            <a:gdLst/>
            <a:ahLst/>
            <a:cxnLst/>
            <a:rect l="l" t="t" r="r" b="b"/>
            <a:pathLst>
              <a:path w="1045375" h="296506">
                <a:moveTo>
                  <a:pt x="0" y="0"/>
                </a:moveTo>
                <a:lnTo>
                  <a:pt x="1045375" y="0"/>
                </a:lnTo>
                <a:lnTo>
                  <a:pt x="1045375" y="296507"/>
                </a:lnTo>
                <a:lnTo>
                  <a:pt x="0" y="2965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20" name="TextBox 20"/>
          <p:cNvSpPr txBox="1"/>
          <p:nvPr/>
        </p:nvSpPr>
        <p:spPr>
          <a:xfrm>
            <a:off x="12993418" y="5403314"/>
            <a:ext cx="4517167" cy="2506979"/>
          </a:xfrm>
          <a:prstGeom prst="rect">
            <a:avLst/>
          </a:prstGeom>
        </p:spPr>
        <p:txBody>
          <a:bodyPr lIns="0" tIns="0" rIns="0" bIns="0" rtlCol="0" anchor="t">
            <a:spAutoFit/>
          </a:bodyPr>
          <a:lstStyle/>
          <a:p>
            <a:pPr algn="l">
              <a:lnSpc>
                <a:spcPts val="2520"/>
              </a:lnSpc>
            </a:pPr>
            <a:r>
              <a:rPr lang="en-US" sz="1800" b="1">
                <a:solidFill>
                  <a:srgbClr val="737373"/>
                </a:solidFill>
                <a:latin typeface="Inter Bold"/>
                <a:ea typeface="Inter Bold"/>
                <a:cs typeface="Inter Bold"/>
                <a:sym typeface="Inter Bold"/>
              </a:rPr>
              <a:t>What is explained</a:t>
            </a:r>
          </a:p>
          <a:p>
            <a:pPr marL="388628" lvl="1" indent="-194314" algn="l">
              <a:lnSpc>
                <a:spcPts val="2520"/>
              </a:lnSpc>
              <a:buFont typeface="Arial"/>
              <a:buChar char="•"/>
            </a:pPr>
            <a:r>
              <a:rPr lang="en-US" sz="1800">
                <a:solidFill>
                  <a:srgbClr val="737373"/>
                </a:solidFill>
                <a:latin typeface="Inter"/>
                <a:ea typeface="Inter"/>
                <a:cs typeface="Inter"/>
                <a:sym typeface="Inter"/>
              </a:rPr>
              <a:t>End-to-end: input → output (e.g., SHAP, LIME)</a:t>
            </a:r>
          </a:p>
          <a:p>
            <a:pPr marL="388628" lvl="1" indent="-194314" algn="l">
              <a:lnSpc>
                <a:spcPts val="2520"/>
              </a:lnSpc>
              <a:buFont typeface="Arial"/>
              <a:buChar char="•"/>
            </a:pPr>
            <a:r>
              <a:rPr lang="en-US" sz="1800">
                <a:solidFill>
                  <a:srgbClr val="737373"/>
                </a:solidFill>
                <a:latin typeface="Inter"/>
                <a:ea typeface="Inter"/>
                <a:cs typeface="Inter"/>
                <a:sym typeface="Inter"/>
              </a:rPr>
              <a:t>Intermediate: internal model reasoning</a:t>
            </a:r>
          </a:p>
          <a:p>
            <a:pPr marL="388628" lvl="1" indent="-194314" algn="l">
              <a:lnSpc>
                <a:spcPts val="2520"/>
              </a:lnSpc>
              <a:buFont typeface="Arial"/>
              <a:buChar char="•"/>
            </a:pPr>
            <a:r>
              <a:rPr lang="en-US" sz="1800">
                <a:solidFill>
                  <a:srgbClr val="737373"/>
                </a:solidFill>
                <a:latin typeface="Inter"/>
                <a:ea typeface="Inter"/>
                <a:cs typeface="Inter"/>
                <a:sym typeface="Inter"/>
              </a:rPr>
              <a:t>Correlation-based: feature &amp; temporal relationships</a:t>
            </a:r>
          </a:p>
          <a:p>
            <a:pPr algn="l">
              <a:lnSpc>
                <a:spcPts val="2520"/>
              </a:lnSpc>
            </a:pPr>
            <a:endParaRPr lang="en-US" sz="1800">
              <a:solidFill>
                <a:srgbClr val="737373"/>
              </a:solidFill>
              <a:latin typeface="Inter"/>
              <a:ea typeface="Inter"/>
              <a:cs typeface="Inter"/>
              <a:sym typeface="Inter"/>
            </a:endParaRPr>
          </a:p>
        </p:txBody>
      </p:sp>
      <p:sp>
        <p:nvSpPr>
          <p:cNvPr id="21" name="TextBox 21"/>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6</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AutoShape 3"/>
          <p:cNvSpPr/>
          <p:nvPr/>
        </p:nvSpPr>
        <p:spPr>
          <a:xfrm>
            <a:off x="1028700" y="2477717"/>
            <a:ext cx="2126908" cy="0"/>
          </a:xfrm>
          <a:prstGeom prst="line">
            <a:avLst/>
          </a:prstGeom>
          <a:ln w="38100" cap="flat">
            <a:solidFill>
              <a:srgbClr val="90816A"/>
            </a:solidFill>
            <a:prstDash val="solid"/>
            <a:headEnd type="none" w="sm" len="sm"/>
            <a:tailEnd type="none" w="sm" len="sm"/>
          </a:ln>
        </p:spPr>
        <p:txBody>
          <a:bodyPr/>
          <a:lstStyle/>
          <a:p>
            <a:endParaRPr lang="zh-TW" altLang="en-US"/>
          </a:p>
        </p:txBody>
      </p:sp>
      <p:sp>
        <p:nvSpPr>
          <p:cNvPr id="4" name="Freeform 4"/>
          <p:cNvSpPr/>
          <p:nvPr/>
        </p:nvSpPr>
        <p:spPr>
          <a:xfrm>
            <a:off x="2556979" y="3266907"/>
            <a:ext cx="381257" cy="381257"/>
          </a:xfrm>
          <a:custGeom>
            <a:avLst/>
            <a:gdLst/>
            <a:ahLst/>
            <a:cxnLst/>
            <a:rect l="l" t="t" r="r" b="b"/>
            <a:pathLst>
              <a:path w="381257" h="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 name="Freeform 5"/>
          <p:cNvSpPr/>
          <p:nvPr/>
        </p:nvSpPr>
        <p:spPr>
          <a:xfrm>
            <a:off x="2594927" y="7063322"/>
            <a:ext cx="381257" cy="381257"/>
          </a:xfrm>
          <a:custGeom>
            <a:avLst/>
            <a:gdLst/>
            <a:ahLst/>
            <a:cxnLst/>
            <a:rect l="l" t="t" r="r" b="b"/>
            <a:pathLst>
              <a:path w="381257" h="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6" name="Freeform 6"/>
          <p:cNvSpPr/>
          <p:nvPr/>
        </p:nvSpPr>
        <p:spPr>
          <a:xfrm>
            <a:off x="2594927" y="5004944"/>
            <a:ext cx="381257" cy="381257"/>
          </a:xfrm>
          <a:custGeom>
            <a:avLst/>
            <a:gdLst/>
            <a:ahLst/>
            <a:cxnLst/>
            <a:rect l="l" t="t" r="r" b="b"/>
            <a:pathLst>
              <a:path w="381257" h="381257">
                <a:moveTo>
                  <a:pt x="0" y="0"/>
                </a:moveTo>
                <a:lnTo>
                  <a:pt x="381257" y="0"/>
                </a:lnTo>
                <a:lnTo>
                  <a:pt x="381257" y="381257"/>
                </a:lnTo>
                <a:lnTo>
                  <a:pt x="0" y="3812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7" name="TextBox 7"/>
          <p:cNvSpPr txBox="1"/>
          <p:nvPr/>
        </p:nvSpPr>
        <p:spPr>
          <a:xfrm>
            <a:off x="1028700" y="1095375"/>
            <a:ext cx="5905426"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Limits of XAI</a:t>
            </a:r>
          </a:p>
        </p:txBody>
      </p:sp>
      <p:sp>
        <p:nvSpPr>
          <p:cNvPr id="8" name="TextBox 8"/>
          <p:cNvSpPr txBox="1"/>
          <p:nvPr/>
        </p:nvSpPr>
        <p:spPr>
          <a:xfrm>
            <a:off x="3133700" y="3304802"/>
            <a:ext cx="2833064"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Oversimplification</a:t>
            </a:r>
          </a:p>
        </p:txBody>
      </p:sp>
      <p:sp>
        <p:nvSpPr>
          <p:cNvPr id="9" name="TextBox 9"/>
          <p:cNvSpPr txBox="1"/>
          <p:nvPr/>
        </p:nvSpPr>
        <p:spPr>
          <a:xfrm>
            <a:off x="3171648" y="5042839"/>
            <a:ext cx="3115320"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User Mismatch</a:t>
            </a:r>
          </a:p>
        </p:txBody>
      </p:sp>
      <p:sp>
        <p:nvSpPr>
          <p:cNvPr id="10" name="TextBox 10"/>
          <p:cNvSpPr txBox="1"/>
          <p:nvPr/>
        </p:nvSpPr>
        <p:spPr>
          <a:xfrm>
            <a:off x="3188735" y="7101216"/>
            <a:ext cx="2921608"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False Sense of Trust</a:t>
            </a:r>
          </a:p>
        </p:txBody>
      </p:sp>
      <p:sp>
        <p:nvSpPr>
          <p:cNvPr id="11" name="TextBox 11"/>
          <p:cNvSpPr txBox="1"/>
          <p:nvPr/>
        </p:nvSpPr>
        <p:spPr>
          <a:xfrm>
            <a:off x="2556979" y="3945765"/>
            <a:ext cx="4664465" cy="621029"/>
          </a:xfrm>
          <a:prstGeom prst="rect">
            <a:avLst/>
          </a:prstGeom>
        </p:spPr>
        <p:txBody>
          <a:bodyPr lIns="0" tIns="0" rIns="0" bIns="0" rtlCol="0" anchor="t">
            <a:spAutoFit/>
          </a:bodyPr>
          <a:lstStyle/>
          <a:p>
            <a:pPr marL="388628" lvl="1" indent="-194314" algn="l">
              <a:lnSpc>
                <a:spcPts val="2520"/>
              </a:lnSpc>
              <a:buFont typeface="Arial"/>
              <a:buChar char="•"/>
            </a:pPr>
            <a:r>
              <a:rPr lang="en-US" sz="1800">
                <a:solidFill>
                  <a:srgbClr val="737373"/>
                </a:solidFill>
                <a:latin typeface="Inter"/>
                <a:ea typeface="Inter"/>
                <a:cs typeface="Inter"/>
                <a:sym typeface="Inter"/>
              </a:rPr>
              <a:t>Explanations may hide real complexity</a:t>
            </a:r>
          </a:p>
          <a:p>
            <a:pPr marL="388628" lvl="1" indent="-194314" algn="l">
              <a:lnSpc>
                <a:spcPts val="2520"/>
              </a:lnSpc>
              <a:buFont typeface="Arial"/>
              <a:buChar char="•"/>
            </a:pPr>
            <a:r>
              <a:rPr lang="en-US" sz="1800">
                <a:solidFill>
                  <a:srgbClr val="737373"/>
                </a:solidFill>
                <a:latin typeface="Inter"/>
                <a:ea typeface="Inter"/>
                <a:cs typeface="Inter"/>
                <a:sym typeface="Inter"/>
              </a:rPr>
              <a:t>Risk of misleading “plausible” stories</a:t>
            </a:r>
          </a:p>
        </p:txBody>
      </p:sp>
      <p:sp>
        <p:nvSpPr>
          <p:cNvPr id="12" name="TextBox 12"/>
          <p:cNvSpPr txBox="1"/>
          <p:nvPr/>
        </p:nvSpPr>
        <p:spPr>
          <a:xfrm>
            <a:off x="2594927" y="5693327"/>
            <a:ext cx="4240429" cy="912795"/>
          </a:xfrm>
          <a:prstGeom prst="rect">
            <a:avLst/>
          </a:prstGeom>
        </p:spPr>
        <p:txBody>
          <a:bodyPr lIns="0" tIns="0" rIns="0" bIns="0" rtlCol="0" anchor="t">
            <a:spAutoFit/>
          </a:bodyPr>
          <a:lstStyle/>
          <a:p>
            <a:pPr algn="l">
              <a:lnSpc>
                <a:spcPts val="2483"/>
              </a:lnSpc>
            </a:pPr>
            <a:r>
              <a:rPr lang="en-US" sz="1773">
                <a:solidFill>
                  <a:srgbClr val="737373"/>
                </a:solidFill>
                <a:latin typeface="Inter"/>
                <a:ea typeface="Inter"/>
                <a:cs typeface="Inter"/>
                <a:sym typeface="Inter"/>
              </a:rPr>
              <a:t>Same explanation does not work for:</a:t>
            </a:r>
          </a:p>
          <a:p>
            <a:pPr marL="382983" lvl="1" indent="-191491" algn="l">
              <a:lnSpc>
                <a:spcPts val="2483"/>
              </a:lnSpc>
              <a:buFont typeface="Arial"/>
              <a:buChar char="•"/>
            </a:pPr>
            <a:r>
              <a:rPr lang="en-US" sz="1773">
                <a:solidFill>
                  <a:srgbClr val="737373"/>
                </a:solidFill>
                <a:latin typeface="Inter"/>
                <a:ea typeface="Inter"/>
                <a:cs typeface="Inter"/>
                <a:sym typeface="Inter"/>
              </a:rPr>
              <a:t>Novice users</a:t>
            </a:r>
          </a:p>
          <a:p>
            <a:pPr marL="382983" lvl="1" indent="-191491" algn="l">
              <a:lnSpc>
                <a:spcPts val="2483"/>
              </a:lnSpc>
              <a:buFont typeface="Arial"/>
              <a:buChar char="•"/>
            </a:pPr>
            <a:r>
              <a:rPr lang="en-US" sz="1773">
                <a:solidFill>
                  <a:srgbClr val="737373"/>
                </a:solidFill>
                <a:latin typeface="Inter"/>
                <a:ea typeface="Inter"/>
                <a:cs typeface="Inter"/>
                <a:sym typeface="Inter"/>
              </a:rPr>
              <a:t>Experts in their respective fields </a:t>
            </a:r>
          </a:p>
        </p:txBody>
      </p:sp>
      <p:sp>
        <p:nvSpPr>
          <p:cNvPr id="13" name="TextBox 13"/>
          <p:cNvSpPr txBox="1"/>
          <p:nvPr/>
        </p:nvSpPr>
        <p:spPr>
          <a:xfrm>
            <a:off x="2594927" y="7742180"/>
            <a:ext cx="4302937" cy="621029"/>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An explanation can be wrong but convincing</a:t>
            </a:r>
          </a:p>
        </p:txBody>
      </p:sp>
      <p:sp>
        <p:nvSpPr>
          <p:cNvPr id="14" name="Freeform 14"/>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15" name="Freeform 15"/>
          <p:cNvSpPr/>
          <p:nvPr/>
        </p:nvSpPr>
        <p:spPr>
          <a:xfrm>
            <a:off x="1066647" y="543478"/>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sp>
        <p:nvSpPr>
          <p:cNvPr id="16" name="AutoShape 16"/>
          <p:cNvSpPr/>
          <p:nvPr/>
        </p:nvSpPr>
        <p:spPr>
          <a:xfrm>
            <a:off x="8160950" y="5740952"/>
            <a:ext cx="1469651" cy="0"/>
          </a:xfrm>
          <a:prstGeom prst="line">
            <a:avLst/>
          </a:prstGeom>
          <a:ln w="38100" cap="flat">
            <a:solidFill>
              <a:srgbClr val="90816A"/>
            </a:solidFill>
            <a:prstDash val="solid"/>
            <a:headEnd type="none" w="sm" len="sm"/>
            <a:tailEnd type="triangle" w="lg" len="med"/>
          </a:ln>
        </p:spPr>
        <p:txBody>
          <a:bodyPr/>
          <a:lstStyle/>
          <a:p>
            <a:endParaRPr lang="zh-TW" altLang="en-US"/>
          </a:p>
        </p:txBody>
      </p:sp>
      <p:sp>
        <p:nvSpPr>
          <p:cNvPr id="17" name="TextBox 17"/>
          <p:cNvSpPr txBox="1"/>
          <p:nvPr/>
        </p:nvSpPr>
        <p:spPr>
          <a:xfrm>
            <a:off x="11871897" y="4514389"/>
            <a:ext cx="2833064" cy="324485"/>
          </a:xfrm>
          <a:prstGeom prst="rect">
            <a:avLst/>
          </a:prstGeom>
        </p:spPr>
        <p:txBody>
          <a:bodyPr lIns="0" tIns="0" rIns="0" bIns="0" rtlCol="0" anchor="t">
            <a:spAutoFit/>
          </a:bodyPr>
          <a:lstStyle/>
          <a:p>
            <a:pPr algn="l">
              <a:lnSpc>
                <a:spcPts val="2530"/>
              </a:lnSpc>
            </a:pPr>
            <a:r>
              <a:rPr lang="en-US" sz="2300">
                <a:solidFill>
                  <a:srgbClr val="000000"/>
                </a:solidFill>
                <a:latin typeface="Inter"/>
                <a:ea typeface="Inter"/>
                <a:cs typeface="Inter"/>
                <a:sym typeface="Inter"/>
              </a:rPr>
              <a:t>Storytelling Matters</a:t>
            </a:r>
          </a:p>
        </p:txBody>
      </p:sp>
      <p:sp>
        <p:nvSpPr>
          <p:cNvPr id="18" name="TextBox 18"/>
          <p:cNvSpPr txBox="1"/>
          <p:nvPr/>
        </p:nvSpPr>
        <p:spPr>
          <a:xfrm>
            <a:off x="10956196" y="5182031"/>
            <a:ext cx="4664465" cy="1564004"/>
          </a:xfrm>
          <a:prstGeom prst="rect">
            <a:avLst/>
          </a:prstGeom>
        </p:spPr>
        <p:txBody>
          <a:bodyPr lIns="0" tIns="0" rIns="0" bIns="0" rtlCol="0" anchor="t">
            <a:spAutoFit/>
          </a:bodyPr>
          <a:lstStyle/>
          <a:p>
            <a:pPr algn="l">
              <a:lnSpc>
                <a:spcPts val="2520"/>
              </a:lnSpc>
            </a:pPr>
            <a:r>
              <a:rPr lang="en-US" sz="1800" b="1">
                <a:solidFill>
                  <a:srgbClr val="737373"/>
                </a:solidFill>
                <a:latin typeface="Inter Bold"/>
                <a:ea typeface="Inter Bold"/>
                <a:cs typeface="Inter Bold"/>
                <a:sym typeface="Inter Bold"/>
              </a:rPr>
              <a:t>Data storytelling starts where XAI ends</a:t>
            </a:r>
          </a:p>
          <a:p>
            <a:pPr marL="388628" lvl="1" indent="-194314" algn="l">
              <a:lnSpc>
                <a:spcPts val="2520"/>
              </a:lnSpc>
              <a:buFont typeface="Arial"/>
              <a:buChar char="•"/>
            </a:pPr>
            <a:r>
              <a:rPr lang="en-US" sz="1800">
                <a:solidFill>
                  <a:srgbClr val="737373"/>
                </a:solidFill>
                <a:latin typeface="Inter"/>
                <a:ea typeface="Inter"/>
                <a:cs typeface="Inter"/>
                <a:sym typeface="Inter"/>
              </a:rPr>
              <a:t>Tailoring explanations to audience</a:t>
            </a:r>
          </a:p>
          <a:p>
            <a:pPr marL="388628" lvl="1" indent="-194314" algn="l">
              <a:lnSpc>
                <a:spcPts val="2520"/>
              </a:lnSpc>
              <a:buFont typeface="Arial"/>
              <a:buChar char="•"/>
            </a:pPr>
            <a:r>
              <a:rPr lang="en-US" sz="1800">
                <a:solidFill>
                  <a:srgbClr val="737373"/>
                </a:solidFill>
                <a:latin typeface="Inter"/>
                <a:ea typeface="Inter"/>
                <a:cs typeface="Inter"/>
                <a:sym typeface="Inter"/>
              </a:rPr>
              <a:t>Acknowledging uncertainty and trade-offs</a:t>
            </a:r>
          </a:p>
          <a:p>
            <a:pPr marL="388628" lvl="1" indent="-194314" algn="l">
              <a:lnSpc>
                <a:spcPts val="2520"/>
              </a:lnSpc>
              <a:buFont typeface="Arial"/>
              <a:buChar char="•"/>
            </a:pPr>
            <a:r>
              <a:rPr lang="en-US" sz="1800">
                <a:solidFill>
                  <a:srgbClr val="737373"/>
                </a:solidFill>
                <a:latin typeface="Inter"/>
                <a:ea typeface="Inter"/>
                <a:cs typeface="Inter"/>
                <a:sym typeface="Inter"/>
              </a:rPr>
              <a:t>Turning explanations into decisions</a:t>
            </a:r>
          </a:p>
        </p:txBody>
      </p:sp>
      <p:sp>
        <p:nvSpPr>
          <p:cNvPr id="19" name="TextBox 19"/>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7</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grpSp>
        <p:nvGrpSpPr>
          <p:cNvPr id="3" name="Group 3"/>
          <p:cNvGrpSpPr/>
          <p:nvPr/>
        </p:nvGrpSpPr>
        <p:grpSpPr>
          <a:xfrm>
            <a:off x="1386130" y="3577131"/>
            <a:ext cx="3761243" cy="545968"/>
            <a:chOff x="0" y="0"/>
            <a:chExt cx="990616" cy="143794"/>
          </a:xfrm>
        </p:grpSpPr>
        <p:sp>
          <p:nvSpPr>
            <p:cNvPr id="4" name="Freeform 4"/>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5" name="TextBox 5"/>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grpSp>
        <p:nvGrpSpPr>
          <p:cNvPr id="6" name="Group 6"/>
          <p:cNvGrpSpPr/>
          <p:nvPr/>
        </p:nvGrpSpPr>
        <p:grpSpPr>
          <a:xfrm>
            <a:off x="10621897" y="3678347"/>
            <a:ext cx="3057712" cy="545968"/>
            <a:chOff x="0" y="0"/>
            <a:chExt cx="805323" cy="143794"/>
          </a:xfrm>
        </p:grpSpPr>
        <p:sp>
          <p:nvSpPr>
            <p:cNvPr id="7" name="Freeform 7"/>
            <p:cNvSpPr/>
            <p:nvPr/>
          </p:nvSpPr>
          <p:spPr>
            <a:xfrm>
              <a:off x="0" y="0"/>
              <a:ext cx="805323" cy="143794"/>
            </a:xfrm>
            <a:custGeom>
              <a:avLst/>
              <a:gdLst/>
              <a:ahLst/>
              <a:cxnLst/>
              <a:rect l="l" t="t" r="r" b="b"/>
              <a:pathLst>
                <a:path w="805323" h="143794">
                  <a:moveTo>
                    <a:pt x="71897" y="0"/>
                  </a:moveTo>
                  <a:lnTo>
                    <a:pt x="733426" y="0"/>
                  </a:lnTo>
                  <a:cubicBezTo>
                    <a:pt x="752495" y="0"/>
                    <a:pt x="770782" y="7575"/>
                    <a:pt x="784265" y="21058"/>
                  </a:cubicBezTo>
                  <a:cubicBezTo>
                    <a:pt x="797748" y="34541"/>
                    <a:pt x="805323" y="52829"/>
                    <a:pt x="805323" y="71897"/>
                  </a:cubicBezTo>
                  <a:lnTo>
                    <a:pt x="805323" y="71897"/>
                  </a:lnTo>
                  <a:cubicBezTo>
                    <a:pt x="805323" y="111605"/>
                    <a:pt x="773134" y="143794"/>
                    <a:pt x="733426"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8" name="TextBox 8"/>
            <p:cNvSpPr txBox="1"/>
            <p:nvPr/>
          </p:nvSpPr>
          <p:spPr>
            <a:xfrm>
              <a:off x="0" y="19050"/>
              <a:ext cx="805323" cy="124744"/>
            </a:xfrm>
            <a:prstGeom prst="rect">
              <a:avLst/>
            </a:prstGeom>
          </p:spPr>
          <p:txBody>
            <a:bodyPr lIns="50800" tIns="50800" rIns="50800" bIns="50800" rtlCol="0" anchor="ctr"/>
            <a:lstStyle/>
            <a:p>
              <a:pPr algn="ctr">
                <a:lnSpc>
                  <a:spcPts val="2530"/>
                </a:lnSpc>
              </a:pPr>
              <a:endParaRPr/>
            </a:p>
          </p:txBody>
        </p:sp>
      </p:grpSp>
      <p:sp>
        <p:nvSpPr>
          <p:cNvPr id="9" name="TextBox 9"/>
          <p:cNvSpPr txBox="1"/>
          <p:nvPr/>
        </p:nvSpPr>
        <p:spPr>
          <a:xfrm>
            <a:off x="781571" y="1095375"/>
            <a:ext cx="8731603" cy="1825625"/>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Current Approaches to XAI for prediction models</a:t>
            </a:r>
          </a:p>
        </p:txBody>
      </p:sp>
      <p:sp>
        <p:nvSpPr>
          <p:cNvPr id="10" name="TextBox 10"/>
          <p:cNvSpPr txBox="1"/>
          <p:nvPr/>
        </p:nvSpPr>
        <p:spPr>
          <a:xfrm>
            <a:off x="1469119" y="4539672"/>
            <a:ext cx="4467867" cy="2821304"/>
          </a:xfrm>
          <a:prstGeom prst="rect">
            <a:avLst/>
          </a:prstGeom>
        </p:spPr>
        <p:txBody>
          <a:bodyPr lIns="0" tIns="0" rIns="0" bIns="0" rtlCol="0" anchor="t">
            <a:spAutoFit/>
          </a:bodyPr>
          <a:lstStyle/>
          <a:p>
            <a:pPr algn="l">
              <a:lnSpc>
                <a:spcPts val="2520"/>
              </a:lnSpc>
            </a:pPr>
            <a:r>
              <a:rPr lang="en-US" sz="1800" b="1">
                <a:solidFill>
                  <a:srgbClr val="737373"/>
                </a:solidFill>
                <a:latin typeface="Inter Bold"/>
                <a:ea typeface="Inter Bold"/>
                <a:cs typeface="Inter Bold"/>
                <a:sym typeface="Inter Bold"/>
              </a:rPr>
              <a:t>prediction for a single instance</a:t>
            </a:r>
          </a:p>
          <a:p>
            <a:pPr marL="388628" lvl="1" indent="-194314" algn="l">
              <a:lnSpc>
                <a:spcPts val="2520"/>
              </a:lnSpc>
              <a:buFont typeface="Arial"/>
              <a:buChar char="•"/>
            </a:pPr>
            <a:r>
              <a:rPr lang="en-US" sz="1800" b="1">
                <a:solidFill>
                  <a:srgbClr val="737373"/>
                </a:solidFill>
                <a:latin typeface="Inter Bold"/>
                <a:ea typeface="Inter Bold"/>
                <a:cs typeface="Inter Bold"/>
                <a:sym typeface="Inter Bold"/>
              </a:rPr>
              <a:t>feature attribution methods (SHAP)</a:t>
            </a:r>
          </a:p>
          <a:p>
            <a:pPr marL="777256" lvl="2" indent="-259085" algn="l">
              <a:lnSpc>
                <a:spcPts val="2520"/>
              </a:lnSpc>
              <a:buFont typeface="Arial"/>
              <a:buChar char="⚬"/>
            </a:pPr>
            <a:r>
              <a:rPr lang="en-US" sz="1800">
                <a:solidFill>
                  <a:srgbClr val="737373"/>
                </a:solidFill>
                <a:latin typeface="Inter"/>
                <a:ea typeface="Inter"/>
                <a:cs typeface="Inter"/>
                <a:sym typeface="Inter"/>
              </a:rPr>
              <a:t>methods that show which feature values matter most for a prediction, using weights</a:t>
            </a:r>
          </a:p>
          <a:p>
            <a:pPr marL="388628" lvl="1" indent="-194314" algn="l">
              <a:lnSpc>
                <a:spcPts val="2520"/>
              </a:lnSpc>
              <a:buFont typeface="Arial"/>
              <a:buChar char="•"/>
            </a:pPr>
            <a:r>
              <a:rPr lang="en-US" sz="1800" b="1">
                <a:solidFill>
                  <a:srgbClr val="737373"/>
                </a:solidFill>
                <a:latin typeface="Inter Bold"/>
                <a:ea typeface="Inter Bold"/>
                <a:cs typeface="Inter Bold"/>
                <a:sym typeface="Inter Bold"/>
              </a:rPr>
              <a:t>counterfactual (CF) methods</a:t>
            </a:r>
          </a:p>
          <a:p>
            <a:pPr marL="777256" lvl="2" indent="-259085" algn="l">
              <a:lnSpc>
                <a:spcPts val="2520"/>
              </a:lnSpc>
              <a:buFont typeface="Arial"/>
              <a:buChar char="⚬"/>
            </a:pPr>
            <a:r>
              <a:rPr lang="en-US" sz="1800">
                <a:solidFill>
                  <a:srgbClr val="737373"/>
                </a:solidFill>
                <a:latin typeface="Inter"/>
                <a:ea typeface="Inter"/>
                <a:cs typeface="Inter"/>
                <a:sym typeface="Inter"/>
              </a:rPr>
              <a:t>the smallest set of evidence in a data instance whose removal would change the decision</a:t>
            </a:r>
          </a:p>
        </p:txBody>
      </p:sp>
      <p:sp>
        <p:nvSpPr>
          <p:cNvPr id="11" name="TextBox 11"/>
          <p:cNvSpPr txBox="1"/>
          <p:nvPr/>
        </p:nvSpPr>
        <p:spPr>
          <a:xfrm>
            <a:off x="11075235" y="3798614"/>
            <a:ext cx="2151036" cy="324485"/>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problems</a:t>
            </a:r>
          </a:p>
        </p:txBody>
      </p:sp>
      <p:sp>
        <p:nvSpPr>
          <p:cNvPr id="12" name="TextBox 12"/>
          <p:cNvSpPr txBox="1"/>
          <p:nvPr/>
        </p:nvSpPr>
        <p:spPr>
          <a:xfrm>
            <a:off x="1571603" y="3697397"/>
            <a:ext cx="3452332" cy="324485"/>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instance-level XAI</a:t>
            </a:r>
          </a:p>
        </p:txBody>
      </p:sp>
      <p:sp>
        <p:nvSpPr>
          <p:cNvPr id="13" name="Freeform 13"/>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4" name="Freeform 14"/>
          <p:cNvSpPr/>
          <p:nvPr/>
        </p:nvSpPr>
        <p:spPr>
          <a:xfrm>
            <a:off x="781571" y="567862"/>
            <a:ext cx="1045375" cy="296506"/>
          </a:xfrm>
          <a:custGeom>
            <a:avLst/>
            <a:gdLst/>
            <a:ahLst/>
            <a:cxnLst/>
            <a:rect l="l" t="t" r="r" b="b"/>
            <a:pathLst>
              <a:path w="1045375" h="296506">
                <a:moveTo>
                  <a:pt x="0" y="0"/>
                </a:moveTo>
                <a:lnTo>
                  <a:pt x="1045375" y="0"/>
                </a:lnTo>
                <a:lnTo>
                  <a:pt x="1045375" y="296507"/>
                </a:lnTo>
                <a:lnTo>
                  <a:pt x="0" y="2965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15" name="TextBox 15"/>
          <p:cNvSpPr txBox="1"/>
          <p:nvPr/>
        </p:nvSpPr>
        <p:spPr>
          <a:xfrm>
            <a:off x="10716130" y="4633572"/>
            <a:ext cx="4517167" cy="1564004"/>
          </a:xfrm>
          <a:prstGeom prst="rect">
            <a:avLst/>
          </a:prstGeom>
        </p:spPr>
        <p:txBody>
          <a:bodyPr lIns="0" tIns="0" rIns="0" bIns="0" rtlCol="0" anchor="t">
            <a:spAutoFit/>
          </a:bodyPr>
          <a:lstStyle/>
          <a:p>
            <a:pPr algn="l">
              <a:lnSpc>
                <a:spcPts val="2520"/>
              </a:lnSpc>
            </a:pPr>
            <a:r>
              <a:rPr lang="en-US" sz="1800" b="1">
                <a:solidFill>
                  <a:srgbClr val="737373"/>
                </a:solidFill>
                <a:latin typeface="Inter Bold"/>
                <a:ea typeface="Inter Bold"/>
                <a:cs typeface="Inter Bold"/>
                <a:sym typeface="Inter Bold"/>
              </a:rPr>
              <a:t>mismatch exists because:</a:t>
            </a:r>
          </a:p>
          <a:p>
            <a:pPr marL="388628" lvl="1" indent="-194314" algn="l">
              <a:lnSpc>
                <a:spcPts val="2520"/>
              </a:lnSpc>
              <a:buFont typeface="Arial"/>
              <a:buChar char="•"/>
            </a:pPr>
            <a:r>
              <a:rPr lang="en-US" sz="1800">
                <a:solidFill>
                  <a:srgbClr val="737373"/>
                </a:solidFill>
                <a:latin typeface="Inter"/>
                <a:ea typeface="Inter"/>
                <a:cs typeface="Inter"/>
                <a:sym typeface="Inter"/>
              </a:rPr>
              <a:t>built for researchers, not end users</a:t>
            </a:r>
          </a:p>
          <a:p>
            <a:pPr marL="388628" lvl="1" indent="-194314" algn="l">
              <a:lnSpc>
                <a:spcPts val="2520"/>
              </a:lnSpc>
              <a:buFont typeface="Arial"/>
              <a:buChar char="•"/>
            </a:pPr>
            <a:r>
              <a:rPr lang="en-US" sz="1800">
                <a:solidFill>
                  <a:srgbClr val="737373"/>
                </a:solidFill>
                <a:latin typeface="Inter"/>
                <a:ea typeface="Inter"/>
                <a:cs typeface="Inter"/>
                <a:sym typeface="Inter"/>
              </a:rPr>
              <a:t>created manually</a:t>
            </a:r>
          </a:p>
          <a:p>
            <a:pPr marL="388628" lvl="1" indent="-194314" algn="l">
              <a:lnSpc>
                <a:spcPts val="2520"/>
              </a:lnSpc>
              <a:buFont typeface="Arial"/>
              <a:buChar char="•"/>
            </a:pPr>
            <a:r>
              <a:rPr lang="en-US" sz="1800">
                <a:solidFill>
                  <a:srgbClr val="737373"/>
                </a:solidFill>
                <a:latin typeface="Inter"/>
                <a:ea typeface="Inter"/>
                <a:cs typeface="Inter"/>
                <a:sym typeface="Inter"/>
              </a:rPr>
              <a:t>not in natural language narratives</a:t>
            </a:r>
          </a:p>
          <a:p>
            <a:pPr algn="l">
              <a:lnSpc>
                <a:spcPts val="2520"/>
              </a:lnSpc>
            </a:pPr>
            <a:endParaRPr lang="en-US" sz="1800">
              <a:solidFill>
                <a:srgbClr val="737373"/>
              </a:solidFill>
              <a:latin typeface="Inter"/>
              <a:ea typeface="Inter"/>
              <a:cs typeface="Inter"/>
              <a:sym typeface="Inter"/>
            </a:endParaRPr>
          </a:p>
        </p:txBody>
      </p:sp>
      <p:grpSp>
        <p:nvGrpSpPr>
          <p:cNvPr id="16" name="Group 16"/>
          <p:cNvGrpSpPr/>
          <p:nvPr/>
        </p:nvGrpSpPr>
        <p:grpSpPr>
          <a:xfrm>
            <a:off x="10716130" y="6315961"/>
            <a:ext cx="3057712" cy="545968"/>
            <a:chOff x="0" y="0"/>
            <a:chExt cx="805323" cy="143794"/>
          </a:xfrm>
        </p:grpSpPr>
        <p:sp>
          <p:nvSpPr>
            <p:cNvPr id="17" name="Freeform 17"/>
            <p:cNvSpPr/>
            <p:nvPr/>
          </p:nvSpPr>
          <p:spPr>
            <a:xfrm>
              <a:off x="0" y="0"/>
              <a:ext cx="805323" cy="143794"/>
            </a:xfrm>
            <a:custGeom>
              <a:avLst/>
              <a:gdLst/>
              <a:ahLst/>
              <a:cxnLst/>
              <a:rect l="l" t="t" r="r" b="b"/>
              <a:pathLst>
                <a:path w="805323" h="143794">
                  <a:moveTo>
                    <a:pt x="71897" y="0"/>
                  </a:moveTo>
                  <a:lnTo>
                    <a:pt x="733426" y="0"/>
                  </a:lnTo>
                  <a:cubicBezTo>
                    <a:pt x="752495" y="0"/>
                    <a:pt x="770782" y="7575"/>
                    <a:pt x="784265" y="21058"/>
                  </a:cubicBezTo>
                  <a:cubicBezTo>
                    <a:pt x="797748" y="34541"/>
                    <a:pt x="805323" y="52829"/>
                    <a:pt x="805323" y="71897"/>
                  </a:cubicBezTo>
                  <a:lnTo>
                    <a:pt x="805323" y="71897"/>
                  </a:lnTo>
                  <a:cubicBezTo>
                    <a:pt x="805323" y="111605"/>
                    <a:pt x="773134" y="143794"/>
                    <a:pt x="733426"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8" name="TextBox 18"/>
            <p:cNvSpPr txBox="1"/>
            <p:nvPr/>
          </p:nvSpPr>
          <p:spPr>
            <a:xfrm>
              <a:off x="0" y="19050"/>
              <a:ext cx="805323" cy="124744"/>
            </a:xfrm>
            <a:prstGeom prst="rect">
              <a:avLst/>
            </a:prstGeom>
          </p:spPr>
          <p:txBody>
            <a:bodyPr lIns="50800" tIns="50800" rIns="50800" bIns="50800" rtlCol="0" anchor="ctr"/>
            <a:lstStyle/>
            <a:p>
              <a:pPr algn="ctr">
                <a:lnSpc>
                  <a:spcPts val="2530"/>
                </a:lnSpc>
              </a:pPr>
              <a:endParaRPr/>
            </a:p>
          </p:txBody>
        </p:sp>
      </p:grpSp>
      <p:sp>
        <p:nvSpPr>
          <p:cNvPr id="19" name="TextBox 19"/>
          <p:cNvSpPr txBox="1"/>
          <p:nvPr/>
        </p:nvSpPr>
        <p:spPr>
          <a:xfrm>
            <a:off x="11075235" y="6436227"/>
            <a:ext cx="2151036" cy="324485"/>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Goals</a:t>
            </a:r>
          </a:p>
        </p:txBody>
      </p:sp>
      <p:sp>
        <p:nvSpPr>
          <p:cNvPr id="20" name="TextBox 20"/>
          <p:cNvSpPr txBox="1"/>
          <p:nvPr/>
        </p:nvSpPr>
        <p:spPr>
          <a:xfrm>
            <a:off x="10464845" y="7042903"/>
            <a:ext cx="4517167" cy="935354"/>
          </a:xfrm>
          <a:prstGeom prst="rect">
            <a:avLst/>
          </a:prstGeom>
        </p:spPr>
        <p:txBody>
          <a:bodyPr lIns="0" tIns="0" rIns="0" bIns="0" rtlCol="0" anchor="t">
            <a:spAutoFit/>
          </a:bodyPr>
          <a:lstStyle/>
          <a:p>
            <a:pPr marL="388628" lvl="1" indent="-194314" algn="l">
              <a:lnSpc>
                <a:spcPts val="2520"/>
              </a:lnSpc>
              <a:buFont typeface="Arial"/>
              <a:buChar char="•"/>
            </a:pPr>
            <a:r>
              <a:rPr lang="en-US" sz="1800" b="1">
                <a:solidFill>
                  <a:srgbClr val="737373"/>
                </a:solidFill>
                <a:latin typeface="Inter Bold"/>
                <a:ea typeface="Inter Bold"/>
                <a:cs typeface="Inter Bold"/>
                <a:sym typeface="Inter Bold"/>
              </a:rPr>
              <a:t>Bridging the gap between metrics and human understanding.</a:t>
            </a:r>
          </a:p>
          <a:p>
            <a:pPr algn="l">
              <a:lnSpc>
                <a:spcPts val="2520"/>
              </a:lnSpc>
            </a:pPr>
            <a:endParaRPr lang="en-US" sz="1800" b="1">
              <a:solidFill>
                <a:srgbClr val="737373"/>
              </a:solidFill>
              <a:latin typeface="Inter Bold"/>
              <a:ea typeface="Inter Bold"/>
              <a:cs typeface="Inter Bold"/>
              <a:sym typeface="Inter Bold"/>
            </a:endParaRPr>
          </a:p>
        </p:txBody>
      </p:sp>
      <p:sp>
        <p:nvSpPr>
          <p:cNvPr id="21" name="TextBox 21"/>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8</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grpSp>
        <p:nvGrpSpPr>
          <p:cNvPr id="3" name="Group 3"/>
          <p:cNvGrpSpPr/>
          <p:nvPr/>
        </p:nvGrpSpPr>
        <p:grpSpPr>
          <a:xfrm>
            <a:off x="9326407" y="3496865"/>
            <a:ext cx="3761243" cy="545968"/>
            <a:chOff x="0" y="0"/>
            <a:chExt cx="5014991" cy="727957"/>
          </a:xfrm>
        </p:grpSpPr>
        <p:grpSp>
          <p:nvGrpSpPr>
            <p:cNvPr id="4" name="Group 4"/>
            <p:cNvGrpSpPr/>
            <p:nvPr/>
          </p:nvGrpSpPr>
          <p:grpSpPr>
            <a:xfrm>
              <a:off x="0" y="0"/>
              <a:ext cx="5014991" cy="727957"/>
              <a:chOff x="0" y="0"/>
              <a:chExt cx="990616" cy="143794"/>
            </a:xfrm>
          </p:grpSpPr>
          <p:sp>
            <p:nvSpPr>
              <p:cNvPr id="5" name="Freeform 5"/>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6" name="TextBox 6"/>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sp>
          <p:nvSpPr>
            <p:cNvPr id="7" name="TextBox 7"/>
            <p:cNvSpPr txBox="1"/>
            <p:nvPr/>
          </p:nvSpPr>
          <p:spPr>
            <a:xfrm>
              <a:off x="205941" y="163759"/>
              <a:ext cx="4603109"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SHAPstories</a:t>
              </a:r>
            </a:p>
          </p:txBody>
        </p:sp>
      </p:grpSp>
      <p:grpSp>
        <p:nvGrpSpPr>
          <p:cNvPr id="8" name="Group 8"/>
          <p:cNvGrpSpPr/>
          <p:nvPr/>
        </p:nvGrpSpPr>
        <p:grpSpPr>
          <a:xfrm>
            <a:off x="875804" y="3496865"/>
            <a:ext cx="3057712" cy="545968"/>
            <a:chOff x="0" y="0"/>
            <a:chExt cx="4076949" cy="727957"/>
          </a:xfrm>
        </p:grpSpPr>
        <p:grpSp>
          <p:nvGrpSpPr>
            <p:cNvPr id="9" name="Group 9"/>
            <p:cNvGrpSpPr/>
            <p:nvPr/>
          </p:nvGrpSpPr>
          <p:grpSpPr>
            <a:xfrm>
              <a:off x="0" y="0"/>
              <a:ext cx="4076949" cy="727957"/>
              <a:chOff x="0" y="0"/>
              <a:chExt cx="805323" cy="143794"/>
            </a:xfrm>
          </p:grpSpPr>
          <p:sp>
            <p:nvSpPr>
              <p:cNvPr id="10" name="Freeform 10"/>
              <p:cNvSpPr/>
              <p:nvPr/>
            </p:nvSpPr>
            <p:spPr>
              <a:xfrm>
                <a:off x="0" y="0"/>
                <a:ext cx="805323" cy="143794"/>
              </a:xfrm>
              <a:custGeom>
                <a:avLst/>
                <a:gdLst/>
                <a:ahLst/>
                <a:cxnLst/>
                <a:rect l="l" t="t" r="r" b="b"/>
                <a:pathLst>
                  <a:path w="805323" h="143794">
                    <a:moveTo>
                      <a:pt x="71897" y="0"/>
                    </a:moveTo>
                    <a:lnTo>
                      <a:pt x="733426" y="0"/>
                    </a:lnTo>
                    <a:cubicBezTo>
                      <a:pt x="752495" y="0"/>
                      <a:pt x="770782" y="7575"/>
                      <a:pt x="784265" y="21058"/>
                    </a:cubicBezTo>
                    <a:cubicBezTo>
                      <a:pt x="797748" y="34541"/>
                      <a:pt x="805323" y="52829"/>
                      <a:pt x="805323" y="71897"/>
                    </a:cubicBezTo>
                    <a:lnTo>
                      <a:pt x="805323" y="71897"/>
                    </a:lnTo>
                    <a:cubicBezTo>
                      <a:pt x="805323" y="111605"/>
                      <a:pt x="773134" y="143794"/>
                      <a:pt x="733426"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1" name="TextBox 11"/>
              <p:cNvSpPr txBox="1"/>
              <p:nvPr/>
            </p:nvSpPr>
            <p:spPr>
              <a:xfrm>
                <a:off x="0" y="19050"/>
                <a:ext cx="805323" cy="124744"/>
              </a:xfrm>
              <a:prstGeom prst="rect">
                <a:avLst/>
              </a:prstGeom>
            </p:spPr>
            <p:txBody>
              <a:bodyPr lIns="50800" tIns="50800" rIns="50800" bIns="50800" rtlCol="0" anchor="ctr"/>
              <a:lstStyle/>
              <a:p>
                <a:pPr algn="ctr">
                  <a:lnSpc>
                    <a:spcPts val="2530"/>
                  </a:lnSpc>
                </a:pPr>
                <a:endParaRPr/>
              </a:p>
            </p:txBody>
          </p:sp>
        </p:grpSp>
        <p:sp>
          <p:nvSpPr>
            <p:cNvPr id="12" name="TextBox 12"/>
            <p:cNvSpPr txBox="1"/>
            <p:nvPr/>
          </p:nvSpPr>
          <p:spPr>
            <a:xfrm>
              <a:off x="498301" y="144251"/>
              <a:ext cx="3080347"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SHAP values </a:t>
              </a:r>
            </a:p>
          </p:txBody>
        </p:sp>
      </p:grpSp>
      <p:sp>
        <p:nvSpPr>
          <p:cNvPr id="13" name="Freeform 13"/>
          <p:cNvSpPr/>
          <p:nvPr/>
        </p:nvSpPr>
        <p:spPr>
          <a:xfrm rot="-10800000">
            <a:off x="15502246" y="9216842"/>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4" name="Freeform 14"/>
          <p:cNvSpPr/>
          <p:nvPr/>
        </p:nvSpPr>
        <p:spPr>
          <a:xfrm>
            <a:off x="875804" y="526405"/>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grpSp>
        <p:nvGrpSpPr>
          <p:cNvPr id="15" name="Group 15"/>
          <p:cNvGrpSpPr/>
          <p:nvPr/>
        </p:nvGrpSpPr>
        <p:grpSpPr>
          <a:xfrm>
            <a:off x="4658136" y="3496865"/>
            <a:ext cx="3761243" cy="545968"/>
            <a:chOff x="0" y="0"/>
            <a:chExt cx="5014991" cy="727957"/>
          </a:xfrm>
        </p:grpSpPr>
        <p:grpSp>
          <p:nvGrpSpPr>
            <p:cNvPr id="16" name="Group 16"/>
            <p:cNvGrpSpPr/>
            <p:nvPr/>
          </p:nvGrpSpPr>
          <p:grpSpPr>
            <a:xfrm>
              <a:off x="0" y="0"/>
              <a:ext cx="5014991" cy="727957"/>
              <a:chOff x="0" y="0"/>
              <a:chExt cx="990616" cy="143794"/>
            </a:xfrm>
          </p:grpSpPr>
          <p:sp>
            <p:nvSpPr>
              <p:cNvPr id="17" name="Freeform 17"/>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8" name="TextBox 18"/>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sp>
          <p:nvSpPr>
            <p:cNvPr id="19" name="TextBox 19"/>
            <p:cNvSpPr txBox="1"/>
            <p:nvPr/>
          </p:nvSpPr>
          <p:spPr>
            <a:xfrm>
              <a:off x="205941" y="163759"/>
              <a:ext cx="4603109"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LLMs</a:t>
              </a:r>
            </a:p>
          </p:txBody>
        </p:sp>
      </p:grpSp>
      <p:pic>
        <p:nvPicPr>
          <p:cNvPr id="20" name="Picture 20"/>
          <p:cNvPicPr>
            <a:picLocks noChangeAspect="1"/>
          </p:cNvPicPr>
          <p:nvPr/>
        </p:nvPicPr>
        <p:blipFill>
          <a:blip r:embed="rId7"/>
          <a:stretch>
            <a:fillRect/>
          </a:stretch>
        </p:blipFill>
        <p:spPr>
          <a:xfrm>
            <a:off x="4016858" y="3485923"/>
            <a:ext cx="557936" cy="567852"/>
          </a:xfrm>
          <a:prstGeom prst="rect">
            <a:avLst/>
          </a:prstGeom>
        </p:spPr>
      </p:pic>
      <p:grpSp>
        <p:nvGrpSpPr>
          <p:cNvPr id="21" name="Group 21"/>
          <p:cNvGrpSpPr/>
          <p:nvPr/>
        </p:nvGrpSpPr>
        <p:grpSpPr>
          <a:xfrm>
            <a:off x="8552730" y="3533244"/>
            <a:ext cx="696643" cy="498689"/>
            <a:chOff x="0" y="0"/>
            <a:chExt cx="1135440" cy="812800"/>
          </a:xfrm>
        </p:grpSpPr>
        <p:sp>
          <p:nvSpPr>
            <p:cNvPr id="22" name="Freeform 22"/>
            <p:cNvSpPr/>
            <p:nvPr/>
          </p:nvSpPr>
          <p:spPr>
            <a:xfrm>
              <a:off x="0" y="0"/>
              <a:ext cx="1135440" cy="812800"/>
            </a:xfrm>
            <a:custGeom>
              <a:avLst/>
              <a:gdLst/>
              <a:ahLst/>
              <a:cxnLst/>
              <a:rect l="l" t="t" r="r" b="b"/>
              <a:pathLst>
                <a:path w="1135440" h="812800">
                  <a:moveTo>
                    <a:pt x="1135440" y="406400"/>
                  </a:moveTo>
                  <a:lnTo>
                    <a:pt x="729040" y="0"/>
                  </a:lnTo>
                  <a:lnTo>
                    <a:pt x="729040" y="203200"/>
                  </a:lnTo>
                  <a:lnTo>
                    <a:pt x="0" y="203200"/>
                  </a:lnTo>
                  <a:lnTo>
                    <a:pt x="0" y="609600"/>
                  </a:lnTo>
                  <a:lnTo>
                    <a:pt x="729040" y="609600"/>
                  </a:lnTo>
                  <a:lnTo>
                    <a:pt x="729040" y="812800"/>
                  </a:lnTo>
                  <a:lnTo>
                    <a:pt x="1135440" y="406400"/>
                  </a:lnTo>
                  <a:close/>
                </a:path>
              </a:pathLst>
            </a:custGeom>
            <a:solidFill>
              <a:srgbClr val="000000"/>
            </a:solidFill>
          </p:spPr>
          <p:txBody>
            <a:bodyPr/>
            <a:lstStyle/>
            <a:p>
              <a:endParaRPr lang="zh-TW" altLang="en-US"/>
            </a:p>
          </p:txBody>
        </p:sp>
        <p:sp>
          <p:nvSpPr>
            <p:cNvPr id="23" name="TextBox 23"/>
            <p:cNvSpPr txBox="1"/>
            <p:nvPr/>
          </p:nvSpPr>
          <p:spPr>
            <a:xfrm>
              <a:off x="0" y="222250"/>
              <a:ext cx="1033840" cy="387350"/>
            </a:xfrm>
            <a:prstGeom prst="rect">
              <a:avLst/>
            </a:prstGeom>
          </p:spPr>
          <p:txBody>
            <a:bodyPr lIns="50800" tIns="50800" rIns="50800" bIns="50800" rtlCol="0" anchor="ctr"/>
            <a:lstStyle/>
            <a:p>
              <a:pPr algn="ctr">
                <a:lnSpc>
                  <a:spcPts val="2530"/>
                </a:lnSpc>
              </a:pPr>
              <a:endParaRPr/>
            </a:p>
          </p:txBody>
        </p:sp>
      </p:grpSp>
      <p:sp>
        <p:nvSpPr>
          <p:cNvPr id="24" name="TextBox 24"/>
          <p:cNvSpPr txBox="1"/>
          <p:nvPr/>
        </p:nvSpPr>
        <p:spPr>
          <a:xfrm>
            <a:off x="875804" y="1053917"/>
            <a:ext cx="8731603"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Solution: XAIStories</a:t>
            </a:r>
          </a:p>
        </p:txBody>
      </p:sp>
      <p:sp>
        <p:nvSpPr>
          <p:cNvPr id="25" name="TextBox 25"/>
          <p:cNvSpPr txBox="1"/>
          <p:nvPr/>
        </p:nvSpPr>
        <p:spPr>
          <a:xfrm>
            <a:off x="875804" y="2554195"/>
            <a:ext cx="10875509" cy="365759"/>
          </a:xfrm>
          <a:prstGeom prst="rect">
            <a:avLst/>
          </a:prstGeom>
        </p:spPr>
        <p:txBody>
          <a:bodyPr lIns="0" tIns="0" rIns="0" bIns="0" rtlCol="0" anchor="t">
            <a:spAutoFit/>
          </a:bodyPr>
          <a:lstStyle/>
          <a:p>
            <a:pPr algn="l">
              <a:lnSpc>
                <a:spcPts val="2940"/>
              </a:lnSpc>
            </a:pPr>
            <a:r>
              <a:rPr lang="en-US" sz="2100" b="1">
                <a:solidFill>
                  <a:srgbClr val="737373"/>
                </a:solidFill>
                <a:latin typeface="Inter Bold"/>
                <a:ea typeface="Inter Bold"/>
                <a:cs typeface="Inter Bold"/>
                <a:sym typeface="Inter Bold"/>
              </a:rPr>
              <a:t>Combine XAI methods, specifically SHAP values or CF explanations, with LLMs.</a:t>
            </a:r>
          </a:p>
        </p:txBody>
      </p:sp>
      <p:grpSp>
        <p:nvGrpSpPr>
          <p:cNvPr id="26" name="Group 26"/>
          <p:cNvGrpSpPr/>
          <p:nvPr/>
        </p:nvGrpSpPr>
        <p:grpSpPr>
          <a:xfrm>
            <a:off x="9326407" y="4597532"/>
            <a:ext cx="3761243" cy="545968"/>
            <a:chOff x="0" y="0"/>
            <a:chExt cx="5014991" cy="727957"/>
          </a:xfrm>
        </p:grpSpPr>
        <p:grpSp>
          <p:nvGrpSpPr>
            <p:cNvPr id="27" name="Group 27"/>
            <p:cNvGrpSpPr/>
            <p:nvPr/>
          </p:nvGrpSpPr>
          <p:grpSpPr>
            <a:xfrm>
              <a:off x="0" y="0"/>
              <a:ext cx="5014991" cy="727957"/>
              <a:chOff x="0" y="0"/>
              <a:chExt cx="990616" cy="143794"/>
            </a:xfrm>
          </p:grpSpPr>
          <p:sp>
            <p:nvSpPr>
              <p:cNvPr id="28" name="Freeform 28"/>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29" name="TextBox 29"/>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sp>
          <p:nvSpPr>
            <p:cNvPr id="30" name="TextBox 30"/>
            <p:cNvSpPr txBox="1"/>
            <p:nvPr/>
          </p:nvSpPr>
          <p:spPr>
            <a:xfrm>
              <a:off x="205941" y="163759"/>
              <a:ext cx="4603109"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CFstories</a:t>
              </a:r>
            </a:p>
          </p:txBody>
        </p:sp>
      </p:grpSp>
      <p:grpSp>
        <p:nvGrpSpPr>
          <p:cNvPr id="31" name="Group 31"/>
          <p:cNvGrpSpPr/>
          <p:nvPr/>
        </p:nvGrpSpPr>
        <p:grpSpPr>
          <a:xfrm>
            <a:off x="875804" y="4597532"/>
            <a:ext cx="3057712" cy="545968"/>
            <a:chOff x="0" y="0"/>
            <a:chExt cx="4076949" cy="727957"/>
          </a:xfrm>
        </p:grpSpPr>
        <p:grpSp>
          <p:nvGrpSpPr>
            <p:cNvPr id="32" name="Group 32"/>
            <p:cNvGrpSpPr/>
            <p:nvPr/>
          </p:nvGrpSpPr>
          <p:grpSpPr>
            <a:xfrm>
              <a:off x="0" y="0"/>
              <a:ext cx="4076949" cy="727957"/>
              <a:chOff x="0" y="0"/>
              <a:chExt cx="805323" cy="143794"/>
            </a:xfrm>
          </p:grpSpPr>
          <p:sp>
            <p:nvSpPr>
              <p:cNvPr id="33" name="Freeform 33"/>
              <p:cNvSpPr/>
              <p:nvPr/>
            </p:nvSpPr>
            <p:spPr>
              <a:xfrm>
                <a:off x="0" y="0"/>
                <a:ext cx="805323" cy="143794"/>
              </a:xfrm>
              <a:custGeom>
                <a:avLst/>
                <a:gdLst/>
                <a:ahLst/>
                <a:cxnLst/>
                <a:rect l="l" t="t" r="r" b="b"/>
                <a:pathLst>
                  <a:path w="805323" h="143794">
                    <a:moveTo>
                      <a:pt x="71897" y="0"/>
                    </a:moveTo>
                    <a:lnTo>
                      <a:pt x="733426" y="0"/>
                    </a:lnTo>
                    <a:cubicBezTo>
                      <a:pt x="752495" y="0"/>
                      <a:pt x="770782" y="7575"/>
                      <a:pt x="784265" y="21058"/>
                    </a:cubicBezTo>
                    <a:cubicBezTo>
                      <a:pt x="797748" y="34541"/>
                      <a:pt x="805323" y="52829"/>
                      <a:pt x="805323" y="71897"/>
                    </a:cubicBezTo>
                    <a:lnTo>
                      <a:pt x="805323" y="71897"/>
                    </a:lnTo>
                    <a:cubicBezTo>
                      <a:pt x="805323" y="111605"/>
                      <a:pt x="773134" y="143794"/>
                      <a:pt x="733426"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34" name="TextBox 34"/>
              <p:cNvSpPr txBox="1"/>
              <p:nvPr/>
            </p:nvSpPr>
            <p:spPr>
              <a:xfrm>
                <a:off x="0" y="19050"/>
                <a:ext cx="805323" cy="124744"/>
              </a:xfrm>
              <a:prstGeom prst="rect">
                <a:avLst/>
              </a:prstGeom>
            </p:spPr>
            <p:txBody>
              <a:bodyPr lIns="50800" tIns="50800" rIns="50800" bIns="50800" rtlCol="0" anchor="ctr"/>
              <a:lstStyle/>
              <a:p>
                <a:pPr algn="ctr">
                  <a:lnSpc>
                    <a:spcPts val="2530"/>
                  </a:lnSpc>
                </a:pPr>
                <a:endParaRPr/>
              </a:p>
            </p:txBody>
          </p:sp>
        </p:grpSp>
        <p:sp>
          <p:nvSpPr>
            <p:cNvPr id="35" name="TextBox 35"/>
            <p:cNvSpPr txBox="1"/>
            <p:nvPr/>
          </p:nvSpPr>
          <p:spPr>
            <a:xfrm>
              <a:off x="498301" y="144251"/>
              <a:ext cx="3080347"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CF explanations</a:t>
              </a:r>
            </a:p>
          </p:txBody>
        </p:sp>
      </p:grpSp>
      <p:grpSp>
        <p:nvGrpSpPr>
          <p:cNvPr id="36" name="Group 36"/>
          <p:cNvGrpSpPr/>
          <p:nvPr/>
        </p:nvGrpSpPr>
        <p:grpSpPr>
          <a:xfrm>
            <a:off x="4658136" y="4597532"/>
            <a:ext cx="3761243" cy="545968"/>
            <a:chOff x="0" y="0"/>
            <a:chExt cx="5014991" cy="727957"/>
          </a:xfrm>
        </p:grpSpPr>
        <p:grpSp>
          <p:nvGrpSpPr>
            <p:cNvPr id="37" name="Group 37"/>
            <p:cNvGrpSpPr/>
            <p:nvPr/>
          </p:nvGrpSpPr>
          <p:grpSpPr>
            <a:xfrm>
              <a:off x="0" y="0"/>
              <a:ext cx="5014991" cy="727957"/>
              <a:chOff x="0" y="0"/>
              <a:chExt cx="990616" cy="143794"/>
            </a:xfrm>
          </p:grpSpPr>
          <p:sp>
            <p:nvSpPr>
              <p:cNvPr id="38" name="Freeform 38"/>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39" name="TextBox 39"/>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sp>
          <p:nvSpPr>
            <p:cNvPr id="40" name="TextBox 40"/>
            <p:cNvSpPr txBox="1"/>
            <p:nvPr/>
          </p:nvSpPr>
          <p:spPr>
            <a:xfrm>
              <a:off x="205941" y="163759"/>
              <a:ext cx="4603109"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LLMs</a:t>
              </a:r>
            </a:p>
          </p:txBody>
        </p:sp>
      </p:grpSp>
      <p:pic>
        <p:nvPicPr>
          <p:cNvPr id="41" name="Picture 41"/>
          <p:cNvPicPr>
            <a:picLocks noChangeAspect="1"/>
          </p:cNvPicPr>
          <p:nvPr/>
        </p:nvPicPr>
        <p:blipFill>
          <a:blip r:embed="rId8"/>
          <a:stretch>
            <a:fillRect/>
          </a:stretch>
        </p:blipFill>
        <p:spPr>
          <a:xfrm>
            <a:off x="4016858" y="4586590"/>
            <a:ext cx="557936" cy="567852"/>
          </a:xfrm>
          <a:prstGeom prst="rect">
            <a:avLst/>
          </a:prstGeom>
        </p:spPr>
      </p:pic>
      <p:grpSp>
        <p:nvGrpSpPr>
          <p:cNvPr id="42" name="Group 42"/>
          <p:cNvGrpSpPr/>
          <p:nvPr/>
        </p:nvGrpSpPr>
        <p:grpSpPr>
          <a:xfrm>
            <a:off x="8552730" y="4633911"/>
            <a:ext cx="696643" cy="498689"/>
            <a:chOff x="0" y="0"/>
            <a:chExt cx="1135440" cy="812800"/>
          </a:xfrm>
        </p:grpSpPr>
        <p:sp>
          <p:nvSpPr>
            <p:cNvPr id="43" name="Freeform 43"/>
            <p:cNvSpPr/>
            <p:nvPr/>
          </p:nvSpPr>
          <p:spPr>
            <a:xfrm>
              <a:off x="0" y="0"/>
              <a:ext cx="1135440" cy="812800"/>
            </a:xfrm>
            <a:custGeom>
              <a:avLst/>
              <a:gdLst/>
              <a:ahLst/>
              <a:cxnLst/>
              <a:rect l="l" t="t" r="r" b="b"/>
              <a:pathLst>
                <a:path w="1135440" h="812800">
                  <a:moveTo>
                    <a:pt x="1135440" y="406400"/>
                  </a:moveTo>
                  <a:lnTo>
                    <a:pt x="729040" y="0"/>
                  </a:lnTo>
                  <a:lnTo>
                    <a:pt x="729040" y="203200"/>
                  </a:lnTo>
                  <a:lnTo>
                    <a:pt x="0" y="203200"/>
                  </a:lnTo>
                  <a:lnTo>
                    <a:pt x="0" y="609600"/>
                  </a:lnTo>
                  <a:lnTo>
                    <a:pt x="729040" y="609600"/>
                  </a:lnTo>
                  <a:lnTo>
                    <a:pt x="729040" y="812800"/>
                  </a:lnTo>
                  <a:lnTo>
                    <a:pt x="1135440" y="406400"/>
                  </a:lnTo>
                  <a:close/>
                </a:path>
              </a:pathLst>
            </a:custGeom>
            <a:solidFill>
              <a:srgbClr val="000000"/>
            </a:solidFill>
          </p:spPr>
          <p:txBody>
            <a:bodyPr/>
            <a:lstStyle/>
            <a:p>
              <a:endParaRPr lang="zh-TW" altLang="en-US"/>
            </a:p>
          </p:txBody>
        </p:sp>
        <p:sp>
          <p:nvSpPr>
            <p:cNvPr id="44" name="TextBox 44"/>
            <p:cNvSpPr txBox="1"/>
            <p:nvPr/>
          </p:nvSpPr>
          <p:spPr>
            <a:xfrm>
              <a:off x="0" y="222250"/>
              <a:ext cx="1033840" cy="387350"/>
            </a:xfrm>
            <a:prstGeom prst="rect">
              <a:avLst/>
            </a:prstGeom>
          </p:spPr>
          <p:txBody>
            <a:bodyPr lIns="50800" tIns="50800" rIns="50800" bIns="50800" rtlCol="0" anchor="ctr"/>
            <a:lstStyle/>
            <a:p>
              <a:pPr algn="ctr">
                <a:lnSpc>
                  <a:spcPts val="2530"/>
                </a:lnSpc>
              </a:pPr>
              <a:endParaRPr/>
            </a:p>
          </p:txBody>
        </p:sp>
      </p:grpSp>
      <p:sp>
        <p:nvSpPr>
          <p:cNvPr id="45" name="TextBox 45"/>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9</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zh-TW" altLang="en-US"/>
          </a:p>
        </p:txBody>
      </p:sp>
      <p:sp>
        <p:nvSpPr>
          <p:cNvPr id="3" name="Freeform 3"/>
          <p:cNvSpPr/>
          <p:nvPr/>
        </p:nvSpPr>
        <p:spPr>
          <a:xfrm rot="-10800000">
            <a:off x="15502246" y="9216842"/>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4" name="Freeform 4"/>
          <p:cNvSpPr/>
          <p:nvPr/>
        </p:nvSpPr>
        <p:spPr>
          <a:xfrm>
            <a:off x="875804" y="526405"/>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5" name="Freeform 5"/>
          <p:cNvSpPr/>
          <p:nvPr/>
        </p:nvSpPr>
        <p:spPr>
          <a:xfrm>
            <a:off x="4066740" y="3309568"/>
            <a:ext cx="5139489" cy="5211876"/>
          </a:xfrm>
          <a:custGeom>
            <a:avLst/>
            <a:gdLst/>
            <a:ahLst/>
            <a:cxnLst/>
            <a:rect l="l" t="t" r="r" b="b"/>
            <a:pathLst>
              <a:path w="5139489" h="5211876">
                <a:moveTo>
                  <a:pt x="0" y="0"/>
                </a:moveTo>
                <a:lnTo>
                  <a:pt x="5139488" y="0"/>
                </a:lnTo>
                <a:lnTo>
                  <a:pt x="5139488" y="5211876"/>
                </a:lnTo>
                <a:lnTo>
                  <a:pt x="0" y="5211876"/>
                </a:lnTo>
                <a:lnTo>
                  <a:pt x="0" y="0"/>
                </a:lnTo>
                <a:close/>
              </a:path>
            </a:pathLst>
          </a:custGeom>
          <a:blipFill>
            <a:blip r:embed="rId8"/>
            <a:stretch>
              <a:fillRect/>
            </a:stretch>
          </a:blipFill>
        </p:spPr>
        <p:txBody>
          <a:bodyPr/>
          <a:lstStyle/>
          <a:p>
            <a:endParaRPr lang="zh-TW" altLang="en-US"/>
          </a:p>
        </p:txBody>
      </p:sp>
      <p:sp>
        <p:nvSpPr>
          <p:cNvPr id="6" name="Freeform 6"/>
          <p:cNvSpPr/>
          <p:nvPr/>
        </p:nvSpPr>
        <p:spPr>
          <a:xfrm>
            <a:off x="10215815" y="2974137"/>
            <a:ext cx="5030378" cy="5686515"/>
          </a:xfrm>
          <a:custGeom>
            <a:avLst/>
            <a:gdLst/>
            <a:ahLst/>
            <a:cxnLst/>
            <a:rect l="l" t="t" r="r" b="b"/>
            <a:pathLst>
              <a:path w="5030378" h="5686515">
                <a:moveTo>
                  <a:pt x="0" y="0"/>
                </a:moveTo>
                <a:lnTo>
                  <a:pt x="5030379" y="0"/>
                </a:lnTo>
                <a:lnTo>
                  <a:pt x="5030379" y="5686515"/>
                </a:lnTo>
                <a:lnTo>
                  <a:pt x="0" y="5686515"/>
                </a:lnTo>
                <a:lnTo>
                  <a:pt x="0" y="0"/>
                </a:lnTo>
                <a:close/>
              </a:path>
            </a:pathLst>
          </a:custGeom>
          <a:blipFill>
            <a:blip r:embed="rId9"/>
            <a:stretch>
              <a:fillRect/>
            </a:stretch>
          </a:blipFill>
        </p:spPr>
        <p:txBody>
          <a:bodyPr/>
          <a:lstStyle/>
          <a:p>
            <a:endParaRPr lang="zh-TW" altLang="en-US"/>
          </a:p>
        </p:txBody>
      </p:sp>
      <p:sp>
        <p:nvSpPr>
          <p:cNvPr id="7" name="TextBox 7"/>
          <p:cNvSpPr txBox="1"/>
          <p:nvPr/>
        </p:nvSpPr>
        <p:spPr>
          <a:xfrm>
            <a:off x="875804" y="1053917"/>
            <a:ext cx="12230596" cy="929550"/>
          </a:xfrm>
          <a:prstGeom prst="rect">
            <a:avLst/>
          </a:prstGeom>
        </p:spPr>
        <p:txBody>
          <a:bodyPr wrap="square" lIns="0" tIns="0" rIns="0" bIns="0" rtlCol="0" anchor="t">
            <a:spAutoFit/>
          </a:bodyPr>
          <a:lstStyle/>
          <a:p>
            <a:pPr>
              <a:lnSpc>
                <a:spcPts val="7150"/>
              </a:lnSpc>
            </a:pPr>
            <a:r>
              <a:rPr lang="en-US" sz="6500" b="1" dirty="0">
                <a:solidFill>
                  <a:srgbClr val="000000"/>
                </a:solidFill>
                <a:latin typeface="Cormorant Garamond Bold"/>
                <a:ea typeface="Cormorant Garamond Bold"/>
                <a:cs typeface="Cormorant Garamond Bold"/>
                <a:sym typeface="Cormorant Garamond Bold"/>
              </a:rPr>
              <a:t>Guess Game: why is it misclassified?</a:t>
            </a:r>
          </a:p>
        </p:txBody>
      </p:sp>
      <p:sp>
        <p:nvSpPr>
          <p:cNvPr id="8" name="TextBox 8"/>
          <p:cNvSpPr txBox="1"/>
          <p:nvPr/>
        </p:nvSpPr>
        <p:spPr>
          <a:xfrm>
            <a:off x="4559793" y="2941514"/>
            <a:ext cx="7677524" cy="365759"/>
          </a:xfrm>
          <a:prstGeom prst="rect">
            <a:avLst/>
          </a:prstGeom>
        </p:spPr>
        <p:txBody>
          <a:bodyPr lIns="0" tIns="0" rIns="0" bIns="0" rtlCol="0" anchor="t">
            <a:spAutoFit/>
          </a:bodyPr>
          <a:lstStyle/>
          <a:p>
            <a:pPr algn="l">
              <a:lnSpc>
                <a:spcPts val="2940"/>
              </a:lnSpc>
            </a:pPr>
            <a:r>
              <a:rPr lang="en-US" sz="2100" dirty="0">
                <a:solidFill>
                  <a:srgbClr val="000000"/>
                </a:solidFill>
                <a:latin typeface="Inter"/>
                <a:ea typeface="Inter"/>
                <a:cs typeface="Inter"/>
                <a:sym typeface="Inter"/>
              </a:rPr>
              <a:t>Is that a Bird? Is that Plane?</a:t>
            </a:r>
          </a:p>
        </p:txBody>
      </p:sp>
      <p:sp>
        <p:nvSpPr>
          <p:cNvPr id="9" name="TextBox 9"/>
          <p:cNvSpPr txBox="1"/>
          <p:nvPr/>
        </p:nvSpPr>
        <p:spPr>
          <a:xfrm>
            <a:off x="10312983" y="2928806"/>
            <a:ext cx="7677524" cy="365759"/>
          </a:xfrm>
          <a:prstGeom prst="rect">
            <a:avLst/>
          </a:prstGeom>
        </p:spPr>
        <p:txBody>
          <a:bodyPr lIns="0" tIns="0" rIns="0" bIns="0" rtlCol="0" anchor="t">
            <a:spAutoFit/>
          </a:bodyPr>
          <a:lstStyle/>
          <a:p>
            <a:pPr algn="l">
              <a:lnSpc>
                <a:spcPts val="2940"/>
              </a:lnSpc>
            </a:pPr>
            <a:r>
              <a:rPr lang="en-US" sz="2100">
                <a:solidFill>
                  <a:srgbClr val="000000"/>
                </a:solidFill>
                <a:latin typeface="Inter"/>
                <a:ea typeface="Inter"/>
                <a:cs typeface="Inter"/>
                <a:sym typeface="Inter"/>
              </a:rPr>
              <a:t>Does he Break Dance? Break something?</a:t>
            </a:r>
          </a:p>
        </p:txBody>
      </p:sp>
      <p:sp>
        <p:nvSpPr>
          <p:cNvPr id="10" name="TextBox 10"/>
          <p:cNvSpPr txBox="1"/>
          <p:nvPr/>
        </p:nvSpPr>
        <p:spPr>
          <a:xfrm>
            <a:off x="4803556" y="8155684"/>
            <a:ext cx="3921294" cy="365759"/>
          </a:xfrm>
          <a:prstGeom prst="rect">
            <a:avLst/>
          </a:prstGeom>
        </p:spPr>
        <p:txBody>
          <a:bodyPr lIns="0" tIns="0" rIns="0" bIns="0" rtlCol="0" anchor="t">
            <a:spAutoFit/>
          </a:bodyPr>
          <a:lstStyle/>
          <a:p>
            <a:pPr algn="l">
              <a:lnSpc>
                <a:spcPts val="2940"/>
              </a:lnSpc>
            </a:pPr>
            <a:r>
              <a:rPr lang="en-US" sz="2100" dirty="0">
                <a:solidFill>
                  <a:srgbClr val="000000"/>
                </a:solidFill>
                <a:latin typeface="Inter"/>
                <a:ea typeface="Inter"/>
                <a:cs typeface="Inter"/>
                <a:sym typeface="Inter"/>
              </a:rPr>
              <a:t>Misclassification: missile</a:t>
            </a:r>
          </a:p>
        </p:txBody>
      </p:sp>
      <p:sp>
        <p:nvSpPr>
          <p:cNvPr id="11" name="TextBox 11"/>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10</a:t>
            </a:r>
          </a:p>
        </p:txBody>
      </p:sp>
      <p:sp>
        <p:nvSpPr>
          <p:cNvPr id="12" name="TextBox 12"/>
          <p:cNvSpPr txBox="1"/>
          <p:nvPr/>
        </p:nvSpPr>
        <p:spPr>
          <a:xfrm>
            <a:off x="10770357" y="8140682"/>
            <a:ext cx="3921294" cy="365759"/>
          </a:xfrm>
          <a:prstGeom prst="rect">
            <a:avLst/>
          </a:prstGeom>
        </p:spPr>
        <p:txBody>
          <a:bodyPr lIns="0" tIns="0" rIns="0" bIns="0" rtlCol="0" anchor="t">
            <a:spAutoFit/>
          </a:bodyPr>
          <a:lstStyle/>
          <a:p>
            <a:pPr algn="l">
              <a:lnSpc>
                <a:spcPts val="2940"/>
              </a:lnSpc>
            </a:pPr>
            <a:r>
              <a:rPr lang="en-US" sz="2100" dirty="0">
                <a:solidFill>
                  <a:srgbClr val="000000"/>
                </a:solidFill>
                <a:latin typeface="Inter"/>
                <a:ea typeface="Inter"/>
                <a:cs typeface="Inter"/>
                <a:sym typeface="Inter"/>
              </a:rPr>
              <a:t>Misclassification: unicycle</a:t>
            </a:r>
          </a:p>
        </p:txBody>
      </p:sp>
      <p:pic>
        <p:nvPicPr>
          <p:cNvPr id="1026" name="Picture 2">
            <a:extLst>
              <a:ext uri="{FF2B5EF4-FFF2-40B4-BE49-F238E27FC236}">
                <a16:creationId xmlns:a16="http://schemas.microsoft.com/office/drawing/2014/main" id="{D5663036-D6FB-A8D4-93BC-9168B47D417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75607" y="3761811"/>
            <a:ext cx="2369022" cy="2369022"/>
          </a:xfrm>
          <a:prstGeom prst="rect">
            <a:avLst/>
          </a:prstGeom>
          <a:noFill/>
          <a:extLst>
            <a:ext uri="{909E8E84-426E-40DD-AFC4-6F175D3DCCD1}">
              <a14:hiddenFill xmlns:a14="http://schemas.microsoft.com/office/drawing/2010/main">
                <a:solidFill>
                  <a:srgbClr val="FFFFFF"/>
                </a:solidFill>
              </a14:hiddenFill>
            </a:ext>
          </a:extLst>
        </p:spPr>
      </p:pic>
      <p:sp>
        <p:nvSpPr>
          <p:cNvPr id="13" name="文字方塊 12">
            <a:extLst>
              <a:ext uri="{FF2B5EF4-FFF2-40B4-BE49-F238E27FC236}">
                <a16:creationId xmlns:a16="http://schemas.microsoft.com/office/drawing/2014/main" id="{6958BA1A-11D1-17D2-C8A8-59D2A55645E4}"/>
              </a:ext>
            </a:extLst>
          </p:cNvPr>
          <p:cNvSpPr txBox="1"/>
          <p:nvPr/>
        </p:nvSpPr>
        <p:spPr>
          <a:xfrm>
            <a:off x="1102268" y="6362700"/>
            <a:ext cx="2442361" cy="707886"/>
          </a:xfrm>
          <a:prstGeom prst="rect">
            <a:avLst/>
          </a:prstGeom>
          <a:noFill/>
        </p:spPr>
        <p:txBody>
          <a:bodyPr wrap="square" rtlCol="0">
            <a:spAutoFit/>
          </a:bodyPr>
          <a:lstStyle/>
          <a:p>
            <a:r>
              <a:rPr lang="en-US" altLang="zh-TW" sz="2000" dirty="0"/>
              <a:t>Join at menti.com</a:t>
            </a:r>
          </a:p>
          <a:p>
            <a:r>
              <a:rPr lang="en-US" altLang="zh-TW" sz="2000" dirty="0"/>
              <a:t>Use code: 7356 2766</a:t>
            </a:r>
            <a:endParaRPr lang="zh-TW"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502246" y="9216842"/>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75804" y="526405"/>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grpSp>
        <p:nvGrpSpPr>
          <p:cNvPr id="5" name="Group 5"/>
          <p:cNvGrpSpPr/>
          <p:nvPr/>
        </p:nvGrpSpPr>
        <p:grpSpPr>
          <a:xfrm>
            <a:off x="9479304" y="2618647"/>
            <a:ext cx="3761243" cy="545968"/>
            <a:chOff x="0" y="0"/>
            <a:chExt cx="5014991" cy="727957"/>
          </a:xfrm>
        </p:grpSpPr>
        <p:grpSp>
          <p:nvGrpSpPr>
            <p:cNvPr id="6" name="Group 6"/>
            <p:cNvGrpSpPr/>
            <p:nvPr/>
          </p:nvGrpSpPr>
          <p:grpSpPr>
            <a:xfrm>
              <a:off x="0" y="0"/>
              <a:ext cx="5014991" cy="727957"/>
              <a:chOff x="0" y="0"/>
              <a:chExt cx="990616" cy="143794"/>
            </a:xfrm>
          </p:grpSpPr>
          <p:sp>
            <p:nvSpPr>
              <p:cNvPr id="7" name="Freeform 7"/>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8" name="TextBox 8"/>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sp>
          <p:nvSpPr>
            <p:cNvPr id="9" name="TextBox 9"/>
            <p:cNvSpPr txBox="1"/>
            <p:nvPr/>
          </p:nvSpPr>
          <p:spPr>
            <a:xfrm>
              <a:off x="205941" y="163759"/>
              <a:ext cx="4603109"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CFstories</a:t>
              </a:r>
            </a:p>
          </p:txBody>
        </p:sp>
      </p:grpSp>
      <p:grpSp>
        <p:nvGrpSpPr>
          <p:cNvPr id="10" name="Group 10"/>
          <p:cNvGrpSpPr/>
          <p:nvPr/>
        </p:nvGrpSpPr>
        <p:grpSpPr>
          <a:xfrm>
            <a:off x="1028700" y="2618647"/>
            <a:ext cx="3057712" cy="545968"/>
            <a:chOff x="0" y="0"/>
            <a:chExt cx="4076949" cy="727957"/>
          </a:xfrm>
        </p:grpSpPr>
        <p:grpSp>
          <p:nvGrpSpPr>
            <p:cNvPr id="11" name="Group 11"/>
            <p:cNvGrpSpPr/>
            <p:nvPr/>
          </p:nvGrpSpPr>
          <p:grpSpPr>
            <a:xfrm>
              <a:off x="0" y="0"/>
              <a:ext cx="4076949" cy="727957"/>
              <a:chOff x="0" y="0"/>
              <a:chExt cx="805323" cy="143794"/>
            </a:xfrm>
          </p:grpSpPr>
          <p:sp>
            <p:nvSpPr>
              <p:cNvPr id="12" name="Freeform 12"/>
              <p:cNvSpPr/>
              <p:nvPr/>
            </p:nvSpPr>
            <p:spPr>
              <a:xfrm>
                <a:off x="0" y="0"/>
                <a:ext cx="805323" cy="143794"/>
              </a:xfrm>
              <a:custGeom>
                <a:avLst/>
                <a:gdLst/>
                <a:ahLst/>
                <a:cxnLst/>
                <a:rect l="l" t="t" r="r" b="b"/>
                <a:pathLst>
                  <a:path w="805323" h="143794">
                    <a:moveTo>
                      <a:pt x="71897" y="0"/>
                    </a:moveTo>
                    <a:lnTo>
                      <a:pt x="733426" y="0"/>
                    </a:lnTo>
                    <a:cubicBezTo>
                      <a:pt x="752495" y="0"/>
                      <a:pt x="770782" y="7575"/>
                      <a:pt x="784265" y="21058"/>
                    </a:cubicBezTo>
                    <a:cubicBezTo>
                      <a:pt x="797748" y="34541"/>
                      <a:pt x="805323" y="52829"/>
                      <a:pt x="805323" y="71897"/>
                    </a:cubicBezTo>
                    <a:lnTo>
                      <a:pt x="805323" y="71897"/>
                    </a:lnTo>
                    <a:cubicBezTo>
                      <a:pt x="805323" y="111605"/>
                      <a:pt x="773134" y="143794"/>
                      <a:pt x="733426"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3" name="TextBox 13"/>
              <p:cNvSpPr txBox="1"/>
              <p:nvPr/>
            </p:nvSpPr>
            <p:spPr>
              <a:xfrm>
                <a:off x="0" y="19050"/>
                <a:ext cx="805323" cy="124744"/>
              </a:xfrm>
              <a:prstGeom prst="rect">
                <a:avLst/>
              </a:prstGeom>
            </p:spPr>
            <p:txBody>
              <a:bodyPr lIns="50800" tIns="50800" rIns="50800" bIns="50800" rtlCol="0" anchor="ctr"/>
              <a:lstStyle/>
              <a:p>
                <a:pPr algn="ctr">
                  <a:lnSpc>
                    <a:spcPts val="2530"/>
                  </a:lnSpc>
                </a:pPr>
                <a:endParaRPr/>
              </a:p>
            </p:txBody>
          </p:sp>
        </p:grpSp>
        <p:sp>
          <p:nvSpPr>
            <p:cNvPr id="14" name="TextBox 14"/>
            <p:cNvSpPr txBox="1"/>
            <p:nvPr/>
          </p:nvSpPr>
          <p:spPr>
            <a:xfrm>
              <a:off x="498301" y="144251"/>
              <a:ext cx="3080347"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CF explanations</a:t>
              </a:r>
            </a:p>
          </p:txBody>
        </p:sp>
      </p:grpSp>
      <p:grpSp>
        <p:nvGrpSpPr>
          <p:cNvPr id="15" name="Group 15"/>
          <p:cNvGrpSpPr/>
          <p:nvPr/>
        </p:nvGrpSpPr>
        <p:grpSpPr>
          <a:xfrm>
            <a:off x="4811032" y="2618647"/>
            <a:ext cx="3761243" cy="545968"/>
            <a:chOff x="0" y="0"/>
            <a:chExt cx="5014991" cy="727957"/>
          </a:xfrm>
        </p:grpSpPr>
        <p:grpSp>
          <p:nvGrpSpPr>
            <p:cNvPr id="16" name="Group 16"/>
            <p:cNvGrpSpPr/>
            <p:nvPr/>
          </p:nvGrpSpPr>
          <p:grpSpPr>
            <a:xfrm>
              <a:off x="0" y="0"/>
              <a:ext cx="5014991" cy="727957"/>
              <a:chOff x="0" y="0"/>
              <a:chExt cx="990616" cy="143794"/>
            </a:xfrm>
          </p:grpSpPr>
          <p:sp>
            <p:nvSpPr>
              <p:cNvPr id="17" name="Freeform 17"/>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8" name="TextBox 18"/>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sp>
          <p:nvSpPr>
            <p:cNvPr id="19" name="TextBox 19"/>
            <p:cNvSpPr txBox="1"/>
            <p:nvPr/>
          </p:nvSpPr>
          <p:spPr>
            <a:xfrm>
              <a:off x="205941" y="163759"/>
              <a:ext cx="4603109"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LLMs</a:t>
              </a:r>
            </a:p>
          </p:txBody>
        </p:sp>
      </p:grpSp>
      <p:pic>
        <p:nvPicPr>
          <p:cNvPr id="20" name="Picture 20"/>
          <p:cNvPicPr>
            <a:picLocks noChangeAspect="1"/>
          </p:cNvPicPr>
          <p:nvPr/>
        </p:nvPicPr>
        <p:blipFill>
          <a:blip r:embed="rId7"/>
          <a:stretch>
            <a:fillRect/>
          </a:stretch>
        </p:blipFill>
        <p:spPr>
          <a:xfrm>
            <a:off x="4169754" y="2607705"/>
            <a:ext cx="557936" cy="567852"/>
          </a:xfrm>
          <a:prstGeom prst="rect">
            <a:avLst/>
          </a:prstGeom>
        </p:spPr>
      </p:pic>
      <p:grpSp>
        <p:nvGrpSpPr>
          <p:cNvPr id="21" name="Group 21"/>
          <p:cNvGrpSpPr/>
          <p:nvPr/>
        </p:nvGrpSpPr>
        <p:grpSpPr>
          <a:xfrm>
            <a:off x="8705626" y="2655026"/>
            <a:ext cx="696643" cy="498689"/>
            <a:chOff x="0" y="0"/>
            <a:chExt cx="1135440" cy="812800"/>
          </a:xfrm>
        </p:grpSpPr>
        <p:sp>
          <p:nvSpPr>
            <p:cNvPr id="22" name="Freeform 22"/>
            <p:cNvSpPr/>
            <p:nvPr/>
          </p:nvSpPr>
          <p:spPr>
            <a:xfrm>
              <a:off x="0" y="0"/>
              <a:ext cx="1135440" cy="812800"/>
            </a:xfrm>
            <a:custGeom>
              <a:avLst/>
              <a:gdLst/>
              <a:ahLst/>
              <a:cxnLst/>
              <a:rect l="l" t="t" r="r" b="b"/>
              <a:pathLst>
                <a:path w="1135440" h="812800">
                  <a:moveTo>
                    <a:pt x="1135440" y="406400"/>
                  </a:moveTo>
                  <a:lnTo>
                    <a:pt x="729040" y="0"/>
                  </a:lnTo>
                  <a:lnTo>
                    <a:pt x="729040" y="203200"/>
                  </a:lnTo>
                  <a:lnTo>
                    <a:pt x="0" y="203200"/>
                  </a:lnTo>
                  <a:lnTo>
                    <a:pt x="0" y="609600"/>
                  </a:lnTo>
                  <a:lnTo>
                    <a:pt x="729040" y="609600"/>
                  </a:lnTo>
                  <a:lnTo>
                    <a:pt x="729040" y="812800"/>
                  </a:lnTo>
                  <a:lnTo>
                    <a:pt x="1135440" y="406400"/>
                  </a:lnTo>
                  <a:close/>
                </a:path>
              </a:pathLst>
            </a:custGeom>
            <a:solidFill>
              <a:srgbClr val="000000"/>
            </a:solidFill>
          </p:spPr>
          <p:txBody>
            <a:bodyPr/>
            <a:lstStyle/>
            <a:p>
              <a:endParaRPr lang="zh-TW" altLang="en-US"/>
            </a:p>
          </p:txBody>
        </p:sp>
        <p:sp>
          <p:nvSpPr>
            <p:cNvPr id="23" name="TextBox 23"/>
            <p:cNvSpPr txBox="1"/>
            <p:nvPr/>
          </p:nvSpPr>
          <p:spPr>
            <a:xfrm>
              <a:off x="0" y="222250"/>
              <a:ext cx="1033840" cy="387350"/>
            </a:xfrm>
            <a:prstGeom prst="rect">
              <a:avLst/>
            </a:prstGeom>
          </p:spPr>
          <p:txBody>
            <a:bodyPr lIns="50800" tIns="50800" rIns="50800" bIns="50800" rtlCol="0" anchor="ctr"/>
            <a:lstStyle/>
            <a:p>
              <a:pPr algn="ctr">
                <a:lnSpc>
                  <a:spcPts val="2530"/>
                </a:lnSpc>
              </a:pPr>
              <a:endParaRPr/>
            </a:p>
          </p:txBody>
        </p:sp>
      </p:grpSp>
      <p:sp>
        <p:nvSpPr>
          <p:cNvPr id="24" name="Freeform 24"/>
          <p:cNvSpPr/>
          <p:nvPr/>
        </p:nvSpPr>
        <p:spPr>
          <a:xfrm>
            <a:off x="9275133" y="3840890"/>
            <a:ext cx="8808696" cy="5197131"/>
          </a:xfrm>
          <a:custGeom>
            <a:avLst/>
            <a:gdLst/>
            <a:ahLst/>
            <a:cxnLst/>
            <a:rect l="l" t="t" r="r" b="b"/>
            <a:pathLst>
              <a:path w="8808696" h="5197131">
                <a:moveTo>
                  <a:pt x="0" y="0"/>
                </a:moveTo>
                <a:lnTo>
                  <a:pt x="8808696" y="0"/>
                </a:lnTo>
                <a:lnTo>
                  <a:pt x="8808696" y="5197131"/>
                </a:lnTo>
                <a:lnTo>
                  <a:pt x="0" y="5197131"/>
                </a:lnTo>
                <a:lnTo>
                  <a:pt x="0" y="0"/>
                </a:lnTo>
                <a:close/>
              </a:path>
            </a:pathLst>
          </a:custGeom>
          <a:blipFill>
            <a:blip r:embed="rId8"/>
            <a:stretch>
              <a:fillRect/>
            </a:stretch>
          </a:blipFill>
        </p:spPr>
        <p:txBody>
          <a:bodyPr/>
          <a:lstStyle/>
          <a:p>
            <a:endParaRPr lang="zh-TW" altLang="en-US"/>
          </a:p>
        </p:txBody>
      </p:sp>
      <p:sp>
        <p:nvSpPr>
          <p:cNvPr id="25" name="TextBox 25"/>
          <p:cNvSpPr txBox="1"/>
          <p:nvPr/>
        </p:nvSpPr>
        <p:spPr>
          <a:xfrm>
            <a:off x="875804" y="1053917"/>
            <a:ext cx="8731603"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CFStories</a:t>
            </a:r>
          </a:p>
        </p:txBody>
      </p:sp>
      <p:sp>
        <p:nvSpPr>
          <p:cNvPr id="26" name="TextBox 26"/>
          <p:cNvSpPr txBox="1"/>
          <p:nvPr/>
        </p:nvSpPr>
        <p:spPr>
          <a:xfrm>
            <a:off x="841607" y="4183345"/>
            <a:ext cx="7677524" cy="2966084"/>
          </a:xfrm>
          <a:prstGeom prst="rect">
            <a:avLst/>
          </a:prstGeom>
        </p:spPr>
        <p:txBody>
          <a:bodyPr lIns="0" tIns="0" rIns="0" bIns="0" rtlCol="0" anchor="t">
            <a:spAutoFit/>
          </a:bodyPr>
          <a:lstStyle/>
          <a:p>
            <a:pPr algn="l">
              <a:lnSpc>
                <a:spcPts val="2940"/>
              </a:lnSpc>
            </a:pPr>
            <a:r>
              <a:rPr lang="en-US" sz="2100" b="1">
                <a:solidFill>
                  <a:srgbClr val="737373"/>
                </a:solidFill>
                <a:latin typeface="Inter Bold"/>
                <a:ea typeface="Inter Bold"/>
                <a:cs typeface="Inter Bold"/>
                <a:sym typeface="Inter Bold"/>
              </a:rPr>
              <a:t>context of image classification: Semantic Counterfactuals for Accurate Picture (SCAP) explanations.</a:t>
            </a:r>
          </a:p>
          <a:p>
            <a:pPr algn="l">
              <a:lnSpc>
                <a:spcPts val="2940"/>
              </a:lnSpc>
            </a:pPr>
            <a:r>
              <a:rPr lang="en-US" sz="2100">
                <a:solidFill>
                  <a:srgbClr val="737373"/>
                </a:solidFill>
                <a:latin typeface="Inter"/>
                <a:ea typeface="Inter"/>
                <a:cs typeface="Inter"/>
                <a:sym typeface="Inter"/>
              </a:rPr>
              <a:t>Identify meaningful image segments whose alteration (Ex, blurring) changes the predicted class.</a:t>
            </a:r>
          </a:p>
          <a:p>
            <a:pPr marL="453396" lvl="1" indent="-226698" algn="l">
              <a:lnSpc>
                <a:spcPts val="2940"/>
              </a:lnSpc>
              <a:buFont typeface="Arial"/>
              <a:buChar char="•"/>
            </a:pPr>
            <a:r>
              <a:rPr lang="en-US" sz="2100">
                <a:solidFill>
                  <a:srgbClr val="737373"/>
                </a:solidFill>
                <a:latin typeface="Inter"/>
                <a:ea typeface="Inter"/>
                <a:cs typeface="Inter"/>
                <a:sym typeface="Inter"/>
              </a:rPr>
              <a:t>then use of</a:t>
            </a:r>
            <a:r>
              <a:rPr lang="en-US" sz="2100" b="1">
                <a:solidFill>
                  <a:srgbClr val="737373"/>
                </a:solidFill>
                <a:latin typeface="Inter Bold"/>
                <a:ea typeface="Inter Bold"/>
                <a:cs typeface="Inter Bold"/>
                <a:sym typeface="Inter Bold"/>
              </a:rPr>
              <a:t> Multi-modal LLMs such as GPT-4o. </a:t>
            </a:r>
          </a:p>
          <a:p>
            <a:pPr marL="453396" lvl="1" indent="-226698" algn="l">
              <a:lnSpc>
                <a:spcPts val="2940"/>
              </a:lnSpc>
              <a:buFont typeface="Arial"/>
              <a:buChar char="•"/>
            </a:pPr>
            <a:r>
              <a:rPr lang="en-US" sz="2100" b="1">
                <a:solidFill>
                  <a:srgbClr val="737373"/>
                </a:solidFill>
                <a:latin typeface="Inter Bold"/>
                <a:ea typeface="Inter Bold"/>
                <a:cs typeface="Inter Bold"/>
                <a:sym typeface="Inter Bold"/>
              </a:rPr>
              <a:t>Focus on misclassified images,</a:t>
            </a:r>
            <a:r>
              <a:rPr lang="en-US" sz="2100">
                <a:solidFill>
                  <a:srgbClr val="737373"/>
                </a:solidFill>
                <a:latin typeface="Inter"/>
                <a:ea typeface="Inter"/>
                <a:cs typeface="Inter"/>
                <a:sym typeface="Inter"/>
              </a:rPr>
              <a:t> since counterfactuals for correct predictions are trivial.</a:t>
            </a:r>
          </a:p>
          <a:p>
            <a:pPr algn="l">
              <a:lnSpc>
                <a:spcPts val="2940"/>
              </a:lnSpc>
            </a:pPr>
            <a:endParaRPr lang="en-US" sz="2100">
              <a:solidFill>
                <a:srgbClr val="737373"/>
              </a:solidFill>
              <a:latin typeface="Inter"/>
              <a:ea typeface="Inter"/>
              <a:cs typeface="Inter"/>
              <a:sym typeface="Inter"/>
            </a:endParaRPr>
          </a:p>
        </p:txBody>
      </p:sp>
      <p:sp>
        <p:nvSpPr>
          <p:cNvPr id="27" name="TextBox 27"/>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11</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502246" y="9216842"/>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75804" y="526405"/>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TextBox 5"/>
          <p:cNvSpPr txBox="1"/>
          <p:nvPr/>
        </p:nvSpPr>
        <p:spPr>
          <a:xfrm>
            <a:off x="875804" y="1053917"/>
            <a:ext cx="8731603"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SHAPStories</a:t>
            </a:r>
          </a:p>
        </p:txBody>
      </p:sp>
      <p:sp>
        <p:nvSpPr>
          <p:cNvPr id="6" name="TextBox 6"/>
          <p:cNvSpPr txBox="1"/>
          <p:nvPr/>
        </p:nvSpPr>
        <p:spPr>
          <a:xfrm>
            <a:off x="1028700" y="3449405"/>
            <a:ext cx="14016597" cy="2594609"/>
          </a:xfrm>
          <a:prstGeom prst="rect">
            <a:avLst/>
          </a:prstGeom>
        </p:spPr>
        <p:txBody>
          <a:bodyPr lIns="0" tIns="0" rIns="0" bIns="0" rtlCol="0" anchor="t">
            <a:spAutoFit/>
          </a:bodyPr>
          <a:lstStyle/>
          <a:p>
            <a:pPr algn="l">
              <a:lnSpc>
                <a:spcPts val="2940"/>
              </a:lnSpc>
            </a:pPr>
            <a:r>
              <a:rPr lang="en-US" sz="2100" b="1">
                <a:solidFill>
                  <a:srgbClr val="737373"/>
                </a:solidFill>
                <a:latin typeface="Inter Bold"/>
                <a:ea typeface="Inter Bold"/>
                <a:cs typeface="Inter Bold"/>
                <a:sym typeface="Inter Bold"/>
              </a:rPr>
              <a:t>context of tabular classification: </a:t>
            </a:r>
          </a:p>
          <a:p>
            <a:pPr marL="453396" lvl="1" indent="-226698" algn="l">
              <a:lnSpc>
                <a:spcPts val="2940"/>
              </a:lnSpc>
              <a:buFont typeface="Arial"/>
              <a:buChar char="•"/>
            </a:pPr>
            <a:r>
              <a:rPr lang="en-US" sz="2100">
                <a:solidFill>
                  <a:srgbClr val="737373"/>
                </a:solidFill>
                <a:latin typeface="Inter"/>
                <a:ea typeface="Inter"/>
                <a:cs typeface="Inter"/>
                <a:sym typeface="Inter"/>
              </a:rPr>
              <a:t>Describe the </a:t>
            </a:r>
            <a:r>
              <a:rPr lang="en-US" sz="2100" b="1">
                <a:solidFill>
                  <a:srgbClr val="737373"/>
                </a:solidFill>
                <a:latin typeface="Inter Bold"/>
                <a:ea typeface="Inter Bold"/>
                <a:cs typeface="Inter Bold"/>
                <a:sym typeface="Inter Bold"/>
              </a:rPr>
              <a:t>dataset, target variable, and features</a:t>
            </a:r>
            <a:r>
              <a:rPr lang="en-US" sz="2100">
                <a:solidFill>
                  <a:srgbClr val="737373"/>
                </a:solidFill>
                <a:latin typeface="Inter"/>
                <a:ea typeface="Inter"/>
                <a:cs typeface="Inter"/>
                <a:sym typeface="Inter"/>
              </a:rPr>
              <a:t>.</a:t>
            </a:r>
          </a:p>
          <a:p>
            <a:pPr marL="453396" lvl="1" indent="-226698" algn="l">
              <a:lnSpc>
                <a:spcPts val="2940"/>
              </a:lnSpc>
              <a:buFont typeface="Arial"/>
              <a:buChar char="•"/>
            </a:pPr>
            <a:r>
              <a:rPr lang="en-US" sz="2100">
                <a:solidFill>
                  <a:srgbClr val="737373"/>
                </a:solidFill>
                <a:latin typeface="Inter"/>
                <a:ea typeface="Inter"/>
                <a:cs typeface="Inter"/>
                <a:sym typeface="Inter"/>
              </a:rPr>
              <a:t>Explain the </a:t>
            </a:r>
            <a:r>
              <a:rPr lang="en-US" sz="2100" b="1">
                <a:solidFill>
                  <a:srgbClr val="737373"/>
                </a:solidFill>
                <a:latin typeface="Inter Bold"/>
                <a:ea typeface="Inter Bold"/>
                <a:cs typeface="Inter Bold"/>
                <a:sym typeface="Inter Bold"/>
              </a:rPr>
              <a:t>SHAP prediction</a:t>
            </a:r>
            <a:r>
              <a:rPr lang="en-US" sz="2100">
                <a:solidFill>
                  <a:srgbClr val="737373"/>
                </a:solidFill>
                <a:latin typeface="Inter"/>
                <a:ea typeface="Inter"/>
                <a:cs typeface="Inter"/>
                <a:sym typeface="Inter"/>
              </a:rPr>
              <a:t>, including the predicted class and correctness.</a:t>
            </a:r>
          </a:p>
          <a:p>
            <a:pPr marL="453396" lvl="1" indent="-226698" algn="l">
              <a:lnSpc>
                <a:spcPts val="2940"/>
              </a:lnSpc>
              <a:buFont typeface="Arial"/>
              <a:buChar char="•"/>
            </a:pPr>
            <a:r>
              <a:rPr lang="en-US" sz="2100">
                <a:solidFill>
                  <a:srgbClr val="737373"/>
                </a:solidFill>
                <a:latin typeface="Inter"/>
                <a:ea typeface="Inter"/>
                <a:cs typeface="Inter"/>
                <a:sym typeface="Inter"/>
              </a:rPr>
              <a:t>Instruct the </a:t>
            </a:r>
            <a:r>
              <a:rPr lang="en-US" sz="2100" b="1">
                <a:solidFill>
                  <a:srgbClr val="737373"/>
                </a:solidFill>
                <a:latin typeface="Inter Bold"/>
                <a:ea typeface="Inter Bold"/>
                <a:cs typeface="Inter Bold"/>
                <a:sym typeface="Inter Bold"/>
              </a:rPr>
              <a:t>LLM</a:t>
            </a:r>
            <a:r>
              <a:rPr lang="en-US" sz="2100">
                <a:solidFill>
                  <a:srgbClr val="737373"/>
                </a:solidFill>
                <a:latin typeface="Inter"/>
                <a:ea typeface="Inter"/>
                <a:cs typeface="Inter"/>
                <a:sym typeface="Inter"/>
              </a:rPr>
              <a:t> to generate a brief story using only the most important (highest SHAP) features.</a:t>
            </a:r>
          </a:p>
          <a:p>
            <a:pPr marL="453396" lvl="1" indent="-226698" algn="l">
              <a:lnSpc>
                <a:spcPts val="2940"/>
              </a:lnSpc>
              <a:buFont typeface="Arial"/>
              <a:buChar char="•"/>
            </a:pPr>
            <a:r>
              <a:rPr lang="en-US" sz="2100">
                <a:solidFill>
                  <a:srgbClr val="737373"/>
                </a:solidFill>
                <a:latin typeface="Inter"/>
                <a:ea typeface="Inter"/>
                <a:cs typeface="Inter"/>
                <a:sym typeface="Inter"/>
              </a:rPr>
              <a:t>Limit the explanation to </a:t>
            </a:r>
            <a:r>
              <a:rPr lang="en-US" sz="2100" b="1">
                <a:solidFill>
                  <a:srgbClr val="737373"/>
                </a:solidFill>
                <a:latin typeface="Inter Bold"/>
                <a:ea typeface="Inter Bold"/>
                <a:cs typeface="Inter Bold"/>
                <a:sym typeface="Inter Bold"/>
              </a:rPr>
              <a:t>eight sentences, end with a summary</a:t>
            </a:r>
            <a:r>
              <a:rPr lang="en-US" sz="2100">
                <a:solidFill>
                  <a:srgbClr val="737373"/>
                </a:solidFill>
                <a:latin typeface="Inter"/>
                <a:ea typeface="Inter"/>
                <a:cs typeface="Inter"/>
                <a:sym typeface="Inter"/>
              </a:rPr>
              <a:t>, and include a table of feature values and SHAP scores.</a:t>
            </a:r>
          </a:p>
          <a:p>
            <a:pPr algn="l">
              <a:lnSpc>
                <a:spcPts val="2940"/>
              </a:lnSpc>
            </a:pPr>
            <a:endParaRPr lang="en-US" sz="2100">
              <a:solidFill>
                <a:srgbClr val="737373"/>
              </a:solidFill>
              <a:latin typeface="Inter"/>
              <a:ea typeface="Inter"/>
              <a:cs typeface="Inter"/>
              <a:sym typeface="Inter"/>
            </a:endParaRPr>
          </a:p>
        </p:txBody>
      </p:sp>
      <p:grpSp>
        <p:nvGrpSpPr>
          <p:cNvPr id="7" name="Group 7"/>
          <p:cNvGrpSpPr/>
          <p:nvPr/>
        </p:nvGrpSpPr>
        <p:grpSpPr>
          <a:xfrm>
            <a:off x="9326407" y="2462865"/>
            <a:ext cx="3761243" cy="545968"/>
            <a:chOff x="0" y="0"/>
            <a:chExt cx="5014991" cy="727957"/>
          </a:xfrm>
        </p:grpSpPr>
        <p:grpSp>
          <p:nvGrpSpPr>
            <p:cNvPr id="8" name="Group 8"/>
            <p:cNvGrpSpPr/>
            <p:nvPr/>
          </p:nvGrpSpPr>
          <p:grpSpPr>
            <a:xfrm>
              <a:off x="0" y="0"/>
              <a:ext cx="5014991" cy="727957"/>
              <a:chOff x="0" y="0"/>
              <a:chExt cx="990616" cy="143794"/>
            </a:xfrm>
          </p:grpSpPr>
          <p:sp>
            <p:nvSpPr>
              <p:cNvPr id="9" name="Freeform 9"/>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0" name="TextBox 10"/>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sp>
          <p:nvSpPr>
            <p:cNvPr id="11" name="TextBox 11"/>
            <p:cNvSpPr txBox="1"/>
            <p:nvPr/>
          </p:nvSpPr>
          <p:spPr>
            <a:xfrm>
              <a:off x="205941" y="163759"/>
              <a:ext cx="4603109"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SHAPstories</a:t>
              </a:r>
            </a:p>
          </p:txBody>
        </p:sp>
      </p:grpSp>
      <p:grpSp>
        <p:nvGrpSpPr>
          <p:cNvPr id="12" name="Group 12"/>
          <p:cNvGrpSpPr/>
          <p:nvPr/>
        </p:nvGrpSpPr>
        <p:grpSpPr>
          <a:xfrm>
            <a:off x="875804" y="2462865"/>
            <a:ext cx="3057712" cy="545968"/>
            <a:chOff x="0" y="0"/>
            <a:chExt cx="4076949" cy="727957"/>
          </a:xfrm>
        </p:grpSpPr>
        <p:grpSp>
          <p:nvGrpSpPr>
            <p:cNvPr id="13" name="Group 13"/>
            <p:cNvGrpSpPr/>
            <p:nvPr/>
          </p:nvGrpSpPr>
          <p:grpSpPr>
            <a:xfrm>
              <a:off x="0" y="0"/>
              <a:ext cx="4076949" cy="727957"/>
              <a:chOff x="0" y="0"/>
              <a:chExt cx="805323" cy="143794"/>
            </a:xfrm>
          </p:grpSpPr>
          <p:sp>
            <p:nvSpPr>
              <p:cNvPr id="14" name="Freeform 14"/>
              <p:cNvSpPr/>
              <p:nvPr/>
            </p:nvSpPr>
            <p:spPr>
              <a:xfrm>
                <a:off x="0" y="0"/>
                <a:ext cx="805323" cy="143794"/>
              </a:xfrm>
              <a:custGeom>
                <a:avLst/>
                <a:gdLst/>
                <a:ahLst/>
                <a:cxnLst/>
                <a:rect l="l" t="t" r="r" b="b"/>
                <a:pathLst>
                  <a:path w="805323" h="143794">
                    <a:moveTo>
                      <a:pt x="71897" y="0"/>
                    </a:moveTo>
                    <a:lnTo>
                      <a:pt x="733426" y="0"/>
                    </a:lnTo>
                    <a:cubicBezTo>
                      <a:pt x="752495" y="0"/>
                      <a:pt x="770782" y="7575"/>
                      <a:pt x="784265" y="21058"/>
                    </a:cubicBezTo>
                    <a:cubicBezTo>
                      <a:pt x="797748" y="34541"/>
                      <a:pt x="805323" y="52829"/>
                      <a:pt x="805323" y="71897"/>
                    </a:cubicBezTo>
                    <a:lnTo>
                      <a:pt x="805323" y="71897"/>
                    </a:lnTo>
                    <a:cubicBezTo>
                      <a:pt x="805323" y="111605"/>
                      <a:pt x="773134" y="143794"/>
                      <a:pt x="733426"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5" name="TextBox 15"/>
              <p:cNvSpPr txBox="1"/>
              <p:nvPr/>
            </p:nvSpPr>
            <p:spPr>
              <a:xfrm>
                <a:off x="0" y="19050"/>
                <a:ext cx="805323" cy="124744"/>
              </a:xfrm>
              <a:prstGeom prst="rect">
                <a:avLst/>
              </a:prstGeom>
            </p:spPr>
            <p:txBody>
              <a:bodyPr lIns="50800" tIns="50800" rIns="50800" bIns="50800" rtlCol="0" anchor="ctr"/>
              <a:lstStyle/>
              <a:p>
                <a:pPr algn="ctr">
                  <a:lnSpc>
                    <a:spcPts val="2530"/>
                  </a:lnSpc>
                </a:pPr>
                <a:endParaRPr/>
              </a:p>
            </p:txBody>
          </p:sp>
        </p:grpSp>
        <p:sp>
          <p:nvSpPr>
            <p:cNvPr id="16" name="TextBox 16"/>
            <p:cNvSpPr txBox="1"/>
            <p:nvPr/>
          </p:nvSpPr>
          <p:spPr>
            <a:xfrm>
              <a:off x="498301" y="144251"/>
              <a:ext cx="3080347"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SHAP value</a:t>
              </a:r>
            </a:p>
          </p:txBody>
        </p:sp>
      </p:grpSp>
      <p:grpSp>
        <p:nvGrpSpPr>
          <p:cNvPr id="17" name="Group 17"/>
          <p:cNvGrpSpPr/>
          <p:nvPr/>
        </p:nvGrpSpPr>
        <p:grpSpPr>
          <a:xfrm>
            <a:off x="4658136" y="2462865"/>
            <a:ext cx="3761243" cy="545968"/>
            <a:chOff x="0" y="0"/>
            <a:chExt cx="5014991" cy="727957"/>
          </a:xfrm>
        </p:grpSpPr>
        <p:grpSp>
          <p:nvGrpSpPr>
            <p:cNvPr id="18" name="Group 18"/>
            <p:cNvGrpSpPr/>
            <p:nvPr/>
          </p:nvGrpSpPr>
          <p:grpSpPr>
            <a:xfrm>
              <a:off x="0" y="0"/>
              <a:ext cx="5014991" cy="727957"/>
              <a:chOff x="0" y="0"/>
              <a:chExt cx="990616" cy="143794"/>
            </a:xfrm>
          </p:grpSpPr>
          <p:sp>
            <p:nvSpPr>
              <p:cNvPr id="19" name="Freeform 19"/>
              <p:cNvSpPr/>
              <p:nvPr/>
            </p:nvSpPr>
            <p:spPr>
              <a:xfrm>
                <a:off x="0" y="0"/>
                <a:ext cx="990616" cy="143794"/>
              </a:xfrm>
              <a:custGeom>
                <a:avLst/>
                <a:gdLst/>
                <a:ahLst/>
                <a:cxnLst/>
                <a:rect l="l" t="t" r="r" b="b"/>
                <a:pathLst>
                  <a:path w="990616" h="143794">
                    <a:moveTo>
                      <a:pt x="71897" y="0"/>
                    </a:moveTo>
                    <a:lnTo>
                      <a:pt x="918719" y="0"/>
                    </a:lnTo>
                    <a:cubicBezTo>
                      <a:pt x="958426" y="0"/>
                      <a:pt x="990616" y="32189"/>
                      <a:pt x="990616" y="71897"/>
                    </a:cubicBezTo>
                    <a:lnTo>
                      <a:pt x="990616" y="71897"/>
                    </a:lnTo>
                    <a:cubicBezTo>
                      <a:pt x="990616" y="90965"/>
                      <a:pt x="983041" y="109253"/>
                      <a:pt x="969557" y="122736"/>
                    </a:cubicBezTo>
                    <a:cubicBezTo>
                      <a:pt x="956074" y="136219"/>
                      <a:pt x="937787" y="143794"/>
                      <a:pt x="918719" y="143794"/>
                    </a:cubicBezTo>
                    <a:lnTo>
                      <a:pt x="71897" y="143794"/>
                    </a:lnTo>
                    <a:cubicBezTo>
                      <a:pt x="32189" y="143794"/>
                      <a:pt x="0" y="111605"/>
                      <a:pt x="0" y="71897"/>
                    </a:cubicBezTo>
                    <a:lnTo>
                      <a:pt x="0" y="71897"/>
                    </a:lnTo>
                    <a:cubicBezTo>
                      <a:pt x="0" y="32189"/>
                      <a:pt x="32189" y="0"/>
                      <a:pt x="7189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20" name="TextBox 20"/>
              <p:cNvSpPr txBox="1"/>
              <p:nvPr/>
            </p:nvSpPr>
            <p:spPr>
              <a:xfrm>
                <a:off x="0" y="19050"/>
                <a:ext cx="990616" cy="124744"/>
              </a:xfrm>
              <a:prstGeom prst="rect">
                <a:avLst/>
              </a:prstGeom>
            </p:spPr>
            <p:txBody>
              <a:bodyPr lIns="50800" tIns="50800" rIns="50800" bIns="50800" rtlCol="0" anchor="ctr"/>
              <a:lstStyle/>
              <a:p>
                <a:pPr algn="ctr">
                  <a:lnSpc>
                    <a:spcPts val="2530"/>
                  </a:lnSpc>
                </a:pPr>
                <a:endParaRPr/>
              </a:p>
            </p:txBody>
          </p:sp>
        </p:grpSp>
        <p:sp>
          <p:nvSpPr>
            <p:cNvPr id="21" name="TextBox 21"/>
            <p:cNvSpPr txBox="1"/>
            <p:nvPr/>
          </p:nvSpPr>
          <p:spPr>
            <a:xfrm>
              <a:off x="205941" y="163759"/>
              <a:ext cx="4603109" cy="438997"/>
            </a:xfrm>
            <a:prstGeom prst="rect">
              <a:avLst/>
            </a:prstGeom>
          </p:spPr>
          <p:txBody>
            <a:bodyPr lIns="0" tIns="0" rIns="0" bIns="0" rtlCol="0" anchor="t">
              <a:spAutoFit/>
            </a:bodyPr>
            <a:lstStyle/>
            <a:p>
              <a:pPr algn="ctr">
                <a:lnSpc>
                  <a:spcPts val="2530"/>
                </a:lnSpc>
              </a:pPr>
              <a:r>
                <a:rPr lang="en-US" sz="2300">
                  <a:solidFill>
                    <a:srgbClr val="000000"/>
                  </a:solidFill>
                  <a:latin typeface="Inter"/>
                  <a:ea typeface="Inter"/>
                  <a:cs typeface="Inter"/>
                  <a:sym typeface="Inter"/>
                </a:rPr>
                <a:t>LLMs</a:t>
              </a:r>
            </a:p>
          </p:txBody>
        </p:sp>
      </p:grpSp>
      <p:pic>
        <p:nvPicPr>
          <p:cNvPr id="22" name="Picture 22"/>
          <p:cNvPicPr>
            <a:picLocks noChangeAspect="1"/>
          </p:cNvPicPr>
          <p:nvPr/>
        </p:nvPicPr>
        <p:blipFill>
          <a:blip r:embed="rId7"/>
          <a:stretch>
            <a:fillRect/>
          </a:stretch>
        </p:blipFill>
        <p:spPr>
          <a:xfrm>
            <a:off x="4016858" y="2451923"/>
            <a:ext cx="557936" cy="567852"/>
          </a:xfrm>
          <a:prstGeom prst="rect">
            <a:avLst/>
          </a:prstGeom>
        </p:spPr>
      </p:pic>
      <p:grpSp>
        <p:nvGrpSpPr>
          <p:cNvPr id="23" name="Group 23"/>
          <p:cNvGrpSpPr/>
          <p:nvPr/>
        </p:nvGrpSpPr>
        <p:grpSpPr>
          <a:xfrm>
            <a:off x="8552730" y="2499244"/>
            <a:ext cx="696643" cy="498689"/>
            <a:chOff x="0" y="0"/>
            <a:chExt cx="1135440" cy="812800"/>
          </a:xfrm>
        </p:grpSpPr>
        <p:sp>
          <p:nvSpPr>
            <p:cNvPr id="24" name="Freeform 24"/>
            <p:cNvSpPr/>
            <p:nvPr/>
          </p:nvSpPr>
          <p:spPr>
            <a:xfrm>
              <a:off x="0" y="0"/>
              <a:ext cx="1135440" cy="812800"/>
            </a:xfrm>
            <a:custGeom>
              <a:avLst/>
              <a:gdLst/>
              <a:ahLst/>
              <a:cxnLst/>
              <a:rect l="l" t="t" r="r" b="b"/>
              <a:pathLst>
                <a:path w="1135440" h="812800">
                  <a:moveTo>
                    <a:pt x="1135440" y="406400"/>
                  </a:moveTo>
                  <a:lnTo>
                    <a:pt x="729040" y="0"/>
                  </a:lnTo>
                  <a:lnTo>
                    <a:pt x="729040" y="203200"/>
                  </a:lnTo>
                  <a:lnTo>
                    <a:pt x="0" y="203200"/>
                  </a:lnTo>
                  <a:lnTo>
                    <a:pt x="0" y="609600"/>
                  </a:lnTo>
                  <a:lnTo>
                    <a:pt x="729040" y="609600"/>
                  </a:lnTo>
                  <a:lnTo>
                    <a:pt x="729040" y="812800"/>
                  </a:lnTo>
                  <a:lnTo>
                    <a:pt x="1135440" y="406400"/>
                  </a:lnTo>
                  <a:close/>
                </a:path>
              </a:pathLst>
            </a:custGeom>
            <a:solidFill>
              <a:srgbClr val="000000"/>
            </a:solidFill>
          </p:spPr>
          <p:txBody>
            <a:bodyPr/>
            <a:lstStyle/>
            <a:p>
              <a:endParaRPr lang="zh-TW" altLang="en-US"/>
            </a:p>
          </p:txBody>
        </p:sp>
        <p:sp>
          <p:nvSpPr>
            <p:cNvPr id="25" name="TextBox 25"/>
            <p:cNvSpPr txBox="1"/>
            <p:nvPr/>
          </p:nvSpPr>
          <p:spPr>
            <a:xfrm>
              <a:off x="0" y="222250"/>
              <a:ext cx="1033840" cy="387350"/>
            </a:xfrm>
            <a:prstGeom prst="rect">
              <a:avLst/>
            </a:prstGeom>
          </p:spPr>
          <p:txBody>
            <a:bodyPr lIns="50800" tIns="50800" rIns="50800" bIns="50800" rtlCol="0" anchor="ctr"/>
            <a:lstStyle/>
            <a:p>
              <a:pPr algn="ctr">
                <a:lnSpc>
                  <a:spcPts val="2530"/>
                </a:lnSpc>
              </a:pPr>
              <a:endParaRPr/>
            </a:p>
          </p:txBody>
        </p:sp>
      </p:grpSp>
      <p:sp>
        <p:nvSpPr>
          <p:cNvPr id="26" name="TextBox 26"/>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12</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502246" y="9216842"/>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75804" y="526405"/>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TextBox 5"/>
          <p:cNvSpPr txBox="1"/>
          <p:nvPr/>
        </p:nvSpPr>
        <p:spPr>
          <a:xfrm>
            <a:off x="875804" y="1053917"/>
            <a:ext cx="11354411"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Assesment: Evaluation by Humans</a:t>
            </a:r>
          </a:p>
        </p:txBody>
      </p:sp>
      <p:sp>
        <p:nvSpPr>
          <p:cNvPr id="6" name="TextBox 6"/>
          <p:cNvSpPr txBox="1"/>
          <p:nvPr/>
        </p:nvSpPr>
        <p:spPr>
          <a:xfrm>
            <a:off x="1028700" y="3449405"/>
            <a:ext cx="7176338" cy="2966084"/>
          </a:xfrm>
          <a:prstGeom prst="rect">
            <a:avLst/>
          </a:prstGeom>
        </p:spPr>
        <p:txBody>
          <a:bodyPr lIns="0" tIns="0" rIns="0" bIns="0" rtlCol="0" anchor="t">
            <a:spAutoFit/>
          </a:bodyPr>
          <a:lstStyle/>
          <a:p>
            <a:pPr algn="l">
              <a:lnSpc>
                <a:spcPts val="2940"/>
              </a:lnSpc>
            </a:pPr>
            <a:r>
              <a:rPr lang="en-US" sz="2100" b="1">
                <a:solidFill>
                  <a:srgbClr val="737373"/>
                </a:solidFill>
                <a:latin typeface="Inter Bold"/>
                <a:ea typeface="Inter Bold"/>
                <a:cs typeface="Inter Bold"/>
                <a:sym typeface="Inter Bold"/>
              </a:rPr>
              <a:t>Four surveys: </a:t>
            </a:r>
          </a:p>
          <a:p>
            <a:pPr marL="453396" lvl="1" indent="-226698" algn="l">
              <a:lnSpc>
                <a:spcPts val="2940"/>
              </a:lnSpc>
              <a:buFont typeface="Arial"/>
              <a:buChar char="•"/>
            </a:pPr>
            <a:r>
              <a:rPr lang="en-US" sz="2100">
                <a:solidFill>
                  <a:srgbClr val="737373"/>
                </a:solidFill>
                <a:latin typeface="Inter"/>
                <a:ea typeface="Inter"/>
                <a:cs typeface="Inter"/>
                <a:sym typeface="Inter"/>
              </a:rPr>
              <a:t>differing in the target audience (lay users versus data science experts), </a:t>
            </a:r>
          </a:p>
          <a:p>
            <a:pPr marL="453396" lvl="1" indent="-226698" algn="l">
              <a:lnSpc>
                <a:spcPts val="2940"/>
              </a:lnSpc>
              <a:buFont typeface="Arial"/>
              <a:buChar char="•"/>
            </a:pPr>
            <a:r>
              <a:rPr lang="en-US" sz="2100">
                <a:solidFill>
                  <a:srgbClr val="737373"/>
                </a:solidFill>
                <a:latin typeface="Inter"/>
                <a:ea typeface="Inter"/>
                <a:cs typeface="Inter"/>
                <a:sym typeface="Inter"/>
              </a:rPr>
              <a:t>XAIstory (SHAPstory vs CFstory), and </a:t>
            </a:r>
          </a:p>
          <a:p>
            <a:pPr marL="453396" lvl="1" indent="-226698" algn="l">
              <a:lnSpc>
                <a:spcPts val="2940"/>
              </a:lnSpc>
              <a:buFont typeface="Arial"/>
              <a:buChar char="•"/>
            </a:pPr>
            <a:r>
              <a:rPr lang="en-US" sz="2100">
                <a:solidFill>
                  <a:srgbClr val="737373"/>
                </a:solidFill>
                <a:latin typeface="Inter"/>
                <a:ea typeface="Inter"/>
                <a:cs typeface="Inter"/>
                <a:sym typeface="Inter"/>
              </a:rPr>
              <a:t>evaluation (user experience vs decision making and understanding)</a:t>
            </a:r>
          </a:p>
          <a:p>
            <a:pPr marL="453396" lvl="1" indent="-226698" algn="l">
              <a:lnSpc>
                <a:spcPts val="2940"/>
              </a:lnSpc>
              <a:buFont typeface="Arial"/>
              <a:buChar char="•"/>
            </a:pPr>
            <a:r>
              <a:rPr lang="en-US" sz="2100">
                <a:solidFill>
                  <a:srgbClr val="737373"/>
                </a:solidFill>
                <a:latin typeface="Inter"/>
                <a:ea typeface="Inter"/>
                <a:cs typeface="Inter"/>
                <a:sym typeface="Inter"/>
              </a:rPr>
              <a:t>Technical Plot vs. Narrative(SHAPplot vs SHAPstory)</a:t>
            </a:r>
          </a:p>
          <a:p>
            <a:pPr algn="l">
              <a:lnSpc>
                <a:spcPts val="2940"/>
              </a:lnSpc>
            </a:pPr>
            <a:endParaRPr lang="en-US" sz="2100">
              <a:solidFill>
                <a:srgbClr val="737373"/>
              </a:solidFill>
              <a:latin typeface="Inter"/>
              <a:ea typeface="Inter"/>
              <a:cs typeface="Inter"/>
              <a:sym typeface="Inter"/>
            </a:endParaRPr>
          </a:p>
        </p:txBody>
      </p:sp>
      <p:sp>
        <p:nvSpPr>
          <p:cNvPr id="7" name="TextBox 7"/>
          <p:cNvSpPr txBox="1"/>
          <p:nvPr/>
        </p:nvSpPr>
        <p:spPr>
          <a:xfrm>
            <a:off x="9144000" y="3485083"/>
            <a:ext cx="6980561" cy="2966084"/>
          </a:xfrm>
          <a:prstGeom prst="rect">
            <a:avLst/>
          </a:prstGeom>
        </p:spPr>
        <p:txBody>
          <a:bodyPr lIns="0" tIns="0" rIns="0" bIns="0" rtlCol="0" anchor="t">
            <a:spAutoFit/>
          </a:bodyPr>
          <a:lstStyle/>
          <a:p>
            <a:pPr algn="l">
              <a:lnSpc>
                <a:spcPts val="2940"/>
              </a:lnSpc>
            </a:pPr>
            <a:r>
              <a:rPr lang="en-US" sz="2100" b="1">
                <a:solidFill>
                  <a:srgbClr val="737373"/>
                </a:solidFill>
                <a:latin typeface="Inter Bold"/>
                <a:ea typeface="Inter Bold"/>
                <a:cs typeface="Inter Bold"/>
                <a:sym typeface="Inter Bold"/>
              </a:rPr>
              <a:t>Four dimensions: </a:t>
            </a:r>
          </a:p>
          <a:p>
            <a:pPr marL="453396" lvl="1" indent="-226698" algn="l">
              <a:lnSpc>
                <a:spcPts val="2940"/>
              </a:lnSpc>
              <a:buFont typeface="Arial"/>
              <a:buChar char="•"/>
            </a:pPr>
            <a:r>
              <a:rPr lang="en-US" sz="2100" b="1">
                <a:solidFill>
                  <a:srgbClr val="737373"/>
                </a:solidFill>
                <a:latin typeface="Inter Bold"/>
                <a:ea typeface="Inter Bold"/>
                <a:cs typeface="Inter Bold"/>
                <a:sym typeface="Inter Bold"/>
              </a:rPr>
              <a:t>Ease:</a:t>
            </a:r>
            <a:r>
              <a:rPr lang="en-US" sz="2100">
                <a:solidFill>
                  <a:srgbClr val="737373"/>
                </a:solidFill>
                <a:latin typeface="Inter"/>
                <a:ea typeface="Inter"/>
                <a:cs typeface="Inter"/>
                <a:sym typeface="Inter"/>
              </a:rPr>
              <a:t> The narratives were easy to understand.</a:t>
            </a:r>
          </a:p>
          <a:p>
            <a:pPr marL="453396" lvl="1" indent="-226698" algn="l">
              <a:lnSpc>
                <a:spcPts val="2940"/>
              </a:lnSpc>
              <a:buFont typeface="Arial"/>
              <a:buChar char="•"/>
            </a:pPr>
            <a:r>
              <a:rPr lang="en-US" sz="2100" b="1">
                <a:solidFill>
                  <a:srgbClr val="737373"/>
                </a:solidFill>
                <a:latin typeface="Inter Bold"/>
                <a:ea typeface="Inter Bold"/>
                <a:cs typeface="Inter Bold"/>
                <a:sym typeface="Inter Bold"/>
              </a:rPr>
              <a:t>Confidence:</a:t>
            </a:r>
            <a:r>
              <a:rPr lang="en-US" sz="2100">
                <a:solidFill>
                  <a:srgbClr val="737373"/>
                </a:solidFill>
                <a:latin typeface="Inter"/>
                <a:ea typeface="Inter"/>
                <a:cs typeface="Inter"/>
                <a:sym typeface="Inter"/>
              </a:rPr>
              <a:t> The narratives increased confidence in understanding the prediction.</a:t>
            </a:r>
          </a:p>
          <a:p>
            <a:pPr marL="453396" lvl="1" indent="-226698" algn="l">
              <a:lnSpc>
                <a:spcPts val="2940"/>
              </a:lnSpc>
              <a:buFont typeface="Arial"/>
              <a:buChar char="•"/>
            </a:pPr>
            <a:r>
              <a:rPr lang="en-US" sz="2100" b="1">
                <a:solidFill>
                  <a:srgbClr val="737373"/>
                </a:solidFill>
                <a:latin typeface="Inter Bold"/>
                <a:ea typeface="Inter Bold"/>
                <a:cs typeface="Inter Bold"/>
                <a:sym typeface="Inter Bold"/>
              </a:rPr>
              <a:t>Speed:</a:t>
            </a:r>
            <a:r>
              <a:rPr lang="en-US" sz="2100">
                <a:solidFill>
                  <a:srgbClr val="737373"/>
                </a:solidFill>
                <a:latin typeface="Inter"/>
                <a:ea typeface="Inter"/>
                <a:cs typeface="Inter"/>
                <a:sym typeface="Inter"/>
              </a:rPr>
              <a:t> The narratives enabled faster understanding of the prediction.</a:t>
            </a:r>
          </a:p>
          <a:p>
            <a:pPr marL="453396" lvl="1" indent="-226698" algn="l">
              <a:lnSpc>
                <a:spcPts val="2940"/>
              </a:lnSpc>
              <a:buFont typeface="Arial"/>
              <a:buChar char="•"/>
            </a:pPr>
            <a:r>
              <a:rPr lang="en-US" sz="2100" b="1">
                <a:solidFill>
                  <a:srgbClr val="737373"/>
                </a:solidFill>
                <a:latin typeface="Inter Bold"/>
                <a:ea typeface="Inter Bold"/>
                <a:cs typeface="Inter Bold"/>
                <a:sym typeface="Inter Bold"/>
              </a:rPr>
              <a:t>Usefulness:</a:t>
            </a:r>
            <a:r>
              <a:rPr lang="en-US" sz="2100">
                <a:solidFill>
                  <a:srgbClr val="737373"/>
                </a:solidFill>
                <a:latin typeface="Inter"/>
                <a:ea typeface="Inter"/>
                <a:cs typeface="Inter"/>
                <a:sym typeface="Inter"/>
              </a:rPr>
              <a:t> The narratives are a valuable and desirable addition to AI models.</a:t>
            </a:r>
          </a:p>
        </p:txBody>
      </p:sp>
      <p:sp>
        <p:nvSpPr>
          <p:cNvPr id="8" name="TextBox 8"/>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13</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502246" y="9216842"/>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75804" y="526405"/>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Freeform 5"/>
          <p:cNvSpPr/>
          <p:nvPr/>
        </p:nvSpPr>
        <p:spPr>
          <a:xfrm>
            <a:off x="8480520" y="2660893"/>
            <a:ext cx="9461644" cy="3725578"/>
          </a:xfrm>
          <a:custGeom>
            <a:avLst/>
            <a:gdLst/>
            <a:ahLst/>
            <a:cxnLst/>
            <a:rect l="l" t="t" r="r" b="b"/>
            <a:pathLst>
              <a:path w="9461644" h="3725578">
                <a:moveTo>
                  <a:pt x="0" y="0"/>
                </a:moveTo>
                <a:lnTo>
                  <a:pt x="9461644" y="0"/>
                </a:lnTo>
                <a:lnTo>
                  <a:pt x="9461644" y="3725578"/>
                </a:lnTo>
                <a:lnTo>
                  <a:pt x="0" y="3725578"/>
                </a:lnTo>
                <a:lnTo>
                  <a:pt x="0" y="0"/>
                </a:lnTo>
                <a:close/>
              </a:path>
            </a:pathLst>
          </a:custGeom>
          <a:blipFill>
            <a:blip r:embed="rId7"/>
            <a:stretch>
              <a:fillRect l="-1804"/>
            </a:stretch>
          </a:blipFill>
        </p:spPr>
        <p:txBody>
          <a:bodyPr/>
          <a:lstStyle/>
          <a:p>
            <a:endParaRPr lang="zh-TW" altLang="en-US"/>
          </a:p>
        </p:txBody>
      </p:sp>
      <p:sp>
        <p:nvSpPr>
          <p:cNvPr id="6" name="TextBox 6"/>
          <p:cNvSpPr txBox="1"/>
          <p:nvPr/>
        </p:nvSpPr>
        <p:spPr>
          <a:xfrm>
            <a:off x="875804" y="1053917"/>
            <a:ext cx="13773049"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Striking Results: Comprehension Leap</a:t>
            </a:r>
          </a:p>
        </p:txBody>
      </p:sp>
      <p:sp>
        <p:nvSpPr>
          <p:cNvPr id="7" name="TextBox 7"/>
          <p:cNvSpPr txBox="1"/>
          <p:nvPr/>
        </p:nvSpPr>
        <p:spPr>
          <a:xfrm>
            <a:off x="781767" y="2613268"/>
            <a:ext cx="6825607" cy="3337559"/>
          </a:xfrm>
          <a:prstGeom prst="rect">
            <a:avLst/>
          </a:prstGeom>
        </p:spPr>
        <p:txBody>
          <a:bodyPr lIns="0" tIns="0" rIns="0" bIns="0" rtlCol="0" anchor="t">
            <a:spAutoFit/>
          </a:bodyPr>
          <a:lstStyle/>
          <a:p>
            <a:pPr algn="l">
              <a:lnSpc>
                <a:spcPts val="2940"/>
              </a:lnSpc>
            </a:pPr>
            <a:r>
              <a:rPr lang="en-US" sz="2100" b="1">
                <a:solidFill>
                  <a:srgbClr val="737373"/>
                </a:solidFill>
                <a:latin typeface="Inter Bold"/>
                <a:ea typeface="Inter Bold"/>
                <a:cs typeface="Inter Bold"/>
                <a:sym typeface="Inter Bold"/>
              </a:rPr>
              <a:t>CFstories: </a:t>
            </a:r>
          </a:p>
          <a:p>
            <a:pPr marL="453396" lvl="1" indent="-226698" algn="l">
              <a:lnSpc>
                <a:spcPts val="2940"/>
              </a:lnSpc>
              <a:buFont typeface="Arial"/>
              <a:buChar char="•"/>
            </a:pPr>
            <a:r>
              <a:rPr lang="en-US" sz="2100">
                <a:solidFill>
                  <a:srgbClr val="737373"/>
                </a:solidFill>
                <a:latin typeface="Inter"/>
                <a:ea typeface="Inter"/>
                <a:cs typeface="Inter"/>
                <a:sym typeface="Inter"/>
              </a:rPr>
              <a:t>CFstories provide better explanations with better reasoning.</a:t>
            </a:r>
          </a:p>
          <a:p>
            <a:pPr marL="453396" lvl="1" indent="-226698" algn="l">
              <a:lnSpc>
                <a:spcPts val="2940"/>
              </a:lnSpc>
              <a:buFont typeface="Arial"/>
              <a:buChar char="•"/>
            </a:pPr>
            <a:r>
              <a:rPr lang="en-US" sz="2100" b="1">
                <a:solidFill>
                  <a:srgbClr val="737373"/>
                </a:solidFill>
                <a:latin typeface="Inter Bold"/>
                <a:ea typeface="Inter Bold"/>
                <a:cs typeface="Inter Bold"/>
                <a:sym typeface="Inter Bold"/>
              </a:rPr>
              <a:t>75.4%</a:t>
            </a:r>
            <a:r>
              <a:rPr lang="en-US" sz="2100">
                <a:solidFill>
                  <a:srgbClr val="737373"/>
                </a:solidFill>
                <a:latin typeface="Inter"/>
                <a:ea typeface="Inter"/>
                <a:cs typeface="Inter"/>
                <a:sym typeface="Inter"/>
              </a:rPr>
              <a:t> of all respondents find CFstories as convincing.</a:t>
            </a:r>
          </a:p>
          <a:p>
            <a:pPr marL="453396" lvl="1" indent="-226698" algn="l">
              <a:lnSpc>
                <a:spcPts val="2940"/>
              </a:lnSpc>
              <a:buFont typeface="Arial"/>
              <a:buChar char="•"/>
            </a:pPr>
            <a:r>
              <a:rPr lang="en-US" sz="2100">
                <a:solidFill>
                  <a:srgbClr val="737373"/>
                </a:solidFill>
                <a:latin typeface="Inter"/>
                <a:ea typeface="Inter"/>
                <a:cs typeface="Inter"/>
                <a:sym typeface="Inter"/>
              </a:rPr>
              <a:t>The average evaluation time is </a:t>
            </a:r>
            <a:r>
              <a:rPr lang="en-US" sz="2100" b="1">
                <a:solidFill>
                  <a:srgbClr val="737373"/>
                </a:solidFill>
                <a:latin typeface="Inter Bold"/>
                <a:ea typeface="Inter Bold"/>
                <a:cs typeface="Inter Bold"/>
                <a:sym typeface="Inter Bold"/>
              </a:rPr>
              <a:t>5 seconds</a:t>
            </a:r>
            <a:r>
              <a:rPr lang="en-US" sz="2100">
                <a:solidFill>
                  <a:srgbClr val="737373"/>
                </a:solidFill>
                <a:latin typeface="Inter"/>
                <a:ea typeface="Inter"/>
                <a:cs typeface="Inter"/>
                <a:sym typeface="Inter"/>
              </a:rPr>
              <a:t>, indicating a significant speed advantage.</a:t>
            </a:r>
          </a:p>
          <a:p>
            <a:pPr algn="l">
              <a:lnSpc>
                <a:spcPts val="2940"/>
              </a:lnSpc>
            </a:pPr>
            <a:endParaRPr lang="en-US" sz="2100">
              <a:solidFill>
                <a:srgbClr val="737373"/>
              </a:solidFill>
              <a:latin typeface="Inter"/>
              <a:ea typeface="Inter"/>
              <a:cs typeface="Inter"/>
              <a:sym typeface="Inter"/>
            </a:endParaRPr>
          </a:p>
          <a:p>
            <a:pPr algn="l">
              <a:lnSpc>
                <a:spcPts val="2940"/>
              </a:lnSpc>
            </a:pPr>
            <a:endParaRPr lang="en-US" sz="2100">
              <a:solidFill>
                <a:srgbClr val="737373"/>
              </a:solidFill>
              <a:latin typeface="Inter"/>
              <a:ea typeface="Inter"/>
              <a:cs typeface="Inter"/>
              <a:sym typeface="Inter"/>
            </a:endParaRPr>
          </a:p>
        </p:txBody>
      </p:sp>
      <p:sp>
        <p:nvSpPr>
          <p:cNvPr id="8" name="TextBox 8"/>
          <p:cNvSpPr txBox="1"/>
          <p:nvPr/>
        </p:nvSpPr>
        <p:spPr>
          <a:xfrm>
            <a:off x="875804" y="6418152"/>
            <a:ext cx="6980561" cy="2223134"/>
          </a:xfrm>
          <a:prstGeom prst="rect">
            <a:avLst/>
          </a:prstGeom>
        </p:spPr>
        <p:txBody>
          <a:bodyPr lIns="0" tIns="0" rIns="0" bIns="0" rtlCol="0" anchor="t">
            <a:spAutoFit/>
          </a:bodyPr>
          <a:lstStyle/>
          <a:p>
            <a:pPr algn="l">
              <a:lnSpc>
                <a:spcPts val="2940"/>
              </a:lnSpc>
            </a:pPr>
            <a:r>
              <a:rPr lang="en-US" sz="2100" b="1">
                <a:solidFill>
                  <a:srgbClr val="737373"/>
                </a:solidFill>
                <a:latin typeface="Inter Bold"/>
                <a:ea typeface="Inter Bold"/>
                <a:cs typeface="Inter Bold"/>
                <a:sym typeface="Inter Bold"/>
              </a:rPr>
              <a:t>Limitation: </a:t>
            </a:r>
          </a:p>
          <a:p>
            <a:pPr marL="453396" lvl="1" indent="-226698" algn="l">
              <a:lnSpc>
                <a:spcPts val="2940"/>
              </a:lnSpc>
              <a:buFont typeface="Arial"/>
              <a:buChar char="•"/>
            </a:pPr>
            <a:r>
              <a:rPr lang="en-US" sz="2100">
                <a:solidFill>
                  <a:srgbClr val="737373"/>
                </a:solidFill>
                <a:latin typeface="Inter"/>
                <a:ea typeface="Inter"/>
                <a:cs typeface="Inter"/>
                <a:sym typeface="Inter"/>
              </a:rPr>
              <a:t>Not all CFstories are convincing.</a:t>
            </a:r>
          </a:p>
          <a:p>
            <a:pPr marL="453396" lvl="1" indent="-226698" algn="l">
              <a:lnSpc>
                <a:spcPts val="2940"/>
              </a:lnSpc>
              <a:buFont typeface="Arial"/>
              <a:buChar char="•"/>
            </a:pPr>
            <a:r>
              <a:rPr lang="en-US" sz="2100">
                <a:solidFill>
                  <a:srgbClr val="737373"/>
                </a:solidFill>
                <a:latin typeface="Inter"/>
                <a:ea typeface="Inter"/>
                <a:cs typeface="Inter"/>
                <a:sym typeface="Inter"/>
              </a:rPr>
              <a:t>On top of CF, users want additional features—such as orientation.</a:t>
            </a:r>
          </a:p>
          <a:p>
            <a:pPr algn="l">
              <a:lnSpc>
                <a:spcPts val="2940"/>
              </a:lnSpc>
            </a:pPr>
            <a:endParaRPr lang="en-US" sz="2100">
              <a:solidFill>
                <a:srgbClr val="737373"/>
              </a:solidFill>
              <a:latin typeface="Inter"/>
              <a:ea typeface="Inter"/>
              <a:cs typeface="Inter"/>
              <a:sym typeface="Inter"/>
            </a:endParaRPr>
          </a:p>
          <a:p>
            <a:pPr algn="l">
              <a:lnSpc>
                <a:spcPts val="2940"/>
              </a:lnSpc>
            </a:pPr>
            <a:endParaRPr lang="en-US" sz="2100">
              <a:solidFill>
                <a:srgbClr val="737373"/>
              </a:solidFill>
              <a:latin typeface="Inter"/>
              <a:ea typeface="Inter"/>
              <a:cs typeface="Inter"/>
              <a:sym typeface="Inter"/>
            </a:endParaRPr>
          </a:p>
        </p:txBody>
      </p:sp>
      <p:sp>
        <p:nvSpPr>
          <p:cNvPr id="9" name="TextBox 9"/>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14</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502246" y="9216842"/>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75804" y="526405"/>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Freeform 5"/>
          <p:cNvSpPr/>
          <p:nvPr/>
        </p:nvSpPr>
        <p:spPr>
          <a:xfrm>
            <a:off x="8562439" y="3036828"/>
            <a:ext cx="8843446" cy="3234011"/>
          </a:xfrm>
          <a:custGeom>
            <a:avLst/>
            <a:gdLst/>
            <a:ahLst/>
            <a:cxnLst/>
            <a:rect l="l" t="t" r="r" b="b"/>
            <a:pathLst>
              <a:path w="8843446" h="3234011">
                <a:moveTo>
                  <a:pt x="0" y="0"/>
                </a:moveTo>
                <a:lnTo>
                  <a:pt x="8843446" y="0"/>
                </a:lnTo>
                <a:lnTo>
                  <a:pt x="8843446" y="3234011"/>
                </a:lnTo>
                <a:lnTo>
                  <a:pt x="0" y="3234011"/>
                </a:lnTo>
                <a:lnTo>
                  <a:pt x="0" y="0"/>
                </a:lnTo>
                <a:close/>
              </a:path>
            </a:pathLst>
          </a:custGeom>
          <a:blipFill>
            <a:blip r:embed="rId7"/>
            <a:stretch>
              <a:fillRect/>
            </a:stretch>
          </a:blipFill>
        </p:spPr>
        <p:txBody>
          <a:bodyPr/>
          <a:lstStyle/>
          <a:p>
            <a:endParaRPr lang="zh-TW" altLang="en-US"/>
          </a:p>
        </p:txBody>
      </p:sp>
      <p:sp>
        <p:nvSpPr>
          <p:cNvPr id="6" name="TextBox 6"/>
          <p:cNvSpPr txBox="1"/>
          <p:nvPr/>
        </p:nvSpPr>
        <p:spPr>
          <a:xfrm>
            <a:off x="875804" y="1053917"/>
            <a:ext cx="13773049"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Striking Results: Comprehension Leap</a:t>
            </a:r>
          </a:p>
        </p:txBody>
      </p:sp>
      <p:sp>
        <p:nvSpPr>
          <p:cNvPr id="7" name="TextBox 7"/>
          <p:cNvSpPr txBox="1"/>
          <p:nvPr/>
        </p:nvSpPr>
        <p:spPr>
          <a:xfrm>
            <a:off x="1134227" y="2841160"/>
            <a:ext cx="6980561" cy="2594609"/>
          </a:xfrm>
          <a:prstGeom prst="rect">
            <a:avLst/>
          </a:prstGeom>
        </p:spPr>
        <p:txBody>
          <a:bodyPr lIns="0" tIns="0" rIns="0" bIns="0" rtlCol="0" anchor="t">
            <a:spAutoFit/>
          </a:bodyPr>
          <a:lstStyle/>
          <a:p>
            <a:pPr algn="l">
              <a:lnSpc>
                <a:spcPts val="2940"/>
              </a:lnSpc>
            </a:pPr>
            <a:r>
              <a:rPr lang="en-US" sz="2100" b="1">
                <a:solidFill>
                  <a:srgbClr val="737373"/>
                </a:solidFill>
                <a:latin typeface="Inter Bold"/>
                <a:ea typeface="Inter Bold"/>
                <a:cs typeface="Inter Bold"/>
                <a:sym typeface="Inter Bold"/>
              </a:rPr>
              <a:t>SHAPstories: </a:t>
            </a:r>
          </a:p>
          <a:p>
            <a:pPr marL="453396" lvl="1" indent="-226698" algn="l">
              <a:lnSpc>
                <a:spcPts val="2940"/>
              </a:lnSpc>
              <a:buFont typeface="Arial"/>
              <a:buChar char="•"/>
            </a:pPr>
            <a:r>
              <a:rPr lang="en-US" sz="2100">
                <a:solidFill>
                  <a:srgbClr val="737373"/>
                </a:solidFill>
                <a:latin typeface="Inter"/>
                <a:ea typeface="Inter"/>
                <a:cs typeface="Inter"/>
                <a:sym typeface="Inter"/>
              </a:rPr>
              <a:t>SHAPstories are clear, natural, and sufficiently detailed for non-experts.</a:t>
            </a:r>
          </a:p>
          <a:p>
            <a:pPr marL="453396" lvl="1" indent="-226698" algn="l">
              <a:lnSpc>
                <a:spcPts val="2940"/>
              </a:lnSpc>
              <a:buFont typeface="Arial"/>
              <a:buChar char="•"/>
            </a:pPr>
            <a:r>
              <a:rPr lang="en-US" sz="2100" b="1">
                <a:solidFill>
                  <a:srgbClr val="737373"/>
                </a:solidFill>
                <a:latin typeface="Inter Bold"/>
                <a:ea typeface="Inter Bold"/>
                <a:cs typeface="Inter Bold"/>
                <a:sym typeface="Inter Bold"/>
              </a:rPr>
              <a:t>93.2%</a:t>
            </a:r>
            <a:r>
              <a:rPr lang="en-US" sz="2100">
                <a:solidFill>
                  <a:srgbClr val="737373"/>
                </a:solidFill>
                <a:latin typeface="Inter"/>
                <a:ea typeface="Inter"/>
                <a:cs typeface="Inter"/>
                <a:sym typeface="Inter"/>
              </a:rPr>
              <a:t> of the general audience finds SHAPstories convincing. Data science audience similar to positive results </a:t>
            </a:r>
            <a:r>
              <a:rPr lang="en-US" sz="2100" b="1">
                <a:solidFill>
                  <a:srgbClr val="737373"/>
                </a:solidFill>
                <a:latin typeface="Inter Bold"/>
                <a:ea typeface="Inter Bold"/>
                <a:cs typeface="Inter Bold"/>
                <a:sym typeface="Inter Bold"/>
              </a:rPr>
              <a:t>77.8%. </a:t>
            </a:r>
          </a:p>
          <a:p>
            <a:pPr marL="453396" lvl="1" indent="-226698" algn="l">
              <a:lnSpc>
                <a:spcPts val="2940"/>
              </a:lnSpc>
              <a:buFont typeface="Arial"/>
              <a:buChar char="•"/>
            </a:pPr>
            <a:r>
              <a:rPr lang="en-US" sz="2100" b="1">
                <a:solidFill>
                  <a:srgbClr val="737373"/>
                </a:solidFill>
                <a:latin typeface="Inter Bold"/>
                <a:ea typeface="Inter Bold"/>
                <a:cs typeface="Inter Bold"/>
                <a:sym typeface="Inter Bold"/>
              </a:rPr>
              <a:t>81.4% </a:t>
            </a:r>
            <a:r>
              <a:rPr lang="en-US" sz="2100">
                <a:solidFill>
                  <a:srgbClr val="737373"/>
                </a:solidFill>
                <a:latin typeface="Inter"/>
                <a:ea typeface="Inter"/>
                <a:cs typeface="Inter"/>
                <a:sym typeface="Inter"/>
              </a:rPr>
              <a:t>valuable addition to the SHAP plots</a:t>
            </a:r>
          </a:p>
        </p:txBody>
      </p:sp>
      <p:sp>
        <p:nvSpPr>
          <p:cNvPr id="8" name="TextBox 8"/>
          <p:cNvSpPr txBox="1"/>
          <p:nvPr/>
        </p:nvSpPr>
        <p:spPr>
          <a:xfrm>
            <a:off x="1267769" y="7637060"/>
            <a:ext cx="14896101" cy="1480184"/>
          </a:xfrm>
          <a:prstGeom prst="rect">
            <a:avLst/>
          </a:prstGeom>
        </p:spPr>
        <p:txBody>
          <a:bodyPr lIns="0" tIns="0" rIns="0" bIns="0" rtlCol="0" anchor="t">
            <a:spAutoFit/>
          </a:bodyPr>
          <a:lstStyle/>
          <a:p>
            <a:pPr algn="l">
              <a:lnSpc>
                <a:spcPts val="2940"/>
              </a:lnSpc>
            </a:pPr>
            <a:r>
              <a:rPr lang="en-US" sz="2100" b="1">
                <a:solidFill>
                  <a:srgbClr val="737373"/>
                </a:solidFill>
                <a:latin typeface="Inter Bold"/>
                <a:ea typeface="Inter Bold"/>
                <a:cs typeface="Inter Bold"/>
                <a:sym typeface="Inter Bold"/>
              </a:rPr>
              <a:t>Limitations: </a:t>
            </a:r>
          </a:p>
          <a:p>
            <a:pPr marL="453396" lvl="1" indent="-226698" algn="l">
              <a:lnSpc>
                <a:spcPts val="2940"/>
              </a:lnSpc>
              <a:buFont typeface="Arial"/>
              <a:buChar char="•"/>
            </a:pPr>
            <a:r>
              <a:rPr lang="en-US" sz="2100">
                <a:solidFill>
                  <a:srgbClr val="737373"/>
                </a:solidFill>
                <a:latin typeface="Inter"/>
                <a:ea typeface="Inter"/>
                <a:cs typeface="Inter"/>
                <a:sym typeface="Inter"/>
              </a:rPr>
              <a:t>It focuses on key features and offers an interpretive narrative where no standard SHAP interpretation exists. </a:t>
            </a:r>
          </a:p>
          <a:p>
            <a:pPr marL="453396" lvl="1" indent="-226698" algn="l">
              <a:lnSpc>
                <a:spcPts val="2940"/>
              </a:lnSpc>
              <a:buFont typeface="Arial"/>
              <a:buChar char="•"/>
            </a:pPr>
            <a:r>
              <a:rPr lang="en-US" sz="2100">
                <a:solidFill>
                  <a:srgbClr val="737373"/>
                </a:solidFill>
                <a:latin typeface="Inter"/>
                <a:ea typeface="Inter"/>
                <a:cs typeface="Inter"/>
                <a:sym typeface="Inter"/>
              </a:rPr>
              <a:t>SHAPstories makes underlying assumptions that are not necessarily correct.</a:t>
            </a:r>
          </a:p>
          <a:p>
            <a:pPr marL="453396" lvl="1" indent="-226698" algn="l">
              <a:lnSpc>
                <a:spcPts val="2940"/>
              </a:lnSpc>
              <a:buFont typeface="Arial"/>
              <a:buChar char="•"/>
            </a:pPr>
            <a:r>
              <a:rPr lang="en-US" sz="2100">
                <a:solidFill>
                  <a:srgbClr val="737373"/>
                </a:solidFill>
                <a:latin typeface="Inter"/>
                <a:ea typeface="Inter"/>
                <a:cs typeface="Inter"/>
                <a:sym typeface="Inter"/>
              </a:rPr>
              <a:t>Six respondents see little added value, noting that SHAP plots and tables already convey the same information.</a:t>
            </a:r>
          </a:p>
        </p:txBody>
      </p:sp>
      <p:sp>
        <p:nvSpPr>
          <p:cNvPr id="9" name="TextBox 9"/>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15</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502246" y="9216842"/>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75804" y="526405"/>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TextBox 5"/>
          <p:cNvSpPr txBox="1"/>
          <p:nvPr/>
        </p:nvSpPr>
        <p:spPr>
          <a:xfrm>
            <a:off x="1178615" y="4507605"/>
            <a:ext cx="16274160" cy="4080509"/>
          </a:xfrm>
          <a:prstGeom prst="rect">
            <a:avLst/>
          </a:prstGeom>
        </p:spPr>
        <p:txBody>
          <a:bodyPr lIns="0" tIns="0" rIns="0" bIns="0" rtlCol="0" anchor="t">
            <a:spAutoFit/>
          </a:bodyPr>
          <a:lstStyle/>
          <a:p>
            <a:pPr algn="l">
              <a:lnSpc>
                <a:spcPts val="2940"/>
              </a:lnSpc>
            </a:pPr>
            <a:r>
              <a:rPr lang="en-US" sz="2100" b="1" dirty="0" err="1">
                <a:solidFill>
                  <a:srgbClr val="737373"/>
                </a:solidFill>
                <a:latin typeface="Inter Bold"/>
                <a:ea typeface="Inter Bold"/>
                <a:cs typeface="Inter Bold"/>
                <a:sym typeface="Inter Bold"/>
              </a:rPr>
              <a:t>Comparision</a:t>
            </a:r>
            <a:r>
              <a:rPr lang="en-US" sz="2100" b="1" dirty="0">
                <a:solidFill>
                  <a:srgbClr val="737373"/>
                </a:solidFill>
                <a:latin typeface="Inter Bold"/>
                <a:ea typeface="Inter Bold"/>
                <a:cs typeface="Inter Bold"/>
                <a:sym typeface="Inter Bold"/>
              </a:rPr>
              <a:t>: </a:t>
            </a:r>
          </a:p>
          <a:p>
            <a:pPr marL="453396" lvl="1" indent="-226698" algn="l">
              <a:lnSpc>
                <a:spcPts val="2940"/>
              </a:lnSpc>
              <a:buFont typeface="Arial"/>
              <a:buChar char="•"/>
            </a:pPr>
            <a:r>
              <a:rPr lang="en-US" sz="2100" dirty="0">
                <a:solidFill>
                  <a:srgbClr val="737373"/>
                </a:solidFill>
                <a:latin typeface="Inter"/>
                <a:ea typeface="Inter"/>
                <a:cs typeface="Inter"/>
                <a:sym typeface="Inter"/>
              </a:rPr>
              <a:t>In the credit-scoring scenario, </a:t>
            </a:r>
            <a:r>
              <a:rPr lang="en-US" sz="2100" dirty="0" err="1">
                <a:solidFill>
                  <a:srgbClr val="737373"/>
                </a:solidFill>
                <a:latin typeface="Inter"/>
                <a:ea typeface="Inter"/>
                <a:cs typeface="Inter"/>
                <a:sym typeface="Inter"/>
              </a:rPr>
              <a:t>SHAPstories</a:t>
            </a:r>
            <a:r>
              <a:rPr lang="en-US" sz="2100" dirty="0">
                <a:solidFill>
                  <a:srgbClr val="737373"/>
                </a:solidFill>
                <a:latin typeface="Inter"/>
                <a:ea typeface="Inter"/>
                <a:cs typeface="Inter"/>
                <a:sym typeface="Inter"/>
              </a:rPr>
              <a:t> significantly improved users’ objective understanding of why the AI approved or rejected a loan compared to SHAP plots.</a:t>
            </a:r>
          </a:p>
          <a:p>
            <a:pPr marL="453396" lvl="1" indent="-226698" algn="l">
              <a:lnSpc>
                <a:spcPts val="2940"/>
              </a:lnSpc>
              <a:buFont typeface="Arial"/>
              <a:buChar char="•"/>
            </a:pPr>
            <a:r>
              <a:rPr lang="en-US" sz="2100" dirty="0">
                <a:solidFill>
                  <a:srgbClr val="737373"/>
                </a:solidFill>
                <a:latin typeface="Inter"/>
                <a:ea typeface="Inter"/>
                <a:cs typeface="Inter"/>
                <a:sym typeface="Inter"/>
              </a:rPr>
              <a:t>Users with </a:t>
            </a:r>
            <a:r>
              <a:rPr lang="en-US" sz="2100" dirty="0" err="1">
                <a:solidFill>
                  <a:srgbClr val="737373"/>
                </a:solidFill>
                <a:latin typeface="Inter"/>
                <a:ea typeface="Inter"/>
                <a:cs typeface="Inter"/>
                <a:sym typeface="Inter"/>
              </a:rPr>
              <a:t>SHAPstories</a:t>
            </a:r>
            <a:r>
              <a:rPr lang="en-US" sz="2100" dirty="0">
                <a:solidFill>
                  <a:srgbClr val="737373"/>
                </a:solidFill>
                <a:latin typeface="Inter"/>
                <a:ea typeface="Inter"/>
                <a:cs typeface="Inter"/>
                <a:sym typeface="Inter"/>
              </a:rPr>
              <a:t> were far more accurate in summarizing the model’s reasoning and in anticipating how feature changes would affect decisions.</a:t>
            </a:r>
          </a:p>
          <a:p>
            <a:pPr marL="453396" lvl="1" indent="-226698" algn="l">
              <a:lnSpc>
                <a:spcPts val="2940"/>
              </a:lnSpc>
              <a:buFont typeface="Arial"/>
              <a:buChar char="•"/>
            </a:pPr>
            <a:r>
              <a:rPr lang="en-US" sz="2100" dirty="0">
                <a:solidFill>
                  <a:srgbClr val="737373"/>
                </a:solidFill>
                <a:latin typeface="Inter"/>
                <a:ea typeface="Inter"/>
                <a:cs typeface="Inter"/>
                <a:sym typeface="Inter"/>
              </a:rPr>
              <a:t>Although </a:t>
            </a:r>
            <a:r>
              <a:rPr lang="en-US" sz="2100" dirty="0" err="1">
                <a:solidFill>
                  <a:srgbClr val="737373"/>
                </a:solidFill>
                <a:latin typeface="Inter"/>
                <a:ea typeface="Inter"/>
                <a:cs typeface="Inter"/>
                <a:sym typeface="Inter"/>
              </a:rPr>
              <a:t>SHAPstories</a:t>
            </a:r>
            <a:r>
              <a:rPr lang="en-US" sz="2100" dirty="0">
                <a:solidFill>
                  <a:srgbClr val="737373"/>
                </a:solidFill>
                <a:latin typeface="Inter"/>
                <a:ea typeface="Inter"/>
                <a:cs typeface="Inter"/>
                <a:sym typeface="Inter"/>
              </a:rPr>
              <a:t> required slightly more reading time, this extra time led to higher decision accuracy, not confusion.</a:t>
            </a:r>
          </a:p>
          <a:p>
            <a:pPr marL="453396" lvl="1" indent="-226698" algn="l">
              <a:lnSpc>
                <a:spcPts val="2940"/>
              </a:lnSpc>
              <a:buFont typeface="Arial"/>
              <a:buChar char="•"/>
            </a:pPr>
            <a:r>
              <a:rPr lang="en-US" sz="2100" dirty="0">
                <a:solidFill>
                  <a:srgbClr val="737373"/>
                </a:solidFill>
                <a:latin typeface="Inter"/>
                <a:ea typeface="Inter"/>
                <a:cs typeface="Inter"/>
                <a:sym typeface="Inter"/>
              </a:rPr>
              <a:t>In contrast, SHAP plots did not meaningfully improve understanding and reduced user confidence when users spent more time interpreting them.</a:t>
            </a:r>
          </a:p>
          <a:p>
            <a:pPr marL="453396" lvl="1" indent="-226698" algn="l">
              <a:lnSpc>
                <a:spcPts val="2940"/>
              </a:lnSpc>
              <a:buFont typeface="Arial"/>
              <a:buChar char="•"/>
            </a:pPr>
            <a:r>
              <a:rPr lang="en-US" sz="2100" dirty="0">
                <a:solidFill>
                  <a:srgbClr val="737373"/>
                </a:solidFill>
                <a:latin typeface="Inter"/>
                <a:ea typeface="Inter"/>
                <a:cs typeface="Inter"/>
                <a:sym typeface="Inter"/>
              </a:rPr>
              <a:t>Overall, the results show that narrative explanations bridge the gap between technical XAI and human decision-making in high-stakes financial contexts.</a:t>
            </a:r>
          </a:p>
          <a:p>
            <a:pPr algn="l">
              <a:lnSpc>
                <a:spcPts val="2940"/>
              </a:lnSpc>
            </a:pPr>
            <a:endParaRPr lang="en-US" sz="2100" dirty="0">
              <a:solidFill>
                <a:srgbClr val="737373"/>
              </a:solidFill>
              <a:latin typeface="Inter"/>
              <a:ea typeface="Inter"/>
              <a:cs typeface="Inter"/>
              <a:sym typeface="Inter"/>
            </a:endParaRPr>
          </a:p>
        </p:txBody>
      </p:sp>
      <p:sp>
        <p:nvSpPr>
          <p:cNvPr id="6" name="Freeform 6"/>
          <p:cNvSpPr/>
          <p:nvPr/>
        </p:nvSpPr>
        <p:spPr>
          <a:xfrm>
            <a:off x="1492724" y="2628829"/>
            <a:ext cx="14948173" cy="1644299"/>
          </a:xfrm>
          <a:custGeom>
            <a:avLst/>
            <a:gdLst/>
            <a:ahLst/>
            <a:cxnLst/>
            <a:rect l="l" t="t" r="r" b="b"/>
            <a:pathLst>
              <a:path w="14948173" h="1644299">
                <a:moveTo>
                  <a:pt x="0" y="0"/>
                </a:moveTo>
                <a:lnTo>
                  <a:pt x="14948173" y="0"/>
                </a:lnTo>
                <a:lnTo>
                  <a:pt x="14948173" y="1644299"/>
                </a:lnTo>
                <a:lnTo>
                  <a:pt x="0" y="1644299"/>
                </a:lnTo>
                <a:lnTo>
                  <a:pt x="0" y="0"/>
                </a:lnTo>
                <a:close/>
              </a:path>
            </a:pathLst>
          </a:custGeom>
          <a:blipFill>
            <a:blip r:embed="rId7"/>
            <a:stretch>
              <a:fillRect/>
            </a:stretch>
          </a:blipFill>
        </p:spPr>
        <p:txBody>
          <a:bodyPr/>
          <a:lstStyle/>
          <a:p>
            <a:endParaRPr lang="zh-TW" altLang="en-US"/>
          </a:p>
        </p:txBody>
      </p:sp>
      <p:sp>
        <p:nvSpPr>
          <p:cNvPr id="7" name="TextBox 7"/>
          <p:cNvSpPr txBox="1"/>
          <p:nvPr/>
        </p:nvSpPr>
        <p:spPr>
          <a:xfrm>
            <a:off x="875804" y="1053917"/>
            <a:ext cx="13773049"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Quality: Technical Plot vs. Narrative</a:t>
            </a:r>
          </a:p>
        </p:txBody>
      </p:sp>
      <p:sp>
        <p:nvSpPr>
          <p:cNvPr id="8" name="TextBox 8"/>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16</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TextBox 3"/>
          <p:cNvSpPr txBox="1"/>
          <p:nvPr/>
        </p:nvSpPr>
        <p:spPr>
          <a:xfrm>
            <a:off x="1028700" y="1802523"/>
            <a:ext cx="18738308"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Paper 3: Why is AI not a Panacea for Data Workers?</a:t>
            </a:r>
          </a:p>
        </p:txBody>
      </p:sp>
      <p:grpSp>
        <p:nvGrpSpPr>
          <p:cNvPr id="4" name="Group 4"/>
          <p:cNvGrpSpPr/>
          <p:nvPr/>
        </p:nvGrpSpPr>
        <p:grpSpPr>
          <a:xfrm>
            <a:off x="732567" y="3784340"/>
            <a:ext cx="8151287" cy="4822074"/>
            <a:chOff x="0" y="0"/>
            <a:chExt cx="2168621" cy="1282896"/>
          </a:xfrm>
        </p:grpSpPr>
        <p:sp>
          <p:nvSpPr>
            <p:cNvPr id="5" name="Freeform 5"/>
            <p:cNvSpPr/>
            <p:nvPr/>
          </p:nvSpPr>
          <p:spPr>
            <a:xfrm>
              <a:off x="0" y="0"/>
              <a:ext cx="2168622" cy="1282896"/>
            </a:xfrm>
            <a:custGeom>
              <a:avLst/>
              <a:gdLst/>
              <a:ahLst/>
              <a:cxnLst/>
              <a:rect l="l" t="t" r="r" b="b"/>
              <a:pathLst>
                <a:path w="2168622" h="1282896">
                  <a:moveTo>
                    <a:pt x="35142" y="0"/>
                  </a:moveTo>
                  <a:lnTo>
                    <a:pt x="2133480" y="0"/>
                  </a:lnTo>
                  <a:cubicBezTo>
                    <a:pt x="2152888" y="0"/>
                    <a:pt x="2168622" y="15734"/>
                    <a:pt x="2168622" y="35142"/>
                  </a:cubicBezTo>
                  <a:lnTo>
                    <a:pt x="2168622" y="1247754"/>
                  </a:lnTo>
                  <a:cubicBezTo>
                    <a:pt x="2168622" y="1267162"/>
                    <a:pt x="2152888" y="1282896"/>
                    <a:pt x="2133480" y="1282896"/>
                  </a:cubicBezTo>
                  <a:lnTo>
                    <a:pt x="35142" y="1282896"/>
                  </a:lnTo>
                  <a:cubicBezTo>
                    <a:pt x="15734" y="1282896"/>
                    <a:pt x="0" y="1267162"/>
                    <a:pt x="0" y="1247754"/>
                  </a:cubicBezTo>
                  <a:lnTo>
                    <a:pt x="0" y="35142"/>
                  </a:lnTo>
                  <a:cubicBezTo>
                    <a:pt x="0" y="15734"/>
                    <a:pt x="15734" y="0"/>
                    <a:pt x="35142"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6" name="TextBox 6"/>
            <p:cNvSpPr txBox="1"/>
            <p:nvPr/>
          </p:nvSpPr>
          <p:spPr>
            <a:xfrm>
              <a:off x="0" y="19050"/>
              <a:ext cx="2168621" cy="1263846"/>
            </a:xfrm>
            <a:prstGeom prst="rect">
              <a:avLst/>
            </a:prstGeom>
          </p:spPr>
          <p:txBody>
            <a:bodyPr lIns="50800" tIns="50800" rIns="50800" bIns="50800" rtlCol="0" anchor="ctr"/>
            <a:lstStyle/>
            <a:p>
              <a:pPr algn="ctr">
                <a:lnSpc>
                  <a:spcPts val="2530"/>
                </a:lnSpc>
              </a:pPr>
              <a:endParaRPr/>
            </a:p>
          </p:txBody>
        </p:sp>
      </p:grpSp>
      <p:grpSp>
        <p:nvGrpSpPr>
          <p:cNvPr id="7" name="Group 7"/>
          <p:cNvGrpSpPr/>
          <p:nvPr/>
        </p:nvGrpSpPr>
        <p:grpSpPr>
          <a:xfrm>
            <a:off x="10154579" y="6623610"/>
            <a:ext cx="7802352" cy="3166032"/>
            <a:chOff x="0" y="0"/>
            <a:chExt cx="2054941" cy="833852"/>
          </a:xfrm>
        </p:grpSpPr>
        <p:sp>
          <p:nvSpPr>
            <p:cNvPr id="8" name="Freeform 8"/>
            <p:cNvSpPr/>
            <p:nvPr/>
          </p:nvSpPr>
          <p:spPr>
            <a:xfrm>
              <a:off x="0" y="0"/>
              <a:ext cx="2054940" cy="833852"/>
            </a:xfrm>
            <a:custGeom>
              <a:avLst/>
              <a:gdLst/>
              <a:ahLst/>
              <a:cxnLst/>
              <a:rect l="l" t="t" r="r" b="b"/>
              <a:pathLst>
                <a:path w="2054940" h="833852">
                  <a:moveTo>
                    <a:pt x="36713" y="0"/>
                  </a:moveTo>
                  <a:lnTo>
                    <a:pt x="2018227" y="0"/>
                  </a:lnTo>
                  <a:cubicBezTo>
                    <a:pt x="2027964" y="0"/>
                    <a:pt x="2037302" y="3868"/>
                    <a:pt x="2044187" y="10753"/>
                  </a:cubicBezTo>
                  <a:cubicBezTo>
                    <a:pt x="2051072" y="17638"/>
                    <a:pt x="2054940" y="26976"/>
                    <a:pt x="2054940" y="36713"/>
                  </a:cubicBezTo>
                  <a:lnTo>
                    <a:pt x="2054940" y="797139"/>
                  </a:lnTo>
                  <a:cubicBezTo>
                    <a:pt x="2054940" y="817415"/>
                    <a:pt x="2038503" y="833852"/>
                    <a:pt x="2018227" y="833852"/>
                  </a:cubicBezTo>
                  <a:lnTo>
                    <a:pt x="36713" y="833852"/>
                  </a:lnTo>
                  <a:cubicBezTo>
                    <a:pt x="26976" y="833852"/>
                    <a:pt x="17638" y="829984"/>
                    <a:pt x="10753" y="823099"/>
                  </a:cubicBezTo>
                  <a:cubicBezTo>
                    <a:pt x="3868" y="816214"/>
                    <a:pt x="0" y="806876"/>
                    <a:pt x="0" y="797139"/>
                  </a:cubicBezTo>
                  <a:lnTo>
                    <a:pt x="0" y="36713"/>
                  </a:lnTo>
                  <a:cubicBezTo>
                    <a:pt x="0" y="26976"/>
                    <a:pt x="3868" y="17638"/>
                    <a:pt x="10753" y="10753"/>
                  </a:cubicBezTo>
                  <a:cubicBezTo>
                    <a:pt x="17638" y="3868"/>
                    <a:pt x="26976" y="0"/>
                    <a:pt x="36713"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9" name="TextBox 9"/>
            <p:cNvSpPr txBox="1"/>
            <p:nvPr/>
          </p:nvSpPr>
          <p:spPr>
            <a:xfrm>
              <a:off x="0" y="19050"/>
              <a:ext cx="2054941" cy="814802"/>
            </a:xfrm>
            <a:prstGeom prst="rect">
              <a:avLst/>
            </a:prstGeom>
          </p:spPr>
          <p:txBody>
            <a:bodyPr lIns="50800" tIns="50800" rIns="50800" bIns="50800" rtlCol="0" anchor="ctr"/>
            <a:lstStyle/>
            <a:p>
              <a:pPr algn="ctr">
                <a:lnSpc>
                  <a:spcPts val="2530"/>
                </a:lnSpc>
              </a:pPr>
              <a:endParaRPr/>
            </a:p>
          </p:txBody>
        </p:sp>
      </p:grpSp>
      <p:sp>
        <p:nvSpPr>
          <p:cNvPr id="10" name="Freeform 10"/>
          <p:cNvSpPr/>
          <p:nvPr/>
        </p:nvSpPr>
        <p:spPr>
          <a:xfrm>
            <a:off x="9080845" y="5613089"/>
            <a:ext cx="651393" cy="651393"/>
          </a:xfrm>
          <a:custGeom>
            <a:avLst/>
            <a:gdLst/>
            <a:ahLst/>
            <a:cxnLst/>
            <a:rect l="l" t="t" r="r" b="b"/>
            <a:pathLst>
              <a:path w="651393" h="651393">
                <a:moveTo>
                  <a:pt x="0" y="0"/>
                </a:moveTo>
                <a:lnTo>
                  <a:pt x="651393" y="0"/>
                </a:lnTo>
                <a:lnTo>
                  <a:pt x="651393" y="651393"/>
                </a:lnTo>
                <a:lnTo>
                  <a:pt x="0" y="6513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1" name="TextBox 11"/>
          <p:cNvSpPr txBox="1"/>
          <p:nvPr/>
        </p:nvSpPr>
        <p:spPr>
          <a:xfrm>
            <a:off x="1404363" y="4229856"/>
            <a:ext cx="6583385" cy="638810"/>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Background of the study: </a:t>
            </a:r>
          </a:p>
          <a:p>
            <a:pPr algn="l">
              <a:lnSpc>
                <a:spcPts val="2530"/>
              </a:lnSpc>
            </a:pPr>
            <a:r>
              <a:rPr lang="en-US" sz="2300" b="1">
                <a:solidFill>
                  <a:srgbClr val="000000"/>
                </a:solidFill>
                <a:latin typeface="Inter Bold"/>
                <a:ea typeface="Inter Bold"/>
                <a:cs typeface="Inter Bold"/>
                <a:sym typeface="Inter Bold"/>
              </a:rPr>
              <a:t>Human–AI Collaboration in Data Storytelling</a:t>
            </a:r>
          </a:p>
        </p:txBody>
      </p:sp>
      <p:sp>
        <p:nvSpPr>
          <p:cNvPr id="12" name="TextBox 12"/>
          <p:cNvSpPr txBox="1"/>
          <p:nvPr/>
        </p:nvSpPr>
        <p:spPr>
          <a:xfrm>
            <a:off x="10477228" y="6765524"/>
            <a:ext cx="3903075" cy="324485"/>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Research questions</a:t>
            </a:r>
          </a:p>
        </p:txBody>
      </p:sp>
      <p:sp>
        <p:nvSpPr>
          <p:cNvPr id="13" name="TextBox 13"/>
          <p:cNvSpPr txBox="1"/>
          <p:nvPr/>
        </p:nvSpPr>
        <p:spPr>
          <a:xfrm>
            <a:off x="1155105" y="5004996"/>
            <a:ext cx="7206062" cy="3189605"/>
          </a:xfrm>
          <a:prstGeom prst="rect">
            <a:avLst/>
          </a:prstGeom>
        </p:spPr>
        <p:txBody>
          <a:bodyPr lIns="0" tIns="0" rIns="0" bIns="0" rtlCol="0" anchor="t">
            <a:spAutoFit/>
          </a:bodyPr>
          <a:lstStyle/>
          <a:p>
            <a:pPr marL="496571" lvl="1" indent="-248285" algn="l">
              <a:lnSpc>
                <a:spcPts val="3220"/>
              </a:lnSpc>
              <a:buFont typeface="Arial"/>
              <a:buChar char="•"/>
            </a:pPr>
            <a:r>
              <a:rPr lang="en-US" sz="2300">
                <a:solidFill>
                  <a:srgbClr val="363336"/>
                </a:solidFill>
                <a:latin typeface="Inter"/>
                <a:ea typeface="Inter"/>
                <a:cs typeface="Inter"/>
                <a:sym typeface="Inter"/>
              </a:rPr>
              <a:t>Data storytelling is a core activity for data workers such as analysts, researchers and journalists.</a:t>
            </a:r>
          </a:p>
          <a:p>
            <a:pPr marL="496571" lvl="1" indent="-248285" algn="l">
              <a:lnSpc>
                <a:spcPts val="3220"/>
              </a:lnSpc>
              <a:buFont typeface="Arial"/>
              <a:buChar char="•"/>
            </a:pPr>
            <a:r>
              <a:rPr lang="en-US" sz="2300">
                <a:solidFill>
                  <a:srgbClr val="363336"/>
                </a:solidFill>
                <a:latin typeface="Inter"/>
                <a:ea typeface="Inter"/>
                <a:cs typeface="Inter"/>
                <a:sym typeface="Inter"/>
              </a:rPr>
              <a:t>But creating good data stories requires many skills</a:t>
            </a:r>
          </a:p>
          <a:p>
            <a:pPr marL="496571" lvl="1" indent="-248285" algn="l">
              <a:lnSpc>
                <a:spcPts val="3220"/>
              </a:lnSpc>
              <a:buFont typeface="Arial"/>
              <a:buChar char="•"/>
            </a:pPr>
            <a:r>
              <a:rPr lang="en-US" sz="2300">
                <a:solidFill>
                  <a:srgbClr val="363336"/>
                </a:solidFill>
                <a:latin typeface="Inter"/>
                <a:ea typeface="Inter"/>
                <a:cs typeface="Inter"/>
                <a:sym typeface="Inter"/>
              </a:rPr>
              <a:t> While many AI tools already exist, most of them only support isolated tasks.</a:t>
            </a:r>
          </a:p>
          <a:p>
            <a:pPr algn="l">
              <a:lnSpc>
                <a:spcPts val="3220"/>
              </a:lnSpc>
            </a:pPr>
            <a:endParaRPr lang="en-US" sz="2300">
              <a:solidFill>
                <a:srgbClr val="363336"/>
              </a:solidFill>
              <a:latin typeface="Inter"/>
              <a:ea typeface="Inter"/>
              <a:cs typeface="Inter"/>
              <a:sym typeface="Inter"/>
            </a:endParaRPr>
          </a:p>
        </p:txBody>
      </p:sp>
      <p:sp>
        <p:nvSpPr>
          <p:cNvPr id="14" name="TextBox 14"/>
          <p:cNvSpPr txBox="1"/>
          <p:nvPr/>
        </p:nvSpPr>
        <p:spPr>
          <a:xfrm>
            <a:off x="10477228" y="7204309"/>
            <a:ext cx="7180087" cy="2789555"/>
          </a:xfrm>
          <a:prstGeom prst="rect">
            <a:avLst/>
          </a:prstGeom>
        </p:spPr>
        <p:txBody>
          <a:bodyPr lIns="0" tIns="0" rIns="0" bIns="0" rtlCol="0" anchor="t">
            <a:spAutoFit/>
          </a:bodyPr>
          <a:lstStyle/>
          <a:p>
            <a:pPr marL="496571" lvl="1" indent="-248285" algn="l">
              <a:lnSpc>
                <a:spcPts val="3220"/>
              </a:lnSpc>
              <a:buAutoNum type="arabicPeriod"/>
            </a:pPr>
            <a:r>
              <a:rPr lang="en-US" sz="2300">
                <a:solidFill>
                  <a:srgbClr val="737373"/>
                </a:solidFill>
                <a:latin typeface="Inter"/>
                <a:ea typeface="Inter"/>
                <a:cs typeface="Inter"/>
                <a:sym typeface="Inter"/>
              </a:rPr>
              <a:t>Where would data workers like to collaborate with AI?</a:t>
            </a:r>
          </a:p>
          <a:p>
            <a:pPr marL="496571" lvl="1" indent="-248285" algn="l">
              <a:lnSpc>
                <a:spcPts val="3220"/>
              </a:lnSpc>
              <a:buAutoNum type="arabicPeriod"/>
            </a:pPr>
            <a:r>
              <a:rPr lang="en-US" sz="2300">
                <a:solidFill>
                  <a:srgbClr val="737373"/>
                </a:solidFill>
                <a:latin typeface="Inter"/>
                <a:ea typeface="Inter"/>
                <a:cs typeface="Inter"/>
                <a:sym typeface="Inter"/>
              </a:rPr>
              <a:t>How would data workers like to collaborate with AI?</a:t>
            </a:r>
          </a:p>
          <a:p>
            <a:pPr marL="496571" lvl="1" indent="-248285" algn="l">
              <a:lnSpc>
                <a:spcPts val="3220"/>
              </a:lnSpc>
              <a:buAutoNum type="arabicPeriod"/>
            </a:pPr>
            <a:r>
              <a:rPr lang="en-US" sz="2300">
                <a:solidFill>
                  <a:srgbClr val="737373"/>
                </a:solidFill>
                <a:latin typeface="Inter"/>
                <a:ea typeface="Inter"/>
                <a:cs typeface="Inter"/>
                <a:sym typeface="Inter"/>
              </a:rPr>
              <a:t>Why and why not do data workers prefer to collaborate with AI?</a:t>
            </a:r>
          </a:p>
          <a:p>
            <a:pPr algn="l">
              <a:lnSpc>
                <a:spcPts val="3220"/>
              </a:lnSpc>
            </a:pPr>
            <a:endParaRPr lang="en-US" sz="2300">
              <a:solidFill>
                <a:srgbClr val="737373"/>
              </a:solidFill>
              <a:latin typeface="Inter"/>
              <a:ea typeface="Inter"/>
              <a:cs typeface="Inter"/>
              <a:sym typeface="Inter"/>
            </a:endParaRPr>
          </a:p>
        </p:txBody>
      </p:sp>
      <p:sp>
        <p:nvSpPr>
          <p:cNvPr id="15" name="Freeform 15"/>
          <p:cNvSpPr/>
          <p:nvPr/>
        </p:nvSpPr>
        <p:spPr>
          <a:xfrm>
            <a:off x="8361167" y="1057906"/>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grpSp>
        <p:nvGrpSpPr>
          <p:cNvPr id="16" name="Group 16"/>
          <p:cNvGrpSpPr/>
          <p:nvPr/>
        </p:nvGrpSpPr>
        <p:grpSpPr>
          <a:xfrm>
            <a:off x="10154579" y="2814990"/>
            <a:ext cx="7802352" cy="3449492"/>
            <a:chOff x="0" y="0"/>
            <a:chExt cx="10403136" cy="4599323"/>
          </a:xfrm>
        </p:grpSpPr>
        <p:grpSp>
          <p:nvGrpSpPr>
            <p:cNvPr id="17" name="Group 17"/>
            <p:cNvGrpSpPr/>
            <p:nvPr/>
          </p:nvGrpSpPr>
          <p:grpSpPr>
            <a:xfrm>
              <a:off x="0" y="0"/>
              <a:ext cx="10403136" cy="4599323"/>
              <a:chOff x="0" y="0"/>
              <a:chExt cx="2054941" cy="908508"/>
            </a:xfrm>
          </p:grpSpPr>
          <p:sp>
            <p:nvSpPr>
              <p:cNvPr id="18" name="Freeform 18"/>
              <p:cNvSpPr/>
              <p:nvPr/>
            </p:nvSpPr>
            <p:spPr>
              <a:xfrm>
                <a:off x="0" y="0"/>
                <a:ext cx="2054940" cy="908508"/>
              </a:xfrm>
              <a:custGeom>
                <a:avLst/>
                <a:gdLst/>
                <a:ahLst/>
                <a:cxnLst/>
                <a:rect l="l" t="t" r="r" b="b"/>
                <a:pathLst>
                  <a:path w="2054940" h="908508">
                    <a:moveTo>
                      <a:pt x="36713" y="0"/>
                    </a:moveTo>
                    <a:lnTo>
                      <a:pt x="2018227" y="0"/>
                    </a:lnTo>
                    <a:cubicBezTo>
                      <a:pt x="2027964" y="0"/>
                      <a:pt x="2037302" y="3868"/>
                      <a:pt x="2044187" y="10753"/>
                    </a:cubicBezTo>
                    <a:cubicBezTo>
                      <a:pt x="2051072" y="17638"/>
                      <a:pt x="2054940" y="26976"/>
                      <a:pt x="2054940" y="36713"/>
                    </a:cubicBezTo>
                    <a:lnTo>
                      <a:pt x="2054940" y="871795"/>
                    </a:lnTo>
                    <a:cubicBezTo>
                      <a:pt x="2054940" y="881532"/>
                      <a:pt x="2051072" y="890870"/>
                      <a:pt x="2044187" y="897755"/>
                    </a:cubicBezTo>
                    <a:cubicBezTo>
                      <a:pt x="2037302" y="904640"/>
                      <a:pt x="2027964" y="908508"/>
                      <a:pt x="2018227" y="908508"/>
                    </a:cubicBezTo>
                    <a:lnTo>
                      <a:pt x="36713" y="908508"/>
                    </a:lnTo>
                    <a:cubicBezTo>
                      <a:pt x="16437" y="908508"/>
                      <a:pt x="0" y="892071"/>
                      <a:pt x="0" y="871795"/>
                    </a:cubicBezTo>
                    <a:lnTo>
                      <a:pt x="0" y="36713"/>
                    </a:lnTo>
                    <a:cubicBezTo>
                      <a:pt x="0" y="26976"/>
                      <a:pt x="3868" y="17638"/>
                      <a:pt x="10753" y="10753"/>
                    </a:cubicBezTo>
                    <a:cubicBezTo>
                      <a:pt x="17638" y="3868"/>
                      <a:pt x="26976" y="0"/>
                      <a:pt x="36713"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19" name="TextBox 19"/>
              <p:cNvSpPr txBox="1"/>
              <p:nvPr/>
            </p:nvSpPr>
            <p:spPr>
              <a:xfrm>
                <a:off x="0" y="19050"/>
                <a:ext cx="2054941" cy="889458"/>
              </a:xfrm>
              <a:prstGeom prst="rect">
                <a:avLst/>
              </a:prstGeom>
            </p:spPr>
            <p:txBody>
              <a:bodyPr lIns="50800" tIns="50800" rIns="50800" bIns="50800" rtlCol="0" anchor="ctr"/>
              <a:lstStyle/>
              <a:p>
                <a:pPr algn="ctr">
                  <a:lnSpc>
                    <a:spcPts val="2530"/>
                  </a:lnSpc>
                </a:pPr>
                <a:endParaRPr/>
              </a:p>
            </p:txBody>
          </p:sp>
        </p:grpSp>
        <p:sp>
          <p:nvSpPr>
            <p:cNvPr id="20" name="TextBox 20"/>
            <p:cNvSpPr txBox="1"/>
            <p:nvPr/>
          </p:nvSpPr>
          <p:spPr>
            <a:xfrm>
              <a:off x="412311" y="441025"/>
              <a:ext cx="5204101" cy="43899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What is Data Storytelling? </a:t>
              </a:r>
            </a:p>
          </p:txBody>
        </p:sp>
        <p:sp>
          <p:nvSpPr>
            <p:cNvPr id="21" name="TextBox 21"/>
            <p:cNvSpPr txBox="1"/>
            <p:nvPr/>
          </p:nvSpPr>
          <p:spPr>
            <a:xfrm>
              <a:off x="663216" y="832397"/>
              <a:ext cx="9478483" cy="1569932"/>
            </a:xfrm>
            <a:prstGeom prst="rect">
              <a:avLst/>
            </a:prstGeom>
          </p:spPr>
          <p:txBody>
            <a:bodyPr lIns="0" tIns="0" rIns="0" bIns="0" rtlCol="0" anchor="t">
              <a:spAutoFit/>
            </a:bodyPr>
            <a:lstStyle/>
            <a:p>
              <a:pPr algn="l">
                <a:lnSpc>
                  <a:spcPts val="3220"/>
                </a:lnSpc>
              </a:pPr>
              <a:r>
                <a:rPr lang="en-US" sz="2300">
                  <a:solidFill>
                    <a:srgbClr val="737373"/>
                  </a:solidFill>
                  <a:latin typeface="Inter"/>
                  <a:ea typeface="Inter"/>
                  <a:cs typeface="Inter"/>
                  <a:sym typeface="Inter"/>
                </a:rPr>
                <a:t>Creating and communicating a series of coherently connected data facts with visualizations and narratives to achieve the author’s goal.</a:t>
              </a:r>
            </a:p>
          </p:txBody>
        </p:sp>
        <p:sp>
          <p:nvSpPr>
            <p:cNvPr id="22" name="TextBox 22"/>
            <p:cNvSpPr txBox="1"/>
            <p:nvPr/>
          </p:nvSpPr>
          <p:spPr>
            <a:xfrm>
              <a:off x="412311" y="2680558"/>
              <a:ext cx="5204101" cy="43899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What are Data workers? </a:t>
              </a:r>
            </a:p>
          </p:txBody>
        </p:sp>
        <p:sp>
          <p:nvSpPr>
            <p:cNvPr id="23" name="TextBox 23"/>
            <p:cNvSpPr txBox="1"/>
            <p:nvPr/>
          </p:nvSpPr>
          <p:spPr>
            <a:xfrm>
              <a:off x="615733" y="3331110"/>
              <a:ext cx="9573450" cy="1036532"/>
            </a:xfrm>
            <a:prstGeom prst="rect">
              <a:avLst/>
            </a:prstGeom>
          </p:spPr>
          <p:txBody>
            <a:bodyPr lIns="0" tIns="0" rIns="0" bIns="0" rtlCol="0" anchor="t">
              <a:spAutoFit/>
            </a:bodyPr>
            <a:lstStyle/>
            <a:p>
              <a:pPr algn="l">
                <a:lnSpc>
                  <a:spcPts val="3220"/>
                </a:lnSpc>
              </a:pPr>
              <a:r>
                <a:rPr lang="en-US" sz="2300">
                  <a:solidFill>
                    <a:srgbClr val="737373"/>
                  </a:solidFill>
                  <a:latin typeface="Inter"/>
                  <a:ea typeface="Inter"/>
                  <a:cs typeface="Inter"/>
                  <a:sym typeface="Inter"/>
                </a:rPr>
                <a:t>All people who do data science work, including researchers, data scientists, and business analysts. </a:t>
              </a:r>
            </a:p>
          </p:txBody>
        </p:sp>
      </p:grpSp>
      <p:sp>
        <p:nvSpPr>
          <p:cNvPr id="24" name="TextBox 24"/>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17</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AutoShape 3"/>
          <p:cNvSpPr/>
          <p:nvPr/>
        </p:nvSpPr>
        <p:spPr>
          <a:xfrm>
            <a:off x="1103236" y="2890398"/>
            <a:ext cx="2126908" cy="0"/>
          </a:xfrm>
          <a:prstGeom prst="line">
            <a:avLst/>
          </a:prstGeom>
          <a:ln w="38100" cap="flat">
            <a:solidFill>
              <a:srgbClr val="90816A"/>
            </a:solidFill>
            <a:prstDash val="solid"/>
            <a:headEnd type="none" w="sm" len="sm"/>
            <a:tailEnd type="none" w="sm" len="sm"/>
          </a:ln>
        </p:spPr>
        <p:txBody>
          <a:bodyPr/>
          <a:lstStyle/>
          <a:p>
            <a:endParaRPr lang="zh-TW" altLang="en-US"/>
          </a:p>
        </p:txBody>
      </p:sp>
      <p:sp>
        <p:nvSpPr>
          <p:cNvPr id="4" name="Freeform 4"/>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 name="Freeform 5"/>
          <p:cNvSpPr/>
          <p:nvPr/>
        </p:nvSpPr>
        <p:spPr>
          <a:xfrm>
            <a:off x="8361167" y="1057906"/>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6" name="TextBox 6"/>
          <p:cNvSpPr txBox="1"/>
          <p:nvPr/>
        </p:nvSpPr>
        <p:spPr>
          <a:xfrm>
            <a:off x="1028700" y="1777066"/>
            <a:ext cx="6220636"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Research Design</a:t>
            </a:r>
          </a:p>
        </p:txBody>
      </p:sp>
      <p:sp>
        <p:nvSpPr>
          <p:cNvPr id="7" name="TextBox 7"/>
          <p:cNvSpPr txBox="1"/>
          <p:nvPr/>
        </p:nvSpPr>
        <p:spPr>
          <a:xfrm>
            <a:off x="751989" y="3233298"/>
            <a:ext cx="16213650" cy="2389505"/>
          </a:xfrm>
          <a:prstGeom prst="rect">
            <a:avLst/>
          </a:prstGeom>
        </p:spPr>
        <p:txBody>
          <a:bodyPr lIns="0" tIns="0" rIns="0" bIns="0" rtlCol="0" anchor="t">
            <a:spAutoFit/>
          </a:bodyPr>
          <a:lstStyle/>
          <a:p>
            <a:pPr marL="496571" lvl="1" indent="-248285" algn="l">
              <a:lnSpc>
                <a:spcPts val="3220"/>
              </a:lnSpc>
              <a:buFont typeface="Arial"/>
              <a:buChar char="•"/>
            </a:pPr>
            <a:r>
              <a:rPr lang="en-US" sz="2300" b="1">
                <a:solidFill>
                  <a:srgbClr val="000000"/>
                </a:solidFill>
                <a:latin typeface="Inter Bold"/>
                <a:ea typeface="Inter Bold"/>
                <a:cs typeface="Inter Bold"/>
                <a:sym typeface="Inter Bold"/>
              </a:rPr>
              <a:t>Semi-structured interviews </a:t>
            </a:r>
            <a:r>
              <a:rPr lang="en-US" sz="2300">
                <a:solidFill>
                  <a:srgbClr val="000000"/>
                </a:solidFill>
                <a:latin typeface="Inter"/>
                <a:ea typeface="Inter"/>
                <a:cs typeface="Inter"/>
                <a:sym typeface="Inter"/>
              </a:rPr>
              <a:t>with 18 professional data workers from both academia and industry</a:t>
            </a:r>
          </a:p>
          <a:p>
            <a:pPr marL="496571" lvl="1" indent="-248285" algn="l">
              <a:lnSpc>
                <a:spcPts val="3220"/>
              </a:lnSpc>
              <a:buFont typeface="Arial"/>
              <a:buChar char="•"/>
            </a:pPr>
            <a:r>
              <a:rPr lang="en-US" sz="2300">
                <a:solidFill>
                  <a:srgbClr val="000000"/>
                </a:solidFill>
                <a:latin typeface="Inter"/>
                <a:ea typeface="Inter"/>
                <a:cs typeface="Inter"/>
                <a:sym typeface="Inter"/>
              </a:rPr>
              <a:t>Participants included analysts, researchers, journalists, and consultants who have experiences with data storytelling</a:t>
            </a:r>
          </a:p>
          <a:p>
            <a:pPr marL="496571" lvl="1" indent="-248285" algn="l">
              <a:lnSpc>
                <a:spcPts val="3220"/>
              </a:lnSpc>
              <a:buFont typeface="Arial"/>
              <a:buChar char="•"/>
            </a:pPr>
            <a:r>
              <a:rPr lang="en-US" sz="2300">
                <a:solidFill>
                  <a:srgbClr val="000000"/>
                </a:solidFill>
                <a:latin typeface="Inter"/>
                <a:ea typeface="Inter"/>
                <a:cs typeface="Inter"/>
                <a:sym typeface="Inter"/>
              </a:rPr>
              <a:t>Interviews explored data workers’ expectations, frustrations, and ideal collaboration patterns with AI</a:t>
            </a:r>
          </a:p>
          <a:p>
            <a:pPr marL="496571" lvl="1" indent="-248285" algn="l">
              <a:lnSpc>
                <a:spcPts val="3220"/>
              </a:lnSpc>
              <a:buFont typeface="Arial"/>
              <a:buChar char="•"/>
            </a:pPr>
            <a:r>
              <a:rPr lang="en-US" sz="2300">
                <a:solidFill>
                  <a:srgbClr val="000000"/>
                </a:solidFill>
                <a:latin typeface="Inter"/>
                <a:ea typeface="Inter"/>
                <a:cs typeface="Inter"/>
                <a:sym typeface="Inter"/>
              </a:rPr>
              <a:t>Focus on the entire data storytelling lifecycle: planning, implementation and communication.</a:t>
            </a:r>
          </a:p>
          <a:p>
            <a:pPr algn="l">
              <a:lnSpc>
                <a:spcPts val="3220"/>
              </a:lnSpc>
            </a:pPr>
            <a:endParaRPr lang="en-US" sz="2300">
              <a:solidFill>
                <a:srgbClr val="000000"/>
              </a:solidFill>
              <a:latin typeface="Inter"/>
              <a:ea typeface="Inter"/>
              <a:cs typeface="Inter"/>
              <a:sym typeface="Inter"/>
            </a:endParaRPr>
          </a:p>
        </p:txBody>
      </p:sp>
      <p:sp>
        <p:nvSpPr>
          <p:cNvPr id="8" name="AutoShape 8"/>
          <p:cNvSpPr/>
          <p:nvPr/>
        </p:nvSpPr>
        <p:spPr>
          <a:xfrm>
            <a:off x="1128276" y="6669598"/>
            <a:ext cx="2126908" cy="0"/>
          </a:xfrm>
          <a:prstGeom prst="line">
            <a:avLst/>
          </a:prstGeom>
          <a:ln w="38100" cap="flat">
            <a:solidFill>
              <a:srgbClr val="90816A"/>
            </a:solidFill>
            <a:prstDash val="solid"/>
            <a:headEnd type="none" w="sm" len="sm"/>
            <a:tailEnd type="none" w="sm" len="sm"/>
          </a:ln>
        </p:spPr>
        <p:txBody>
          <a:bodyPr/>
          <a:lstStyle/>
          <a:p>
            <a:endParaRPr lang="zh-TW" altLang="en-US"/>
          </a:p>
        </p:txBody>
      </p:sp>
      <p:sp>
        <p:nvSpPr>
          <p:cNvPr id="9" name="TextBox 9"/>
          <p:cNvSpPr txBox="1"/>
          <p:nvPr/>
        </p:nvSpPr>
        <p:spPr>
          <a:xfrm>
            <a:off x="1053740" y="5556266"/>
            <a:ext cx="6220636"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Research Results</a:t>
            </a:r>
          </a:p>
        </p:txBody>
      </p:sp>
      <p:sp>
        <p:nvSpPr>
          <p:cNvPr id="10" name="TextBox 10"/>
          <p:cNvSpPr txBox="1"/>
          <p:nvPr/>
        </p:nvSpPr>
        <p:spPr>
          <a:xfrm>
            <a:off x="777029" y="7012498"/>
            <a:ext cx="16213650" cy="1989455"/>
          </a:xfrm>
          <a:prstGeom prst="rect">
            <a:avLst/>
          </a:prstGeom>
        </p:spPr>
        <p:txBody>
          <a:bodyPr lIns="0" tIns="0" rIns="0" bIns="0" rtlCol="0" anchor="t">
            <a:spAutoFit/>
          </a:bodyPr>
          <a:lstStyle/>
          <a:p>
            <a:pPr marL="496571" lvl="1" indent="-248285" algn="l">
              <a:lnSpc>
                <a:spcPts val="3220"/>
              </a:lnSpc>
              <a:buAutoNum type="arabicPeriod"/>
            </a:pPr>
            <a:r>
              <a:rPr lang="en-US" sz="2300">
                <a:solidFill>
                  <a:srgbClr val="000000"/>
                </a:solidFill>
                <a:latin typeface="Inter"/>
                <a:ea typeface="Inter"/>
                <a:cs typeface="Inter"/>
                <a:sym typeface="Inter"/>
              </a:rPr>
              <a:t>What is the general workflow of data storytelling? </a:t>
            </a:r>
          </a:p>
          <a:p>
            <a:pPr marL="496571" lvl="1" indent="-248285" algn="l">
              <a:lnSpc>
                <a:spcPts val="3220"/>
              </a:lnSpc>
              <a:buAutoNum type="arabicPeriod"/>
            </a:pPr>
            <a:r>
              <a:rPr lang="en-US" sz="2300">
                <a:solidFill>
                  <a:srgbClr val="000000"/>
                </a:solidFill>
                <a:latin typeface="Inter"/>
                <a:ea typeface="Inter"/>
                <a:cs typeface="Inter"/>
                <a:sym typeface="Inter"/>
              </a:rPr>
              <a:t>Why is AI desired in data storytelling?</a:t>
            </a:r>
          </a:p>
          <a:p>
            <a:pPr marL="496571" lvl="1" indent="-248285" algn="l">
              <a:lnSpc>
                <a:spcPts val="3220"/>
              </a:lnSpc>
              <a:buAutoNum type="arabicPeriod"/>
            </a:pPr>
            <a:r>
              <a:rPr lang="en-US" sz="2300">
                <a:solidFill>
                  <a:srgbClr val="000000"/>
                </a:solidFill>
                <a:latin typeface="Inter"/>
                <a:ea typeface="Inter"/>
                <a:cs typeface="Inter"/>
                <a:sym typeface="Inter"/>
              </a:rPr>
              <a:t>Why AI is not a panacea for data storytelling?</a:t>
            </a:r>
          </a:p>
          <a:p>
            <a:pPr marL="496571" lvl="1" indent="-248285" algn="l">
              <a:lnSpc>
                <a:spcPts val="3220"/>
              </a:lnSpc>
              <a:buAutoNum type="arabicPeriod"/>
            </a:pPr>
            <a:r>
              <a:rPr lang="en-US" sz="2300">
                <a:solidFill>
                  <a:srgbClr val="000000"/>
                </a:solidFill>
                <a:latin typeface="Inter"/>
                <a:ea typeface="Inter"/>
                <a:cs typeface="Inter"/>
                <a:sym typeface="Inter"/>
              </a:rPr>
              <a:t>Where and how do humans want to collaborate with AI?</a:t>
            </a:r>
          </a:p>
          <a:p>
            <a:pPr marL="496571" lvl="1" indent="-248285" algn="l">
              <a:lnSpc>
                <a:spcPts val="3220"/>
              </a:lnSpc>
              <a:buAutoNum type="arabicPeriod"/>
            </a:pPr>
            <a:r>
              <a:rPr lang="en-US" sz="2300">
                <a:solidFill>
                  <a:srgbClr val="000000"/>
                </a:solidFill>
                <a:latin typeface="Inter"/>
                <a:ea typeface="Inter"/>
                <a:cs typeface="Inter"/>
                <a:sym typeface="Inter"/>
              </a:rPr>
              <a:t>What should future Human-AI collaborative data storytelling tools look like?</a:t>
            </a:r>
          </a:p>
        </p:txBody>
      </p:sp>
      <p:sp>
        <p:nvSpPr>
          <p:cNvPr id="11" name="TextBox 11"/>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18</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TextBox 3"/>
          <p:cNvSpPr txBox="1"/>
          <p:nvPr/>
        </p:nvSpPr>
        <p:spPr>
          <a:xfrm>
            <a:off x="590126" y="1761495"/>
            <a:ext cx="17107748"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1. What is the general workflow of data storytelling?</a:t>
            </a:r>
          </a:p>
        </p:txBody>
      </p:sp>
      <p:grpSp>
        <p:nvGrpSpPr>
          <p:cNvPr id="4" name="Group 4"/>
          <p:cNvGrpSpPr/>
          <p:nvPr/>
        </p:nvGrpSpPr>
        <p:grpSpPr>
          <a:xfrm>
            <a:off x="9779766" y="4170581"/>
            <a:ext cx="7918108" cy="4527882"/>
            <a:chOff x="0" y="0"/>
            <a:chExt cx="2085428" cy="1192529"/>
          </a:xfrm>
        </p:grpSpPr>
        <p:sp>
          <p:nvSpPr>
            <p:cNvPr id="5" name="Freeform 5"/>
            <p:cNvSpPr/>
            <p:nvPr/>
          </p:nvSpPr>
          <p:spPr>
            <a:xfrm>
              <a:off x="0" y="0"/>
              <a:ext cx="2085428" cy="1192529"/>
            </a:xfrm>
            <a:custGeom>
              <a:avLst/>
              <a:gdLst/>
              <a:ahLst/>
              <a:cxnLst/>
              <a:rect l="l" t="t" r="r" b="b"/>
              <a:pathLst>
                <a:path w="2085428" h="1192529">
                  <a:moveTo>
                    <a:pt x="36177" y="0"/>
                  </a:moveTo>
                  <a:lnTo>
                    <a:pt x="2049251" y="0"/>
                  </a:lnTo>
                  <a:cubicBezTo>
                    <a:pt x="2058845" y="0"/>
                    <a:pt x="2068047" y="3811"/>
                    <a:pt x="2074832" y="10596"/>
                  </a:cubicBezTo>
                  <a:cubicBezTo>
                    <a:pt x="2081616" y="17380"/>
                    <a:pt x="2085428" y="26582"/>
                    <a:pt x="2085428" y="36177"/>
                  </a:cubicBezTo>
                  <a:lnTo>
                    <a:pt x="2085428" y="1156352"/>
                  </a:lnTo>
                  <a:cubicBezTo>
                    <a:pt x="2085428" y="1176332"/>
                    <a:pt x="2069231" y="1192529"/>
                    <a:pt x="2049251" y="1192529"/>
                  </a:cubicBezTo>
                  <a:lnTo>
                    <a:pt x="36177" y="1192529"/>
                  </a:lnTo>
                  <a:cubicBezTo>
                    <a:pt x="26582" y="1192529"/>
                    <a:pt x="17380" y="1188717"/>
                    <a:pt x="10596" y="1181933"/>
                  </a:cubicBezTo>
                  <a:cubicBezTo>
                    <a:pt x="3811" y="1175148"/>
                    <a:pt x="0" y="1165947"/>
                    <a:pt x="0" y="1156352"/>
                  </a:cubicBezTo>
                  <a:lnTo>
                    <a:pt x="0" y="36177"/>
                  </a:lnTo>
                  <a:cubicBezTo>
                    <a:pt x="0" y="26582"/>
                    <a:pt x="3811" y="17380"/>
                    <a:pt x="10596" y="10596"/>
                  </a:cubicBezTo>
                  <a:cubicBezTo>
                    <a:pt x="17380" y="3811"/>
                    <a:pt x="26582" y="0"/>
                    <a:pt x="36177" y="0"/>
                  </a:cubicBezTo>
                  <a:close/>
                </a:path>
              </a:pathLst>
            </a:custGeom>
            <a:solidFill>
              <a:srgbClr val="000000">
                <a:alpha val="0"/>
              </a:srgbClr>
            </a:solidFill>
            <a:ln w="19050" cap="rnd">
              <a:solidFill>
                <a:srgbClr val="363336"/>
              </a:solidFill>
              <a:prstDash val="solid"/>
              <a:round/>
            </a:ln>
          </p:spPr>
          <p:txBody>
            <a:bodyPr/>
            <a:lstStyle/>
            <a:p>
              <a:endParaRPr lang="zh-TW" altLang="en-US"/>
            </a:p>
          </p:txBody>
        </p:sp>
        <p:sp>
          <p:nvSpPr>
            <p:cNvPr id="6" name="TextBox 6"/>
            <p:cNvSpPr txBox="1"/>
            <p:nvPr/>
          </p:nvSpPr>
          <p:spPr>
            <a:xfrm>
              <a:off x="0" y="19050"/>
              <a:ext cx="2085428" cy="1173479"/>
            </a:xfrm>
            <a:prstGeom prst="rect">
              <a:avLst/>
            </a:prstGeom>
          </p:spPr>
          <p:txBody>
            <a:bodyPr lIns="50800" tIns="50800" rIns="50800" bIns="50800" rtlCol="0" anchor="ctr"/>
            <a:lstStyle/>
            <a:p>
              <a:pPr algn="ctr">
                <a:lnSpc>
                  <a:spcPts val="2749"/>
                </a:lnSpc>
              </a:pPr>
              <a:endParaRPr/>
            </a:p>
          </p:txBody>
        </p:sp>
      </p:grpSp>
      <p:sp>
        <p:nvSpPr>
          <p:cNvPr id="7" name="Freeform 7"/>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8" name="Freeform 8"/>
          <p:cNvSpPr/>
          <p:nvPr/>
        </p:nvSpPr>
        <p:spPr>
          <a:xfrm>
            <a:off x="8361167" y="1057906"/>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9" name="TextBox 9"/>
          <p:cNvSpPr txBox="1"/>
          <p:nvPr/>
        </p:nvSpPr>
        <p:spPr>
          <a:xfrm>
            <a:off x="590126" y="3268345"/>
            <a:ext cx="8097612" cy="6390005"/>
          </a:xfrm>
          <a:prstGeom prst="rect">
            <a:avLst/>
          </a:prstGeom>
        </p:spPr>
        <p:txBody>
          <a:bodyPr lIns="0" tIns="0" rIns="0" bIns="0" rtlCol="0" anchor="t">
            <a:spAutoFit/>
          </a:bodyPr>
          <a:lstStyle/>
          <a:p>
            <a:pPr algn="l">
              <a:lnSpc>
                <a:spcPts val="3220"/>
              </a:lnSpc>
            </a:pPr>
            <a:r>
              <a:rPr lang="en-US" sz="2300" dirty="0">
                <a:solidFill>
                  <a:srgbClr val="000000"/>
                </a:solidFill>
                <a:latin typeface="Inter"/>
                <a:ea typeface="Inter"/>
                <a:cs typeface="Inter"/>
                <a:sym typeface="Inter"/>
              </a:rPr>
              <a:t>From the interviews, the study identifies a 3-stage workflow consisting of 7 key tasks:</a:t>
            </a:r>
          </a:p>
          <a:p>
            <a:pPr algn="l">
              <a:lnSpc>
                <a:spcPts val="3220"/>
              </a:lnSpc>
            </a:pPr>
            <a:endParaRPr lang="en-US" sz="2300" dirty="0">
              <a:solidFill>
                <a:srgbClr val="000000"/>
              </a:solidFill>
              <a:latin typeface="Inter"/>
              <a:ea typeface="Inter"/>
              <a:cs typeface="Inter"/>
              <a:sym typeface="Inter"/>
            </a:endParaRPr>
          </a:p>
          <a:p>
            <a:pPr algn="l">
              <a:lnSpc>
                <a:spcPts val="3220"/>
              </a:lnSpc>
            </a:pPr>
            <a:r>
              <a:rPr lang="en-US" sz="2300" dirty="0">
                <a:solidFill>
                  <a:srgbClr val="000000"/>
                </a:solidFill>
                <a:latin typeface="Inter"/>
                <a:ea typeface="Inter"/>
                <a:cs typeface="Inter"/>
                <a:sym typeface="Inter"/>
              </a:rPr>
              <a:t>(1) </a:t>
            </a:r>
            <a:r>
              <a:rPr lang="en-US" sz="2300" b="1" dirty="0">
                <a:solidFill>
                  <a:srgbClr val="000000"/>
                </a:solidFill>
                <a:latin typeface="Inter Bold"/>
                <a:ea typeface="Inter Bold"/>
                <a:cs typeface="Inter Bold"/>
                <a:sym typeface="Inter Bold"/>
              </a:rPr>
              <a:t>Planning</a:t>
            </a:r>
          </a:p>
          <a:p>
            <a:pPr marL="496571" lvl="1" indent="-248285" algn="l">
              <a:lnSpc>
                <a:spcPts val="3220"/>
              </a:lnSpc>
              <a:buFont typeface="Arial"/>
              <a:buChar char="•"/>
            </a:pPr>
            <a:r>
              <a:rPr lang="en-US" sz="2300" dirty="0">
                <a:solidFill>
                  <a:srgbClr val="000000"/>
                </a:solidFill>
                <a:latin typeface="Inter"/>
                <a:ea typeface="Inter"/>
                <a:cs typeface="Inter"/>
                <a:sym typeface="Inter"/>
              </a:rPr>
              <a:t>Decide the core message</a:t>
            </a:r>
          </a:p>
          <a:p>
            <a:pPr marL="496571" lvl="1" indent="-248285" algn="l">
              <a:lnSpc>
                <a:spcPts val="3220"/>
              </a:lnSpc>
              <a:buFont typeface="Arial"/>
              <a:buChar char="•"/>
            </a:pPr>
            <a:r>
              <a:rPr lang="en-US" sz="2300" dirty="0">
                <a:solidFill>
                  <a:srgbClr val="000000"/>
                </a:solidFill>
                <a:latin typeface="Inter"/>
                <a:ea typeface="Inter"/>
                <a:cs typeface="Inter"/>
                <a:sym typeface="Inter"/>
              </a:rPr>
              <a:t>Collect data facts </a:t>
            </a:r>
          </a:p>
          <a:p>
            <a:pPr marL="496571" lvl="1" indent="-248285" algn="l">
              <a:lnSpc>
                <a:spcPts val="3220"/>
              </a:lnSpc>
              <a:buFont typeface="Arial"/>
              <a:buChar char="•"/>
            </a:pPr>
            <a:r>
              <a:rPr lang="en-US" sz="2300" dirty="0">
                <a:solidFill>
                  <a:srgbClr val="000000"/>
                </a:solidFill>
                <a:latin typeface="Inter"/>
                <a:ea typeface="Inter"/>
                <a:cs typeface="Inter"/>
                <a:sym typeface="Inter"/>
              </a:rPr>
              <a:t>Compile the story outline</a:t>
            </a:r>
          </a:p>
          <a:p>
            <a:pPr algn="l">
              <a:lnSpc>
                <a:spcPts val="3220"/>
              </a:lnSpc>
            </a:pPr>
            <a:endParaRPr lang="en-US" sz="2300" dirty="0">
              <a:solidFill>
                <a:srgbClr val="000000"/>
              </a:solidFill>
              <a:latin typeface="Inter"/>
              <a:ea typeface="Inter"/>
              <a:cs typeface="Inter"/>
              <a:sym typeface="Inter"/>
            </a:endParaRPr>
          </a:p>
          <a:p>
            <a:pPr algn="l">
              <a:lnSpc>
                <a:spcPts val="3220"/>
              </a:lnSpc>
            </a:pPr>
            <a:r>
              <a:rPr lang="en-US" sz="2300" dirty="0">
                <a:solidFill>
                  <a:srgbClr val="000000"/>
                </a:solidFill>
                <a:latin typeface="Inter"/>
                <a:ea typeface="Inter"/>
                <a:cs typeface="Inter"/>
                <a:sym typeface="Inter"/>
              </a:rPr>
              <a:t>(2) </a:t>
            </a:r>
            <a:r>
              <a:rPr lang="en-US" sz="2300" b="1" dirty="0">
                <a:solidFill>
                  <a:srgbClr val="000000"/>
                </a:solidFill>
                <a:latin typeface="Inter Bold"/>
                <a:ea typeface="Inter Bold"/>
                <a:cs typeface="Inter Bold"/>
                <a:sym typeface="Inter Bold"/>
              </a:rPr>
              <a:t>Implementation</a:t>
            </a:r>
          </a:p>
          <a:p>
            <a:pPr marL="496571" lvl="1" indent="-248285" algn="l">
              <a:lnSpc>
                <a:spcPts val="3220"/>
              </a:lnSpc>
              <a:buFont typeface="Arial"/>
              <a:buChar char="•"/>
            </a:pPr>
            <a:r>
              <a:rPr lang="en-US" sz="2300" dirty="0">
                <a:solidFill>
                  <a:srgbClr val="000000"/>
                </a:solidFill>
                <a:latin typeface="Inter"/>
                <a:ea typeface="Inter"/>
                <a:cs typeface="Inter"/>
                <a:sym typeface="Inter"/>
              </a:rPr>
              <a:t>Prepare story pieces </a:t>
            </a:r>
          </a:p>
          <a:p>
            <a:pPr marL="496571" lvl="1" indent="-248285" algn="l">
              <a:lnSpc>
                <a:spcPts val="3220"/>
              </a:lnSpc>
              <a:buFont typeface="Arial"/>
              <a:buChar char="•"/>
            </a:pPr>
            <a:r>
              <a:rPr lang="en-US" sz="2300" dirty="0">
                <a:solidFill>
                  <a:srgbClr val="000000"/>
                </a:solidFill>
                <a:latin typeface="Inter"/>
                <a:ea typeface="Inter"/>
                <a:cs typeface="Inter"/>
                <a:sym typeface="Inter"/>
              </a:rPr>
              <a:t>Integrate story pieces </a:t>
            </a:r>
          </a:p>
          <a:p>
            <a:pPr marL="496571" lvl="1" indent="-248285" algn="l">
              <a:lnSpc>
                <a:spcPts val="3220"/>
              </a:lnSpc>
              <a:buFont typeface="Arial"/>
              <a:buChar char="•"/>
            </a:pPr>
            <a:r>
              <a:rPr lang="en-US" sz="2300" dirty="0">
                <a:solidFill>
                  <a:srgbClr val="000000"/>
                </a:solidFill>
                <a:latin typeface="Inter"/>
                <a:ea typeface="Inter"/>
                <a:cs typeface="Inter"/>
                <a:sym typeface="Inter"/>
              </a:rPr>
              <a:t>Style the story </a:t>
            </a:r>
          </a:p>
          <a:p>
            <a:pPr algn="l">
              <a:lnSpc>
                <a:spcPts val="3220"/>
              </a:lnSpc>
            </a:pPr>
            <a:endParaRPr lang="en-US" sz="2300" dirty="0">
              <a:solidFill>
                <a:srgbClr val="000000"/>
              </a:solidFill>
              <a:latin typeface="Inter"/>
              <a:ea typeface="Inter"/>
              <a:cs typeface="Inter"/>
              <a:sym typeface="Inter"/>
            </a:endParaRPr>
          </a:p>
          <a:p>
            <a:pPr algn="l">
              <a:lnSpc>
                <a:spcPts val="3220"/>
              </a:lnSpc>
            </a:pPr>
            <a:r>
              <a:rPr lang="en-US" sz="2300" dirty="0">
                <a:solidFill>
                  <a:srgbClr val="000000"/>
                </a:solidFill>
                <a:latin typeface="Inter"/>
                <a:ea typeface="Inter"/>
                <a:cs typeface="Inter"/>
                <a:sym typeface="Inter"/>
              </a:rPr>
              <a:t>(3) </a:t>
            </a:r>
            <a:r>
              <a:rPr lang="en-US" sz="2300" b="1" dirty="0">
                <a:solidFill>
                  <a:srgbClr val="000000"/>
                </a:solidFill>
                <a:latin typeface="Inter Bold"/>
                <a:ea typeface="Inter Bold"/>
                <a:cs typeface="Inter Bold"/>
                <a:sym typeface="Inter Bold"/>
              </a:rPr>
              <a:t>Communication</a:t>
            </a:r>
          </a:p>
          <a:p>
            <a:pPr marL="496571" lvl="1" indent="-248285" algn="l">
              <a:lnSpc>
                <a:spcPts val="3220"/>
              </a:lnSpc>
              <a:buFont typeface="Arial"/>
              <a:buChar char="•"/>
            </a:pPr>
            <a:r>
              <a:rPr lang="en-US" sz="2300" dirty="0">
                <a:solidFill>
                  <a:srgbClr val="000000"/>
                </a:solidFill>
                <a:latin typeface="Inter"/>
                <a:ea typeface="Inter"/>
                <a:cs typeface="Inter"/>
                <a:sym typeface="Inter"/>
              </a:rPr>
              <a:t>Share and present </a:t>
            </a:r>
          </a:p>
          <a:p>
            <a:pPr algn="l">
              <a:lnSpc>
                <a:spcPts val="3220"/>
              </a:lnSpc>
            </a:pPr>
            <a:endParaRPr lang="en-US" sz="2300" dirty="0">
              <a:solidFill>
                <a:srgbClr val="000000"/>
              </a:solidFill>
              <a:latin typeface="Inter"/>
              <a:ea typeface="Inter"/>
              <a:cs typeface="Inter"/>
              <a:sym typeface="Inter"/>
            </a:endParaRPr>
          </a:p>
        </p:txBody>
      </p:sp>
      <p:sp>
        <p:nvSpPr>
          <p:cNvPr id="10" name="TextBox 10"/>
          <p:cNvSpPr txBox="1"/>
          <p:nvPr/>
        </p:nvSpPr>
        <p:spPr>
          <a:xfrm>
            <a:off x="10018164" y="4521138"/>
            <a:ext cx="7441313" cy="3639185"/>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0000"/>
                </a:solidFill>
                <a:latin typeface="Inter"/>
                <a:ea typeface="Inter"/>
                <a:cs typeface="Inter"/>
                <a:sym typeface="Inter"/>
              </a:rPr>
              <a:t>Data workers mainly want AI in the planning and implementation stages.</a:t>
            </a:r>
          </a:p>
          <a:p>
            <a:pPr marL="561341" lvl="1" indent="-280670" algn="l">
              <a:lnSpc>
                <a:spcPts val="3640"/>
              </a:lnSpc>
              <a:buFont typeface="Arial"/>
              <a:buChar char="•"/>
            </a:pPr>
            <a:r>
              <a:rPr lang="en-US" sz="2600">
                <a:solidFill>
                  <a:srgbClr val="000000"/>
                </a:solidFill>
                <a:latin typeface="Inter"/>
                <a:ea typeface="Inter"/>
                <a:cs typeface="Inter"/>
                <a:sym typeface="Inter"/>
              </a:rPr>
              <a:t> The most popular tasks are collecting data facts, preparing story pieces and styling the story.</a:t>
            </a:r>
          </a:p>
          <a:p>
            <a:pPr marL="561341" lvl="1" indent="-280670" algn="l">
              <a:lnSpc>
                <a:spcPts val="3640"/>
              </a:lnSpc>
              <a:buFont typeface="Arial"/>
              <a:buChar char="•"/>
            </a:pPr>
            <a:r>
              <a:rPr lang="en-US" sz="2600">
                <a:solidFill>
                  <a:srgbClr val="000000"/>
                </a:solidFill>
                <a:latin typeface="Inter"/>
                <a:ea typeface="Inter"/>
                <a:cs typeface="Inter"/>
                <a:sym typeface="Inter"/>
              </a:rPr>
              <a:t> Interestingly, they are very reluctant to let AI decide the core message.</a:t>
            </a:r>
          </a:p>
          <a:p>
            <a:pPr marL="561341" lvl="1" indent="-280670" algn="l">
              <a:lnSpc>
                <a:spcPts val="3640"/>
              </a:lnSpc>
              <a:buFont typeface="Arial"/>
              <a:buChar char="•"/>
            </a:pPr>
            <a:r>
              <a:rPr lang="en-US" sz="2600">
                <a:solidFill>
                  <a:srgbClr val="000000"/>
                </a:solidFill>
                <a:latin typeface="Inter"/>
                <a:ea typeface="Inter"/>
                <a:cs typeface="Inter"/>
                <a:sym typeface="Inter"/>
              </a:rPr>
              <a:t> That is seen as a human responsibility.</a:t>
            </a:r>
          </a:p>
        </p:txBody>
      </p:sp>
      <p:sp>
        <p:nvSpPr>
          <p:cNvPr id="11" name="TextBox 11"/>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19</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TextBox 3"/>
          <p:cNvSpPr txBox="1"/>
          <p:nvPr/>
        </p:nvSpPr>
        <p:spPr>
          <a:xfrm>
            <a:off x="590126" y="1761495"/>
            <a:ext cx="17107748"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2. Why is AI desired in data storytelling?</a:t>
            </a:r>
          </a:p>
        </p:txBody>
      </p:sp>
      <p:sp>
        <p:nvSpPr>
          <p:cNvPr id="4" name="Freeform 4"/>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 name="Freeform 5"/>
          <p:cNvSpPr/>
          <p:nvPr/>
        </p:nvSpPr>
        <p:spPr>
          <a:xfrm>
            <a:off x="8361167" y="1057906"/>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6" name="TextBox 6"/>
          <p:cNvSpPr txBox="1"/>
          <p:nvPr/>
        </p:nvSpPr>
        <p:spPr>
          <a:xfrm>
            <a:off x="590126" y="3206120"/>
            <a:ext cx="11024253" cy="5589905"/>
          </a:xfrm>
          <a:prstGeom prst="rect">
            <a:avLst/>
          </a:prstGeom>
        </p:spPr>
        <p:txBody>
          <a:bodyPr lIns="0" tIns="0" rIns="0" bIns="0" rtlCol="0" anchor="t">
            <a:spAutoFit/>
          </a:bodyPr>
          <a:lstStyle/>
          <a:p>
            <a:pPr algn="l">
              <a:lnSpc>
                <a:spcPts val="3220"/>
              </a:lnSpc>
            </a:pPr>
            <a:r>
              <a:rPr lang="en-US" sz="2300">
                <a:solidFill>
                  <a:srgbClr val="000000"/>
                </a:solidFill>
                <a:latin typeface="Inter"/>
                <a:ea typeface="Inter"/>
                <a:cs typeface="Inter"/>
                <a:sym typeface="Inter"/>
              </a:rPr>
              <a:t>Participants reported four major motivations:</a:t>
            </a:r>
          </a:p>
          <a:p>
            <a:pPr algn="l">
              <a:lnSpc>
                <a:spcPts val="3220"/>
              </a:lnSpc>
            </a:pPr>
            <a:endParaRPr lang="en-US" sz="2300">
              <a:solidFill>
                <a:srgbClr val="000000"/>
              </a:solidFill>
              <a:latin typeface="Inter"/>
              <a:ea typeface="Inter"/>
              <a:cs typeface="Inter"/>
              <a:sym typeface="Inter"/>
            </a:endParaRPr>
          </a:p>
          <a:p>
            <a:pPr algn="l">
              <a:lnSpc>
                <a:spcPts val="3220"/>
              </a:lnSpc>
            </a:pPr>
            <a:r>
              <a:rPr lang="en-US" sz="2300">
                <a:solidFill>
                  <a:srgbClr val="000000"/>
                </a:solidFill>
                <a:latin typeface="Inter"/>
                <a:ea typeface="Inter"/>
                <a:cs typeface="Inter"/>
                <a:sym typeface="Inter"/>
              </a:rPr>
              <a:t>(1) Reducing repetitive work</a:t>
            </a:r>
          </a:p>
          <a:p>
            <a:pPr algn="l">
              <a:lnSpc>
                <a:spcPts val="3220"/>
              </a:lnSpc>
            </a:pPr>
            <a:r>
              <a:rPr lang="en-US" sz="2300">
                <a:solidFill>
                  <a:srgbClr val="000000"/>
                </a:solidFill>
                <a:latin typeface="Inter"/>
                <a:ea typeface="Inter"/>
                <a:cs typeface="Inter"/>
                <a:sym typeface="Inter"/>
              </a:rPr>
              <a:t> AI is valued for automating formatting, layout changes, and version control.</a:t>
            </a:r>
          </a:p>
          <a:p>
            <a:pPr algn="l">
              <a:lnSpc>
                <a:spcPts val="3220"/>
              </a:lnSpc>
            </a:pPr>
            <a:endParaRPr lang="en-US" sz="2300">
              <a:solidFill>
                <a:srgbClr val="000000"/>
              </a:solidFill>
              <a:latin typeface="Inter"/>
              <a:ea typeface="Inter"/>
              <a:cs typeface="Inter"/>
              <a:sym typeface="Inter"/>
            </a:endParaRPr>
          </a:p>
          <a:p>
            <a:pPr algn="l">
              <a:lnSpc>
                <a:spcPts val="3220"/>
              </a:lnSpc>
            </a:pPr>
            <a:r>
              <a:rPr lang="en-US" sz="2300">
                <a:solidFill>
                  <a:srgbClr val="000000"/>
                </a:solidFill>
                <a:latin typeface="Inter"/>
                <a:ea typeface="Inter"/>
                <a:cs typeface="Inter"/>
                <a:sym typeface="Inter"/>
              </a:rPr>
              <a:t>(2) Faster &amp; cheaper than humans</a:t>
            </a:r>
          </a:p>
          <a:p>
            <a:pPr algn="l">
              <a:lnSpc>
                <a:spcPts val="3220"/>
              </a:lnSpc>
            </a:pPr>
            <a:r>
              <a:rPr lang="en-US" sz="2300">
                <a:solidFill>
                  <a:srgbClr val="000000"/>
                </a:solidFill>
                <a:latin typeface="Inter"/>
                <a:ea typeface="Inter"/>
                <a:cs typeface="Inter"/>
                <a:sym typeface="Inter"/>
              </a:rPr>
              <a:t> AI enables rapid generation of charts, summaries, and alternative designs.</a:t>
            </a:r>
          </a:p>
          <a:p>
            <a:pPr algn="l">
              <a:lnSpc>
                <a:spcPts val="3220"/>
              </a:lnSpc>
            </a:pPr>
            <a:endParaRPr lang="en-US" sz="2300">
              <a:solidFill>
                <a:srgbClr val="000000"/>
              </a:solidFill>
              <a:latin typeface="Inter"/>
              <a:ea typeface="Inter"/>
              <a:cs typeface="Inter"/>
              <a:sym typeface="Inter"/>
            </a:endParaRPr>
          </a:p>
          <a:p>
            <a:pPr algn="l">
              <a:lnSpc>
                <a:spcPts val="3220"/>
              </a:lnSpc>
            </a:pPr>
            <a:r>
              <a:rPr lang="en-US" sz="2300">
                <a:solidFill>
                  <a:srgbClr val="000000"/>
                </a:solidFill>
                <a:latin typeface="Inter"/>
                <a:ea typeface="Inter"/>
                <a:cs typeface="Inter"/>
                <a:sym typeface="Inter"/>
              </a:rPr>
              <a:t>(3) Creative support </a:t>
            </a:r>
          </a:p>
          <a:p>
            <a:pPr algn="l">
              <a:lnSpc>
                <a:spcPts val="3220"/>
              </a:lnSpc>
            </a:pPr>
            <a:r>
              <a:rPr lang="en-US" sz="2300">
                <a:solidFill>
                  <a:srgbClr val="000000"/>
                </a:solidFill>
                <a:latin typeface="Inter"/>
                <a:ea typeface="Inter"/>
                <a:cs typeface="Inter"/>
                <a:sym typeface="Inter"/>
              </a:rPr>
              <a:t> AI can suggest diverse ideas and perspectives that humans may overlook.</a:t>
            </a:r>
          </a:p>
          <a:p>
            <a:pPr algn="l">
              <a:lnSpc>
                <a:spcPts val="3220"/>
              </a:lnSpc>
            </a:pPr>
            <a:endParaRPr lang="en-US" sz="2300">
              <a:solidFill>
                <a:srgbClr val="000000"/>
              </a:solidFill>
              <a:latin typeface="Inter"/>
              <a:ea typeface="Inter"/>
              <a:cs typeface="Inter"/>
              <a:sym typeface="Inter"/>
            </a:endParaRPr>
          </a:p>
          <a:p>
            <a:pPr algn="l">
              <a:lnSpc>
                <a:spcPts val="3220"/>
              </a:lnSpc>
            </a:pPr>
            <a:r>
              <a:rPr lang="en-US" sz="2300">
                <a:solidFill>
                  <a:srgbClr val="000000"/>
                </a:solidFill>
                <a:latin typeface="Inter"/>
                <a:ea typeface="Inter"/>
                <a:cs typeface="Inter"/>
                <a:sym typeface="Inter"/>
              </a:rPr>
              <a:t>(4) Low social cost</a:t>
            </a:r>
          </a:p>
          <a:p>
            <a:pPr algn="l">
              <a:lnSpc>
                <a:spcPts val="3220"/>
              </a:lnSpc>
            </a:pPr>
            <a:r>
              <a:rPr lang="en-US" sz="2300">
                <a:solidFill>
                  <a:srgbClr val="000000"/>
                </a:solidFill>
                <a:latin typeface="Inter"/>
                <a:ea typeface="Inter"/>
                <a:cs typeface="Inter"/>
                <a:sym typeface="Inter"/>
              </a:rPr>
              <a:t> Users feel comfortable making unlimited requests to AI without social pressure.</a:t>
            </a:r>
          </a:p>
          <a:p>
            <a:pPr algn="l">
              <a:lnSpc>
                <a:spcPts val="3220"/>
              </a:lnSpc>
            </a:pPr>
            <a:endParaRPr lang="en-US" sz="2300">
              <a:solidFill>
                <a:srgbClr val="000000"/>
              </a:solidFill>
              <a:latin typeface="Inter"/>
              <a:ea typeface="Inter"/>
              <a:cs typeface="Inter"/>
              <a:sym typeface="Inter"/>
            </a:endParaRPr>
          </a:p>
        </p:txBody>
      </p:sp>
      <p:sp>
        <p:nvSpPr>
          <p:cNvPr id="7" name="TextBox 7"/>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20</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TextBox 3"/>
          <p:cNvSpPr txBox="1"/>
          <p:nvPr/>
        </p:nvSpPr>
        <p:spPr>
          <a:xfrm>
            <a:off x="590126" y="1761495"/>
            <a:ext cx="17107748"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3. Why is AI not a panacea for data storytelling?</a:t>
            </a:r>
          </a:p>
        </p:txBody>
      </p:sp>
      <p:sp>
        <p:nvSpPr>
          <p:cNvPr id="4" name="Freeform 4"/>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 name="Freeform 5"/>
          <p:cNvSpPr/>
          <p:nvPr/>
        </p:nvSpPr>
        <p:spPr>
          <a:xfrm>
            <a:off x="8361167" y="1057906"/>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6" name="TextBox 6"/>
          <p:cNvSpPr txBox="1"/>
          <p:nvPr/>
        </p:nvSpPr>
        <p:spPr>
          <a:xfrm>
            <a:off x="590126" y="3253745"/>
            <a:ext cx="12048912" cy="5189855"/>
          </a:xfrm>
          <a:prstGeom prst="rect">
            <a:avLst/>
          </a:prstGeom>
        </p:spPr>
        <p:txBody>
          <a:bodyPr lIns="0" tIns="0" rIns="0" bIns="0" rtlCol="0" anchor="t">
            <a:spAutoFit/>
          </a:bodyPr>
          <a:lstStyle/>
          <a:p>
            <a:pPr algn="l">
              <a:lnSpc>
                <a:spcPts val="3220"/>
              </a:lnSpc>
            </a:pPr>
            <a:r>
              <a:rPr lang="en-US" sz="2300">
                <a:solidFill>
                  <a:srgbClr val="000000"/>
                </a:solidFill>
                <a:latin typeface="Inter"/>
                <a:ea typeface="Inter"/>
                <a:cs typeface="Inter"/>
                <a:sym typeface="Inter"/>
              </a:rPr>
              <a:t>Despite its potential, AI has critical limitations:</a:t>
            </a:r>
          </a:p>
          <a:p>
            <a:pPr algn="l">
              <a:lnSpc>
                <a:spcPts val="3220"/>
              </a:lnSpc>
            </a:pPr>
            <a:endParaRPr lang="en-US" sz="2300">
              <a:solidFill>
                <a:srgbClr val="000000"/>
              </a:solidFill>
              <a:latin typeface="Inter"/>
              <a:ea typeface="Inter"/>
              <a:cs typeface="Inter"/>
              <a:sym typeface="Inter"/>
            </a:endParaRPr>
          </a:p>
          <a:p>
            <a:pPr algn="l">
              <a:lnSpc>
                <a:spcPts val="3220"/>
              </a:lnSpc>
            </a:pPr>
            <a:r>
              <a:rPr lang="en-US" sz="2300">
                <a:solidFill>
                  <a:srgbClr val="000000"/>
                </a:solidFill>
                <a:latin typeface="Inter"/>
                <a:ea typeface="Inter"/>
                <a:cs typeface="Inter"/>
                <a:sym typeface="Inter"/>
              </a:rPr>
              <a:t>(1) Lack of contextual understanding</a:t>
            </a:r>
          </a:p>
          <a:p>
            <a:pPr algn="l">
              <a:lnSpc>
                <a:spcPts val="3220"/>
              </a:lnSpc>
            </a:pPr>
            <a:r>
              <a:rPr lang="en-US" sz="2300">
                <a:solidFill>
                  <a:srgbClr val="000000"/>
                </a:solidFill>
                <a:latin typeface="Inter"/>
                <a:ea typeface="Inter"/>
                <a:cs typeface="Inter"/>
                <a:sym typeface="Inter"/>
              </a:rPr>
              <a:t> AI often fails to understand project-specific background and domain knowledge.</a:t>
            </a:r>
          </a:p>
          <a:p>
            <a:pPr algn="l">
              <a:lnSpc>
                <a:spcPts val="3220"/>
              </a:lnSpc>
            </a:pPr>
            <a:endParaRPr lang="en-US" sz="2300">
              <a:solidFill>
                <a:srgbClr val="000000"/>
              </a:solidFill>
              <a:latin typeface="Inter"/>
              <a:ea typeface="Inter"/>
              <a:cs typeface="Inter"/>
              <a:sym typeface="Inter"/>
            </a:endParaRPr>
          </a:p>
          <a:p>
            <a:pPr algn="l">
              <a:lnSpc>
                <a:spcPts val="3220"/>
              </a:lnSpc>
            </a:pPr>
            <a:r>
              <a:rPr lang="en-US" sz="2300">
                <a:solidFill>
                  <a:srgbClr val="000000"/>
                </a:solidFill>
                <a:latin typeface="Inter"/>
                <a:ea typeface="Inter"/>
                <a:cs typeface="Inter"/>
                <a:sym typeface="Inter"/>
              </a:rPr>
              <a:t>(2) Difficulty in expressing intent</a:t>
            </a:r>
          </a:p>
          <a:p>
            <a:pPr algn="l">
              <a:lnSpc>
                <a:spcPts val="3220"/>
              </a:lnSpc>
            </a:pPr>
            <a:r>
              <a:rPr lang="en-US" sz="2300">
                <a:solidFill>
                  <a:srgbClr val="000000"/>
                </a:solidFill>
                <a:latin typeface="Inter"/>
                <a:ea typeface="Inter"/>
                <a:cs typeface="Inter"/>
                <a:sym typeface="Inter"/>
              </a:rPr>
              <a:t> Data workers struggle to communicate subtle goals to AI systems precisely.</a:t>
            </a:r>
          </a:p>
          <a:p>
            <a:pPr algn="l">
              <a:lnSpc>
                <a:spcPts val="3220"/>
              </a:lnSpc>
            </a:pPr>
            <a:endParaRPr lang="en-US" sz="2300">
              <a:solidFill>
                <a:srgbClr val="000000"/>
              </a:solidFill>
              <a:latin typeface="Inter"/>
              <a:ea typeface="Inter"/>
              <a:cs typeface="Inter"/>
              <a:sym typeface="Inter"/>
            </a:endParaRPr>
          </a:p>
          <a:p>
            <a:pPr algn="l">
              <a:lnSpc>
                <a:spcPts val="3220"/>
              </a:lnSpc>
            </a:pPr>
            <a:r>
              <a:rPr lang="en-US" sz="2300">
                <a:solidFill>
                  <a:srgbClr val="000000"/>
                </a:solidFill>
                <a:latin typeface="Inter"/>
                <a:ea typeface="Inter"/>
                <a:cs typeface="Inter"/>
                <a:sym typeface="Inter"/>
              </a:rPr>
              <a:t>(3)Risk of misinformation</a:t>
            </a:r>
          </a:p>
          <a:p>
            <a:pPr algn="l">
              <a:lnSpc>
                <a:spcPts val="3220"/>
              </a:lnSpc>
            </a:pPr>
            <a:r>
              <a:rPr lang="en-US" sz="2300">
                <a:solidFill>
                  <a:srgbClr val="000000"/>
                </a:solidFill>
                <a:latin typeface="Inter"/>
                <a:ea typeface="Inter"/>
                <a:cs typeface="Inter"/>
                <a:sym typeface="Inter"/>
              </a:rPr>
              <a:t> AI can generate misleading or incorrect explanations.</a:t>
            </a:r>
          </a:p>
          <a:p>
            <a:pPr algn="l">
              <a:lnSpc>
                <a:spcPts val="3220"/>
              </a:lnSpc>
            </a:pPr>
            <a:endParaRPr lang="en-US" sz="2300">
              <a:solidFill>
                <a:srgbClr val="000000"/>
              </a:solidFill>
              <a:latin typeface="Inter"/>
              <a:ea typeface="Inter"/>
              <a:cs typeface="Inter"/>
              <a:sym typeface="Inter"/>
            </a:endParaRPr>
          </a:p>
          <a:p>
            <a:pPr algn="l">
              <a:lnSpc>
                <a:spcPts val="3220"/>
              </a:lnSpc>
            </a:pPr>
            <a:r>
              <a:rPr lang="en-US" sz="2300">
                <a:solidFill>
                  <a:srgbClr val="000000"/>
                </a:solidFill>
                <a:latin typeface="Inter"/>
                <a:ea typeface="Inter"/>
                <a:cs typeface="Inter"/>
                <a:sym typeface="Inter"/>
              </a:rPr>
              <a:t>(4)Ethical and responsibility concerns</a:t>
            </a:r>
          </a:p>
          <a:p>
            <a:pPr algn="l">
              <a:lnSpc>
                <a:spcPts val="3220"/>
              </a:lnSpc>
            </a:pPr>
            <a:r>
              <a:rPr lang="en-US" sz="2300">
                <a:solidFill>
                  <a:srgbClr val="000000"/>
                </a:solidFill>
                <a:latin typeface="Inter"/>
                <a:ea typeface="Inter"/>
                <a:cs typeface="Inter"/>
                <a:sym typeface="Inter"/>
              </a:rPr>
              <a:t>Who is responsible when AI makes mistakes? You cannot  say “the model did it.”</a:t>
            </a:r>
          </a:p>
        </p:txBody>
      </p:sp>
      <p:sp>
        <p:nvSpPr>
          <p:cNvPr id="7" name="TextBox 7"/>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21</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361167" y="1057906"/>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TextBox 5"/>
          <p:cNvSpPr txBox="1"/>
          <p:nvPr/>
        </p:nvSpPr>
        <p:spPr>
          <a:xfrm>
            <a:off x="657493" y="4101761"/>
            <a:ext cx="14750519" cy="1989455"/>
          </a:xfrm>
          <a:prstGeom prst="rect">
            <a:avLst/>
          </a:prstGeom>
        </p:spPr>
        <p:txBody>
          <a:bodyPr lIns="0" tIns="0" rIns="0" bIns="0" rtlCol="0" anchor="t">
            <a:spAutoFit/>
          </a:bodyPr>
          <a:lstStyle/>
          <a:p>
            <a:pPr algn="l">
              <a:lnSpc>
                <a:spcPts val="3220"/>
              </a:lnSpc>
            </a:pPr>
            <a:r>
              <a:rPr lang="en-US" sz="2300">
                <a:solidFill>
                  <a:srgbClr val="000000"/>
                </a:solidFill>
                <a:latin typeface="Inter"/>
                <a:ea typeface="Inter"/>
                <a:cs typeface="Inter"/>
                <a:sym typeface="Inter"/>
              </a:rPr>
              <a:t>Instead of seeing AI as a single tool, participants described four different roles for AI collaborators.</a:t>
            </a:r>
          </a:p>
          <a:p>
            <a:pPr algn="l">
              <a:lnSpc>
                <a:spcPts val="3220"/>
              </a:lnSpc>
            </a:pPr>
            <a:endParaRPr lang="en-US" sz="2300">
              <a:solidFill>
                <a:srgbClr val="000000"/>
              </a:solidFill>
              <a:latin typeface="Inter"/>
              <a:ea typeface="Inter"/>
              <a:cs typeface="Inter"/>
              <a:sym typeface="Inter"/>
            </a:endParaRPr>
          </a:p>
          <a:p>
            <a:pPr algn="l">
              <a:lnSpc>
                <a:spcPts val="3220"/>
              </a:lnSpc>
            </a:pPr>
            <a:endParaRPr lang="en-US" sz="2300">
              <a:solidFill>
                <a:srgbClr val="000000"/>
              </a:solidFill>
              <a:latin typeface="Inter"/>
              <a:ea typeface="Inter"/>
              <a:cs typeface="Inter"/>
              <a:sym typeface="Inter"/>
            </a:endParaRPr>
          </a:p>
          <a:p>
            <a:pPr algn="l">
              <a:lnSpc>
                <a:spcPts val="3220"/>
              </a:lnSpc>
            </a:pPr>
            <a:endParaRPr lang="en-US" sz="2300">
              <a:solidFill>
                <a:srgbClr val="000000"/>
              </a:solidFill>
              <a:latin typeface="Inter"/>
              <a:ea typeface="Inter"/>
              <a:cs typeface="Inter"/>
              <a:sym typeface="Inter"/>
            </a:endParaRPr>
          </a:p>
          <a:p>
            <a:pPr algn="l">
              <a:lnSpc>
                <a:spcPts val="3220"/>
              </a:lnSpc>
            </a:pPr>
            <a:endParaRPr lang="en-US" sz="2300">
              <a:solidFill>
                <a:srgbClr val="000000"/>
              </a:solidFill>
              <a:latin typeface="Inter"/>
              <a:ea typeface="Inter"/>
              <a:cs typeface="Inter"/>
              <a:sym typeface="Inter"/>
            </a:endParaRPr>
          </a:p>
        </p:txBody>
      </p:sp>
      <p:sp>
        <p:nvSpPr>
          <p:cNvPr id="6" name="TextBox 6"/>
          <p:cNvSpPr txBox="1"/>
          <p:nvPr/>
        </p:nvSpPr>
        <p:spPr>
          <a:xfrm>
            <a:off x="590126" y="1761495"/>
            <a:ext cx="15541430" cy="1825625"/>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4. Where and how do humans want to collaborate with AI?</a:t>
            </a:r>
          </a:p>
        </p:txBody>
      </p:sp>
      <p:sp>
        <p:nvSpPr>
          <p:cNvPr id="7" name="Freeform 7"/>
          <p:cNvSpPr/>
          <p:nvPr/>
        </p:nvSpPr>
        <p:spPr>
          <a:xfrm>
            <a:off x="590126" y="4676000"/>
            <a:ext cx="11301259" cy="3715289"/>
          </a:xfrm>
          <a:custGeom>
            <a:avLst/>
            <a:gdLst/>
            <a:ahLst/>
            <a:cxnLst/>
            <a:rect l="l" t="t" r="r" b="b"/>
            <a:pathLst>
              <a:path w="11301259" h="3715289">
                <a:moveTo>
                  <a:pt x="0" y="0"/>
                </a:moveTo>
                <a:lnTo>
                  <a:pt x="11301259" y="0"/>
                </a:lnTo>
                <a:lnTo>
                  <a:pt x="11301259" y="3715289"/>
                </a:lnTo>
                <a:lnTo>
                  <a:pt x="0" y="3715289"/>
                </a:lnTo>
                <a:lnTo>
                  <a:pt x="0" y="0"/>
                </a:lnTo>
                <a:close/>
              </a:path>
            </a:pathLst>
          </a:custGeom>
          <a:blipFill>
            <a:blip r:embed="rId7"/>
            <a:stretch>
              <a:fillRect/>
            </a:stretch>
          </a:blipFill>
        </p:spPr>
        <p:txBody>
          <a:bodyPr/>
          <a:lstStyle/>
          <a:p>
            <a:endParaRPr lang="zh-TW" altLang="en-US"/>
          </a:p>
        </p:txBody>
      </p:sp>
      <p:sp>
        <p:nvSpPr>
          <p:cNvPr id="8" name="TextBox 8"/>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22</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TextBox 3"/>
          <p:cNvSpPr txBox="1"/>
          <p:nvPr/>
        </p:nvSpPr>
        <p:spPr>
          <a:xfrm>
            <a:off x="590126" y="1761495"/>
            <a:ext cx="17107748" cy="1825625"/>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5. What should future Human–AI collaborative tools look like?</a:t>
            </a:r>
          </a:p>
        </p:txBody>
      </p:sp>
      <p:sp>
        <p:nvSpPr>
          <p:cNvPr id="4" name="Freeform 4"/>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5" name="Freeform 5"/>
          <p:cNvSpPr/>
          <p:nvPr/>
        </p:nvSpPr>
        <p:spPr>
          <a:xfrm>
            <a:off x="8361167" y="1057906"/>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6" name="TextBox 6"/>
          <p:cNvSpPr txBox="1"/>
          <p:nvPr/>
        </p:nvSpPr>
        <p:spPr>
          <a:xfrm>
            <a:off x="590126" y="4110995"/>
            <a:ext cx="11913024" cy="5589905"/>
          </a:xfrm>
          <a:prstGeom prst="rect">
            <a:avLst/>
          </a:prstGeom>
        </p:spPr>
        <p:txBody>
          <a:bodyPr lIns="0" tIns="0" rIns="0" bIns="0" rtlCol="0" anchor="t">
            <a:spAutoFit/>
          </a:bodyPr>
          <a:lstStyle/>
          <a:p>
            <a:pPr algn="l">
              <a:lnSpc>
                <a:spcPts val="3220"/>
              </a:lnSpc>
            </a:pPr>
            <a:r>
              <a:rPr lang="en-US" sz="2300">
                <a:solidFill>
                  <a:srgbClr val="000000"/>
                </a:solidFill>
                <a:latin typeface="Inter"/>
                <a:ea typeface="Inter"/>
                <a:cs typeface="Inter"/>
                <a:sym typeface="Inter"/>
              </a:rPr>
              <a:t>Future data storytelling tools should:</a:t>
            </a:r>
          </a:p>
          <a:p>
            <a:pPr marL="496571" lvl="1" indent="-248285" algn="l">
              <a:lnSpc>
                <a:spcPts val="3220"/>
              </a:lnSpc>
              <a:buFont typeface="Arial"/>
              <a:buChar char="•"/>
            </a:pPr>
            <a:r>
              <a:rPr lang="en-US" sz="2300">
                <a:solidFill>
                  <a:srgbClr val="000000"/>
                </a:solidFill>
                <a:latin typeface="Inter"/>
                <a:ea typeface="Inter"/>
                <a:cs typeface="Inter"/>
                <a:sym typeface="Inter"/>
              </a:rPr>
              <a:t>AI should be flexible &amp; configurable</a:t>
            </a:r>
          </a:p>
          <a:p>
            <a:pPr marL="496571" lvl="1" indent="-248285" algn="l">
              <a:lnSpc>
                <a:spcPts val="3220"/>
              </a:lnSpc>
              <a:buFont typeface="Arial"/>
              <a:buChar char="•"/>
            </a:pPr>
            <a:r>
              <a:rPr lang="en-US" sz="2300">
                <a:solidFill>
                  <a:srgbClr val="000000"/>
                </a:solidFill>
                <a:latin typeface="Inter"/>
                <a:ea typeface="Inter"/>
                <a:cs typeface="Inter"/>
                <a:sym typeface="Inter"/>
              </a:rPr>
              <a:t>Allow users to decide how much control they keep</a:t>
            </a:r>
          </a:p>
          <a:p>
            <a:pPr marL="496571" lvl="1" indent="-248285" algn="l">
              <a:lnSpc>
                <a:spcPts val="3220"/>
              </a:lnSpc>
              <a:buFont typeface="Arial"/>
              <a:buChar char="•"/>
            </a:pPr>
            <a:r>
              <a:rPr lang="en-US" sz="2300">
                <a:solidFill>
                  <a:srgbClr val="000000"/>
                </a:solidFill>
                <a:latin typeface="Inter"/>
                <a:ea typeface="Inter"/>
                <a:cs typeface="Inter"/>
                <a:sym typeface="Inter"/>
              </a:rPr>
              <a:t>Explain its decisions</a:t>
            </a:r>
          </a:p>
          <a:p>
            <a:pPr marL="496571" lvl="1" indent="-248285" algn="l">
              <a:lnSpc>
                <a:spcPts val="3220"/>
              </a:lnSpc>
              <a:buFont typeface="Arial"/>
              <a:buChar char="•"/>
            </a:pPr>
            <a:r>
              <a:rPr lang="en-US" sz="2300">
                <a:solidFill>
                  <a:srgbClr val="000000"/>
                </a:solidFill>
                <a:latin typeface="Inter"/>
                <a:ea typeface="Inter"/>
                <a:cs typeface="Inter"/>
                <a:sym typeface="Inter"/>
              </a:rPr>
              <a:t>Aware of interactions between authors and audiences</a:t>
            </a:r>
          </a:p>
          <a:p>
            <a:pPr algn="l">
              <a:lnSpc>
                <a:spcPts val="3220"/>
              </a:lnSpc>
            </a:pPr>
            <a:endParaRPr lang="en-US" sz="2300">
              <a:solidFill>
                <a:srgbClr val="000000"/>
              </a:solidFill>
              <a:latin typeface="Inter"/>
              <a:ea typeface="Inter"/>
              <a:cs typeface="Inter"/>
              <a:sym typeface="Inter"/>
            </a:endParaRPr>
          </a:p>
          <a:p>
            <a:pPr algn="l">
              <a:lnSpc>
                <a:spcPts val="3220"/>
              </a:lnSpc>
            </a:pPr>
            <a:r>
              <a:rPr lang="en-US" sz="2300">
                <a:solidFill>
                  <a:srgbClr val="000000"/>
                </a:solidFill>
                <a:latin typeface="Inter"/>
                <a:ea typeface="Inter"/>
                <a:cs typeface="Inter"/>
                <a:sym typeface="Inter"/>
              </a:rPr>
              <a:t>Final takeaway:</a:t>
            </a:r>
          </a:p>
          <a:p>
            <a:pPr marL="496571" lvl="1" indent="-248285" algn="l">
              <a:lnSpc>
                <a:spcPts val="3220"/>
              </a:lnSpc>
              <a:buFont typeface="Arial"/>
              <a:buChar char="•"/>
            </a:pPr>
            <a:r>
              <a:rPr lang="en-US" sz="2300">
                <a:solidFill>
                  <a:srgbClr val="000000"/>
                </a:solidFill>
                <a:latin typeface="Inter"/>
                <a:ea typeface="Inter"/>
                <a:cs typeface="Inter"/>
                <a:sym typeface="Inter"/>
              </a:rPr>
              <a:t>AI should not replace data workers in storytelling.</a:t>
            </a:r>
          </a:p>
          <a:p>
            <a:pPr marL="496571" lvl="1" indent="-248285" algn="l">
              <a:lnSpc>
                <a:spcPts val="3220"/>
              </a:lnSpc>
              <a:buFont typeface="Arial"/>
              <a:buChar char="•"/>
            </a:pPr>
            <a:r>
              <a:rPr lang="en-US" sz="2300">
                <a:solidFill>
                  <a:srgbClr val="000000"/>
                </a:solidFill>
                <a:latin typeface="Inter"/>
                <a:ea typeface="Inter"/>
                <a:cs typeface="Inter"/>
                <a:sym typeface="Inter"/>
              </a:rPr>
              <a:t> Instead, it should act as a supportive, explainable, and adaptable collaborator.</a:t>
            </a:r>
          </a:p>
          <a:p>
            <a:pPr marL="496571" lvl="1" indent="-248285" algn="l">
              <a:lnSpc>
                <a:spcPts val="3220"/>
              </a:lnSpc>
              <a:buFont typeface="Arial"/>
              <a:buChar char="•"/>
            </a:pPr>
            <a:r>
              <a:rPr lang="en-US" sz="2300">
                <a:solidFill>
                  <a:srgbClr val="000000"/>
                </a:solidFill>
                <a:latin typeface="Inter"/>
                <a:ea typeface="Inter"/>
                <a:cs typeface="Inter"/>
                <a:sym typeface="Inter"/>
              </a:rPr>
              <a:t>The real opportunity is not full automation, but human-centered AI that helps people tell better data stories.</a:t>
            </a:r>
          </a:p>
          <a:p>
            <a:pPr algn="l">
              <a:lnSpc>
                <a:spcPts val="3220"/>
              </a:lnSpc>
            </a:pPr>
            <a:endParaRPr lang="en-US" sz="2300">
              <a:solidFill>
                <a:srgbClr val="000000"/>
              </a:solidFill>
              <a:latin typeface="Inter"/>
              <a:ea typeface="Inter"/>
              <a:cs typeface="Inter"/>
              <a:sym typeface="Inter"/>
            </a:endParaRPr>
          </a:p>
          <a:p>
            <a:pPr algn="l">
              <a:lnSpc>
                <a:spcPts val="3220"/>
              </a:lnSpc>
            </a:pPr>
            <a:endParaRPr lang="en-US" sz="2300">
              <a:solidFill>
                <a:srgbClr val="000000"/>
              </a:solidFill>
              <a:latin typeface="Inter"/>
              <a:ea typeface="Inter"/>
              <a:cs typeface="Inter"/>
              <a:sym typeface="Inter"/>
            </a:endParaRPr>
          </a:p>
          <a:p>
            <a:pPr algn="l">
              <a:lnSpc>
                <a:spcPts val="3220"/>
              </a:lnSpc>
            </a:pPr>
            <a:endParaRPr lang="en-US" sz="2300">
              <a:solidFill>
                <a:srgbClr val="000000"/>
              </a:solidFill>
              <a:latin typeface="Inter"/>
              <a:ea typeface="Inter"/>
              <a:cs typeface="Inter"/>
              <a:sym typeface="Inter"/>
            </a:endParaRPr>
          </a:p>
        </p:txBody>
      </p:sp>
      <p:sp>
        <p:nvSpPr>
          <p:cNvPr id="7" name="TextBox 7"/>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23</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874234" y="2055324"/>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TextBox 5"/>
          <p:cNvSpPr txBox="1"/>
          <p:nvPr/>
        </p:nvSpPr>
        <p:spPr>
          <a:xfrm>
            <a:off x="1589335" y="1784508"/>
            <a:ext cx="5905426"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Applied Field</a:t>
            </a:r>
          </a:p>
        </p:txBody>
      </p:sp>
      <p:sp>
        <p:nvSpPr>
          <p:cNvPr id="6" name="TextBox 6"/>
          <p:cNvSpPr txBox="1"/>
          <p:nvPr/>
        </p:nvSpPr>
        <p:spPr>
          <a:xfrm>
            <a:off x="1589335" y="3372008"/>
            <a:ext cx="8746035" cy="32444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Financial Services - Credit Scoring &amp; Loan Transparency</a:t>
            </a:r>
          </a:p>
        </p:txBody>
      </p:sp>
      <p:sp>
        <p:nvSpPr>
          <p:cNvPr id="7" name="TextBox 7"/>
          <p:cNvSpPr txBox="1"/>
          <p:nvPr/>
        </p:nvSpPr>
        <p:spPr>
          <a:xfrm>
            <a:off x="1589335" y="3828460"/>
            <a:ext cx="15899663" cy="620953"/>
          </a:xfrm>
          <a:prstGeom prst="rect">
            <a:avLst/>
          </a:prstGeom>
        </p:spPr>
        <p:txBody>
          <a:bodyPr lIns="0" tIns="0" rIns="0" bIns="0" rtlCol="0" anchor="t">
            <a:spAutoFit/>
          </a:bodyPr>
          <a:lstStyle/>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Case</a:t>
            </a:r>
            <a:r>
              <a:rPr lang="en-US" sz="1800">
                <a:solidFill>
                  <a:srgbClr val="004AAD"/>
                </a:solidFill>
                <a:latin typeface="Inter"/>
                <a:ea typeface="Inter"/>
                <a:cs typeface="Inter"/>
                <a:sym typeface="Inter"/>
              </a:rPr>
              <a:t>: When AI rejects a loan application.</a:t>
            </a:r>
          </a:p>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XAI Function: </a:t>
            </a:r>
            <a:r>
              <a:rPr lang="en-US" sz="1800">
                <a:solidFill>
                  <a:srgbClr val="004AAD"/>
                </a:solidFill>
                <a:latin typeface="Inter"/>
                <a:ea typeface="Inter"/>
                <a:cs typeface="Inter"/>
                <a:sym typeface="Inter"/>
              </a:rPr>
              <a:t>Provides specific rationale for the decision (e.g., distinguishing between "unstable income" vs. "high debt-to-income ratio").</a:t>
            </a:r>
          </a:p>
        </p:txBody>
      </p:sp>
      <p:sp>
        <p:nvSpPr>
          <p:cNvPr id="8" name="TextBox 8"/>
          <p:cNvSpPr txBox="1"/>
          <p:nvPr/>
        </p:nvSpPr>
        <p:spPr>
          <a:xfrm>
            <a:off x="1589335" y="5137628"/>
            <a:ext cx="6708178" cy="32444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Healthcare - AI-Assisted Imaging</a:t>
            </a:r>
          </a:p>
        </p:txBody>
      </p:sp>
      <p:sp>
        <p:nvSpPr>
          <p:cNvPr id="9" name="TextBox 9"/>
          <p:cNvSpPr txBox="1"/>
          <p:nvPr/>
        </p:nvSpPr>
        <p:spPr>
          <a:xfrm>
            <a:off x="1559666" y="5686466"/>
            <a:ext cx="15704178" cy="936939"/>
          </a:xfrm>
          <a:prstGeom prst="rect">
            <a:avLst/>
          </a:prstGeom>
        </p:spPr>
        <p:txBody>
          <a:bodyPr lIns="0" tIns="0" rIns="0" bIns="0" rtlCol="0" anchor="t">
            <a:spAutoFit/>
          </a:bodyPr>
          <a:lstStyle/>
          <a:p>
            <a:pPr marL="389364" lvl="1" indent="-194682" algn="l">
              <a:lnSpc>
                <a:spcPts val="2524"/>
              </a:lnSpc>
              <a:buFont typeface="Arial"/>
              <a:buChar char="•"/>
            </a:pPr>
            <a:r>
              <a:rPr lang="en-US" sz="1803" b="1">
                <a:solidFill>
                  <a:srgbClr val="004AAD"/>
                </a:solidFill>
                <a:latin typeface="Inter Bold"/>
                <a:ea typeface="Inter Bold"/>
                <a:cs typeface="Inter Bold"/>
                <a:sym typeface="Inter Bold"/>
              </a:rPr>
              <a:t>Case:</a:t>
            </a:r>
            <a:r>
              <a:rPr lang="en-US" sz="1803">
                <a:solidFill>
                  <a:srgbClr val="004AAD"/>
                </a:solidFill>
                <a:latin typeface="Inter"/>
                <a:ea typeface="Inter"/>
                <a:cs typeface="Inter"/>
                <a:sym typeface="Inter"/>
              </a:rPr>
              <a:t> AI detecting potential tumors in X-rays or MRI scans.</a:t>
            </a:r>
          </a:p>
          <a:p>
            <a:pPr marL="389364" lvl="1" indent="-194682" algn="l">
              <a:lnSpc>
                <a:spcPts val="2524"/>
              </a:lnSpc>
              <a:buFont typeface="Arial"/>
              <a:buChar char="•"/>
            </a:pPr>
            <a:r>
              <a:rPr lang="en-US" sz="1803" b="1">
                <a:solidFill>
                  <a:srgbClr val="004AAD"/>
                </a:solidFill>
                <a:latin typeface="Inter Bold"/>
                <a:ea typeface="Inter Bold"/>
                <a:cs typeface="Inter Bold"/>
                <a:sym typeface="Inter Bold"/>
              </a:rPr>
              <a:t>XAI Function</a:t>
            </a:r>
            <a:r>
              <a:rPr lang="en-US" sz="1803">
                <a:solidFill>
                  <a:srgbClr val="004AAD"/>
                </a:solidFill>
                <a:latin typeface="Inter"/>
                <a:ea typeface="Inter"/>
                <a:cs typeface="Inter"/>
                <a:sym typeface="Inter"/>
              </a:rPr>
              <a:t>: Visualizes the "Focus Area" (e.g., heatmaps) to show exactly which shadow or feature triggered the diagnosis.</a:t>
            </a:r>
          </a:p>
          <a:p>
            <a:pPr algn="l">
              <a:lnSpc>
                <a:spcPts val="2524"/>
              </a:lnSpc>
            </a:pPr>
            <a:endParaRPr lang="en-US" sz="1803">
              <a:solidFill>
                <a:srgbClr val="004AAD"/>
              </a:solidFill>
              <a:latin typeface="Inter"/>
              <a:ea typeface="Inter"/>
              <a:cs typeface="Inter"/>
              <a:sym typeface="Inter"/>
            </a:endParaRPr>
          </a:p>
        </p:txBody>
      </p:sp>
      <p:sp>
        <p:nvSpPr>
          <p:cNvPr id="10" name="TextBox 10"/>
          <p:cNvSpPr txBox="1"/>
          <p:nvPr/>
        </p:nvSpPr>
        <p:spPr>
          <a:xfrm>
            <a:off x="1589335" y="6903248"/>
            <a:ext cx="8746035" cy="32444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Autonomous Vehicles - Safety &amp; Decision Logging</a:t>
            </a:r>
          </a:p>
        </p:txBody>
      </p:sp>
      <p:sp>
        <p:nvSpPr>
          <p:cNvPr id="11" name="TextBox 11"/>
          <p:cNvSpPr txBox="1"/>
          <p:nvPr/>
        </p:nvSpPr>
        <p:spPr>
          <a:xfrm>
            <a:off x="1589335" y="7533451"/>
            <a:ext cx="15899663" cy="935241"/>
          </a:xfrm>
          <a:prstGeom prst="rect">
            <a:avLst/>
          </a:prstGeom>
        </p:spPr>
        <p:txBody>
          <a:bodyPr lIns="0" tIns="0" rIns="0" bIns="0" rtlCol="0" anchor="t">
            <a:spAutoFit/>
          </a:bodyPr>
          <a:lstStyle/>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Case:</a:t>
            </a:r>
            <a:r>
              <a:rPr lang="en-US" sz="1800">
                <a:solidFill>
                  <a:srgbClr val="004AAD"/>
                </a:solidFill>
                <a:latin typeface="Inter"/>
                <a:ea typeface="Inter"/>
                <a:cs typeface="Inter"/>
                <a:sym typeface="Inter"/>
              </a:rPr>
              <a:t> Critical actions or emergency, such as sudden braking</a:t>
            </a:r>
          </a:p>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XAI Function: </a:t>
            </a:r>
            <a:r>
              <a:rPr lang="en-US" sz="1800">
                <a:solidFill>
                  <a:srgbClr val="004AAD"/>
                </a:solidFill>
                <a:latin typeface="Inter"/>
                <a:ea typeface="Inter"/>
                <a:cs typeface="Inter"/>
                <a:sym typeface="Inter"/>
              </a:rPr>
              <a:t>Records the specific cause of action (e.g., identifying an obstacle invisible to the human eye vs. a sensor false positive).</a:t>
            </a:r>
          </a:p>
          <a:p>
            <a:pPr algn="l">
              <a:lnSpc>
                <a:spcPts val="2520"/>
              </a:lnSpc>
            </a:pPr>
            <a:endParaRPr lang="en-US" sz="1800">
              <a:solidFill>
                <a:srgbClr val="004AAD"/>
              </a:solidFill>
              <a:latin typeface="Inter"/>
              <a:ea typeface="Inter"/>
              <a:cs typeface="Inter"/>
              <a:sym typeface="Inter"/>
            </a:endParaRPr>
          </a:p>
        </p:txBody>
      </p:sp>
      <p:sp>
        <p:nvSpPr>
          <p:cNvPr id="12" name="TextBox 12"/>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24</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12397142" y="2203577"/>
            <a:ext cx="1045375" cy="296506"/>
          </a:xfrm>
          <a:custGeom>
            <a:avLst/>
            <a:gdLst/>
            <a:ahLst/>
            <a:cxnLst/>
            <a:rect l="l" t="t" r="r" b="b"/>
            <a:pathLst>
              <a:path w="1045375" h="296506">
                <a:moveTo>
                  <a:pt x="0" y="0"/>
                </a:moveTo>
                <a:lnTo>
                  <a:pt x="1045375" y="0"/>
                </a:lnTo>
                <a:lnTo>
                  <a:pt x="1045375" y="296507"/>
                </a:lnTo>
                <a:lnTo>
                  <a:pt x="0" y="2965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TextBox 5"/>
          <p:cNvSpPr txBox="1"/>
          <p:nvPr/>
        </p:nvSpPr>
        <p:spPr>
          <a:xfrm>
            <a:off x="1204868" y="1776540"/>
            <a:ext cx="8746035"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Regulatory frameworks</a:t>
            </a:r>
          </a:p>
        </p:txBody>
      </p:sp>
      <p:sp>
        <p:nvSpPr>
          <p:cNvPr id="6" name="TextBox 6"/>
          <p:cNvSpPr txBox="1"/>
          <p:nvPr/>
        </p:nvSpPr>
        <p:spPr>
          <a:xfrm>
            <a:off x="1204868" y="3354515"/>
            <a:ext cx="8746035" cy="32444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EU AI Act - The Global Regulatory Benchmark</a:t>
            </a:r>
          </a:p>
        </p:txBody>
      </p:sp>
      <p:sp>
        <p:nvSpPr>
          <p:cNvPr id="7" name="TextBox 7"/>
          <p:cNvSpPr txBox="1"/>
          <p:nvPr/>
        </p:nvSpPr>
        <p:spPr>
          <a:xfrm>
            <a:off x="1204868" y="3888439"/>
            <a:ext cx="16698665" cy="2192390"/>
          </a:xfrm>
          <a:prstGeom prst="rect">
            <a:avLst/>
          </a:prstGeom>
        </p:spPr>
        <p:txBody>
          <a:bodyPr lIns="0" tIns="0" rIns="0" bIns="0" rtlCol="0" anchor="t">
            <a:spAutoFit/>
          </a:bodyPr>
          <a:lstStyle/>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Risk-Based Architecture</a:t>
            </a:r>
          </a:p>
          <a:p>
            <a:pPr marL="777256" lvl="2" indent="-259085" algn="l">
              <a:lnSpc>
                <a:spcPts val="2520"/>
              </a:lnSpc>
              <a:buFont typeface="Arial"/>
              <a:buChar char="⚬"/>
            </a:pPr>
            <a:r>
              <a:rPr lang="en-US" sz="1800">
                <a:solidFill>
                  <a:srgbClr val="004AAD"/>
                </a:solidFill>
                <a:latin typeface="Inter"/>
                <a:ea typeface="Inter"/>
                <a:cs typeface="Inter"/>
                <a:sym typeface="Inter"/>
              </a:rPr>
              <a:t>Categorizes AI systems by potential threat levels.</a:t>
            </a:r>
          </a:p>
          <a:p>
            <a:pPr marL="777256" lvl="2" indent="-259085" algn="l">
              <a:lnSpc>
                <a:spcPts val="2520"/>
              </a:lnSpc>
              <a:buFont typeface="Arial"/>
              <a:buChar char="⚬"/>
            </a:pPr>
            <a:r>
              <a:rPr lang="en-US" sz="1800">
                <a:solidFill>
                  <a:srgbClr val="004AAD"/>
                </a:solidFill>
                <a:latin typeface="Inter"/>
                <a:ea typeface="Inter"/>
                <a:cs typeface="Inter"/>
                <a:sym typeface="Inter"/>
              </a:rPr>
              <a:t>"High-Risk AI" (e.g., recruitment, credit scoring, border control) faces the strictest compliance requirements.</a:t>
            </a:r>
          </a:p>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Mandatory Explainability</a:t>
            </a:r>
          </a:p>
          <a:p>
            <a:pPr marL="777256" lvl="2" indent="-259085" algn="l">
              <a:lnSpc>
                <a:spcPts val="2520"/>
              </a:lnSpc>
              <a:buFont typeface="Arial"/>
              <a:buChar char="⚬"/>
            </a:pPr>
            <a:r>
              <a:rPr lang="en-US" sz="1800">
                <a:solidFill>
                  <a:srgbClr val="004AAD"/>
                </a:solidFill>
                <a:latin typeface="Inter"/>
                <a:ea typeface="Inter"/>
                <a:cs typeface="Inter"/>
                <a:sym typeface="Inter"/>
              </a:rPr>
              <a:t>Requirement: High-risk systems must be explainable and transparent.</a:t>
            </a:r>
          </a:p>
          <a:p>
            <a:pPr marL="777256" lvl="2" indent="-259085" algn="l">
              <a:lnSpc>
                <a:spcPts val="2520"/>
              </a:lnSpc>
              <a:buFont typeface="Arial"/>
              <a:buChar char="⚬"/>
            </a:pPr>
            <a:r>
              <a:rPr lang="en-US" sz="1800">
                <a:solidFill>
                  <a:srgbClr val="004AAD"/>
                </a:solidFill>
                <a:latin typeface="Inter"/>
                <a:ea typeface="Inter"/>
                <a:cs typeface="Inter"/>
                <a:sym typeface="Inter"/>
              </a:rPr>
              <a:t>Implementation: mandates detailed activity logging and clear documentation to ensure human overseers can interpret and validate system outputs.</a:t>
            </a:r>
          </a:p>
          <a:p>
            <a:pPr algn="l">
              <a:lnSpc>
                <a:spcPts val="2520"/>
              </a:lnSpc>
            </a:pPr>
            <a:endParaRPr lang="en-US" sz="1800">
              <a:solidFill>
                <a:srgbClr val="004AAD"/>
              </a:solidFill>
              <a:latin typeface="Inter"/>
              <a:ea typeface="Inter"/>
              <a:cs typeface="Inter"/>
              <a:sym typeface="Inter"/>
            </a:endParaRPr>
          </a:p>
        </p:txBody>
      </p:sp>
      <p:sp>
        <p:nvSpPr>
          <p:cNvPr id="8" name="TextBox 8"/>
          <p:cNvSpPr txBox="1"/>
          <p:nvPr/>
        </p:nvSpPr>
        <p:spPr>
          <a:xfrm>
            <a:off x="1204868" y="6680903"/>
            <a:ext cx="11001529" cy="32444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US NIST AI Risk Management Framework (AI RMF)</a:t>
            </a:r>
          </a:p>
        </p:txBody>
      </p:sp>
      <p:sp>
        <p:nvSpPr>
          <p:cNvPr id="9" name="TextBox 9"/>
          <p:cNvSpPr txBox="1"/>
          <p:nvPr/>
        </p:nvSpPr>
        <p:spPr>
          <a:xfrm>
            <a:off x="1204868" y="7214901"/>
            <a:ext cx="15704178" cy="1878016"/>
          </a:xfrm>
          <a:prstGeom prst="rect">
            <a:avLst/>
          </a:prstGeom>
        </p:spPr>
        <p:txBody>
          <a:bodyPr lIns="0" tIns="0" rIns="0" bIns="0" rtlCol="0" anchor="t">
            <a:spAutoFit/>
          </a:bodyPr>
          <a:lstStyle/>
          <a:p>
            <a:pPr marL="389363" lvl="1" indent="-194682" algn="l">
              <a:lnSpc>
                <a:spcPts val="2524"/>
              </a:lnSpc>
              <a:buFont typeface="Arial"/>
              <a:buChar char="•"/>
            </a:pPr>
            <a:r>
              <a:rPr lang="en-US" sz="1803" b="1">
                <a:solidFill>
                  <a:srgbClr val="004AAD"/>
                </a:solidFill>
                <a:latin typeface="Inter Bold"/>
                <a:ea typeface="Inter Bold"/>
                <a:cs typeface="Inter Bold"/>
                <a:sym typeface="Inter Bold"/>
              </a:rPr>
              <a:t>Voluntary but Influential</a:t>
            </a:r>
          </a:p>
          <a:p>
            <a:pPr marL="778726" lvl="2" indent="-259575" algn="l">
              <a:lnSpc>
                <a:spcPts val="2524"/>
              </a:lnSpc>
              <a:buFont typeface="Arial"/>
              <a:buChar char="⚬"/>
            </a:pPr>
            <a:r>
              <a:rPr lang="en-US" sz="1803">
                <a:solidFill>
                  <a:srgbClr val="004AAD"/>
                </a:solidFill>
                <a:latin typeface="Inter"/>
                <a:ea typeface="Inter"/>
                <a:cs typeface="Inter"/>
                <a:sym typeface="Inter"/>
              </a:rPr>
              <a:t>While not a mandatory law, it serves as the primary guideline for AI governance and development in the US.</a:t>
            </a:r>
          </a:p>
          <a:p>
            <a:pPr marL="389363" lvl="1" indent="-194682" algn="l">
              <a:lnSpc>
                <a:spcPts val="2524"/>
              </a:lnSpc>
              <a:buFont typeface="Arial"/>
              <a:buChar char="•"/>
            </a:pPr>
            <a:r>
              <a:rPr lang="en-US" sz="1803" b="1">
                <a:solidFill>
                  <a:srgbClr val="004AAD"/>
                </a:solidFill>
                <a:latin typeface="Inter Bold"/>
                <a:ea typeface="Inter Bold"/>
                <a:cs typeface="Inter Bold"/>
                <a:sym typeface="Inter Bold"/>
              </a:rPr>
              <a:t>Defining "Trustworthy AI"</a:t>
            </a:r>
          </a:p>
          <a:p>
            <a:pPr marL="778726" lvl="2" indent="-259575" algn="l">
              <a:lnSpc>
                <a:spcPts val="2524"/>
              </a:lnSpc>
              <a:buFont typeface="Arial"/>
              <a:buChar char="⚬"/>
            </a:pPr>
            <a:r>
              <a:rPr lang="en-US" sz="1803">
                <a:solidFill>
                  <a:srgbClr val="004AAD"/>
                </a:solidFill>
                <a:latin typeface="Inter"/>
                <a:ea typeface="Inter"/>
                <a:cs typeface="Inter"/>
                <a:sym typeface="Inter"/>
              </a:rPr>
              <a:t>Explicitly identifies "Explainable &amp; Interpretable" as fundamental characteristics of a trustworthy system.</a:t>
            </a:r>
          </a:p>
          <a:p>
            <a:pPr marL="778726" lvl="2" indent="-259575" algn="l">
              <a:lnSpc>
                <a:spcPts val="2524"/>
              </a:lnSpc>
              <a:buFont typeface="Arial"/>
              <a:buChar char="⚬"/>
            </a:pPr>
            <a:r>
              <a:rPr lang="en-US" sz="1803">
                <a:solidFill>
                  <a:srgbClr val="004AAD"/>
                </a:solidFill>
                <a:latin typeface="Inter"/>
                <a:ea typeface="Inter"/>
                <a:cs typeface="Inter"/>
                <a:sym typeface="Inter"/>
              </a:rPr>
              <a:t>Promotes XAI as a core component of risk mitigation rather than just a compliance checkbox.</a:t>
            </a:r>
          </a:p>
          <a:p>
            <a:pPr algn="l">
              <a:lnSpc>
                <a:spcPts val="2524"/>
              </a:lnSpc>
            </a:pPr>
            <a:endParaRPr lang="en-US" sz="1803">
              <a:solidFill>
                <a:srgbClr val="004AAD"/>
              </a:solidFill>
              <a:latin typeface="Inter"/>
              <a:ea typeface="Inter"/>
              <a:cs typeface="Inter"/>
              <a:sym typeface="Inter"/>
            </a:endParaRPr>
          </a:p>
        </p:txBody>
      </p:sp>
      <p:sp>
        <p:nvSpPr>
          <p:cNvPr id="10" name="TextBox 10"/>
          <p:cNvSpPr txBox="1"/>
          <p:nvPr/>
        </p:nvSpPr>
        <p:spPr>
          <a:xfrm>
            <a:off x="1381037" y="9635841"/>
            <a:ext cx="5781902" cy="266662"/>
          </a:xfrm>
          <a:prstGeom prst="rect">
            <a:avLst/>
          </a:prstGeom>
        </p:spPr>
        <p:txBody>
          <a:bodyPr lIns="0" tIns="0" rIns="0" bIns="0" rtlCol="0" anchor="t">
            <a:spAutoFit/>
          </a:bodyPr>
          <a:lstStyle/>
          <a:p>
            <a:pPr algn="ctr">
              <a:lnSpc>
                <a:spcPts val="2100"/>
              </a:lnSpc>
              <a:spcBef>
                <a:spcPct val="0"/>
              </a:spcBef>
            </a:pPr>
            <a:r>
              <a:rPr lang="en-US" sz="1500">
                <a:solidFill>
                  <a:srgbClr val="000000"/>
                </a:solidFill>
                <a:latin typeface="Inter"/>
                <a:ea typeface="Inter"/>
                <a:cs typeface="Inter"/>
                <a:sym typeface="Inter"/>
              </a:rPr>
              <a:t>*NIST stands for National Institute of Standards and Technology</a:t>
            </a:r>
          </a:p>
        </p:txBody>
      </p:sp>
      <p:sp>
        <p:nvSpPr>
          <p:cNvPr id="11" name="TextBox 11"/>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25</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13287468" y="2158638"/>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TextBox 5"/>
          <p:cNvSpPr txBox="1"/>
          <p:nvPr/>
        </p:nvSpPr>
        <p:spPr>
          <a:xfrm>
            <a:off x="1028700" y="1731600"/>
            <a:ext cx="11476369"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Logic or Fact ?</a:t>
            </a:r>
          </a:p>
        </p:txBody>
      </p:sp>
      <p:sp>
        <p:nvSpPr>
          <p:cNvPr id="6" name="TextBox 6"/>
          <p:cNvSpPr txBox="1"/>
          <p:nvPr/>
        </p:nvSpPr>
        <p:spPr>
          <a:xfrm>
            <a:off x="1028700" y="3066557"/>
            <a:ext cx="16698665" cy="698538"/>
          </a:xfrm>
          <a:prstGeom prst="rect">
            <a:avLst/>
          </a:prstGeom>
        </p:spPr>
        <p:txBody>
          <a:bodyPr lIns="0" tIns="0" rIns="0" bIns="0" rtlCol="0" anchor="t">
            <a:spAutoFit/>
          </a:bodyPr>
          <a:lstStyle/>
          <a:p>
            <a:pPr algn="l">
              <a:lnSpc>
                <a:spcPts val="2750"/>
              </a:lnSpc>
            </a:pPr>
            <a:r>
              <a:rPr lang="en-US" sz="2500" b="1">
                <a:solidFill>
                  <a:srgbClr val="000000"/>
                </a:solidFill>
                <a:latin typeface="Inter Bold"/>
                <a:ea typeface="Inter Bold"/>
                <a:cs typeface="Inter Bold"/>
                <a:sym typeface="Inter Bold"/>
              </a:rPr>
              <a:t>XAI does not automatically guarantee "Truth." </a:t>
            </a:r>
          </a:p>
          <a:p>
            <a:pPr algn="l">
              <a:lnSpc>
                <a:spcPts val="2750"/>
              </a:lnSpc>
            </a:pPr>
            <a:r>
              <a:rPr lang="en-US" sz="2500" b="1">
                <a:solidFill>
                  <a:srgbClr val="000000"/>
                </a:solidFill>
                <a:latin typeface="Inter Bold"/>
                <a:ea typeface="Inter Bold"/>
                <a:cs typeface="Inter Bold"/>
                <a:sym typeface="Inter Bold"/>
              </a:rPr>
              <a:t>Instead, it allows humans to validate the "Inference Path" (Reasoning).</a:t>
            </a:r>
          </a:p>
        </p:txBody>
      </p:sp>
      <p:sp>
        <p:nvSpPr>
          <p:cNvPr id="7" name="TextBox 7"/>
          <p:cNvSpPr txBox="1"/>
          <p:nvPr/>
        </p:nvSpPr>
        <p:spPr>
          <a:xfrm>
            <a:off x="1028700" y="4117520"/>
            <a:ext cx="16698665" cy="5482695"/>
          </a:xfrm>
          <a:prstGeom prst="rect">
            <a:avLst/>
          </a:prstGeom>
        </p:spPr>
        <p:txBody>
          <a:bodyPr lIns="0" tIns="0" rIns="0" bIns="0" rtlCol="0" anchor="t">
            <a:spAutoFit/>
          </a:bodyPr>
          <a:lstStyle/>
          <a:p>
            <a:pPr marL="474986" lvl="1" indent="-237493" algn="l">
              <a:lnSpc>
                <a:spcPts val="3080"/>
              </a:lnSpc>
              <a:buFont typeface="Arial"/>
              <a:buChar char="•"/>
            </a:pPr>
            <a:r>
              <a:rPr lang="en-US" sz="2200" b="1">
                <a:solidFill>
                  <a:srgbClr val="004AAD"/>
                </a:solidFill>
                <a:latin typeface="Inter Bold"/>
                <a:ea typeface="Inter Bold"/>
                <a:cs typeface="Inter Bold"/>
                <a:sym typeface="Inter Bold"/>
              </a:rPr>
              <a:t>Logic Errors</a:t>
            </a:r>
          </a:p>
          <a:p>
            <a:pPr marL="777256" lvl="2" indent="-259085" algn="l">
              <a:lnSpc>
                <a:spcPts val="2520"/>
              </a:lnSpc>
              <a:buFont typeface="Arial"/>
              <a:buChar char="⚬"/>
            </a:pPr>
            <a:r>
              <a:rPr lang="en-US" sz="1800">
                <a:solidFill>
                  <a:srgbClr val="363336"/>
                </a:solidFill>
                <a:latin typeface="Inter"/>
                <a:ea typeface="Inter"/>
                <a:cs typeface="Inter"/>
                <a:sym typeface="Inter"/>
              </a:rPr>
              <a:t>If the answer is right but the logic is wrong: XAI explains the "Lucky Guess."</a:t>
            </a:r>
          </a:p>
          <a:p>
            <a:pPr marL="1165884" lvl="3" indent="-291471" algn="l">
              <a:lnSpc>
                <a:spcPts val="2520"/>
              </a:lnSpc>
              <a:buFont typeface="Arial"/>
              <a:buChar char="￭"/>
            </a:pPr>
            <a:r>
              <a:rPr lang="en-US" sz="1800">
                <a:solidFill>
                  <a:srgbClr val="363336"/>
                </a:solidFill>
                <a:latin typeface="Inter"/>
                <a:ea typeface="Inter"/>
                <a:cs typeface="Inter"/>
                <a:sym typeface="Inter"/>
              </a:rPr>
              <a:t>AI Output: "This is a Husky." (Correct Answer)</a:t>
            </a:r>
          </a:p>
          <a:p>
            <a:pPr marL="1165884" lvl="3" indent="-291471" algn="l">
              <a:lnSpc>
                <a:spcPts val="2520"/>
              </a:lnSpc>
              <a:buFont typeface="Arial"/>
              <a:buChar char="￭"/>
            </a:pPr>
            <a:r>
              <a:rPr lang="en-US" sz="1800">
                <a:solidFill>
                  <a:srgbClr val="363336"/>
                </a:solidFill>
                <a:latin typeface="Inter"/>
                <a:ea typeface="Inter"/>
                <a:cs typeface="Inter"/>
                <a:sym typeface="Inter"/>
              </a:rPr>
              <a:t>XAI Explanation: "I predicted this because I see snow in the background."</a:t>
            </a:r>
          </a:p>
          <a:p>
            <a:pPr marL="1165884" lvl="3" indent="-291471" algn="l">
              <a:lnSpc>
                <a:spcPts val="2520"/>
              </a:lnSpc>
              <a:buFont typeface="Arial"/>
              <a:buChar char="￭"/>
            </a:pPr>
            <a:r>
              <a:rPr lang="en-US" sz="1800">
                <a:solidFill>
                  <a:srgbClr val="363336"/>
                </a:solidFill>
                <a:latin typeface="Inter"/>
                <a:ea typeface="Inter"/>
                <a:cs typeface="Inter"/>
                <a:sym typeface="Inter"/>
              </a:rPr>
              <a:t>Human Verification: The logic is flawed. The AI is relying on context (snow), not features (the dog). </a:t>
            </a:r>
          </a:p>
          <a:p>
            <a:pPr algn="l">
              <a:lnSpc>
                <a:spcPts val="2520"/>
              </a:lnSpc>
            </a:pPr>
            <a:endParaRPr lang="en-US" sz="1800">
              <a:solidFill>
                <a:srgbClr val="363336"/>
              </a:solidFill>
              <a:latin typeface="Inter"/>
              <a:ea typeface="Inter"/>
              <a:cs typeface="Inter"/>
              <a:sym typeface="Inter"/>
            </a:endParaRPr>
          </a:p>
          <a:p>
            <a:pPr marL="1165884" lvl="3" indent="-291471" algn="l">
              <a:lnSpc>
                <a:spcPts val="2520"/>
              </a:lnSpc>
              <a:buFont typeface="Arial"/>
              <a:buChar char="￭"/>
            </a:pPr>
            <a:r>
              <a:rPr lang="en-US" sz="1800" b="1">
                <a:solidFill>
                  <a:srgbClr val="000000"/>
                </a:solidFill>
                <a:latin typeface="Inter Bold"/>
                <a:ea typeface="Inter Bold"/>
                <a:cs typeface="Inter Bold"/>
                <a:sym typeface="Inter Bold"/>
              </a:rPr>
              <a:t>The model is unreliable despite the correct answer.</a:t>
            </a:r>
          </a:p>
          <a:p>
            <a:pPr algn="l">
              <a:lnSpc>
                <a:spcPts val="2520"/>
              </a:lnSpc>
            </a:pPr>
            <a:endParaRPr lang="en-US" sz="1800" b="1">
              <a:solidFill>
                <a:srgbClr val="000000"/>
              </a:solidFill>
              <a:latin typeface="Inter Bold"/>
              <a:ea typeface="Inter Bold"/>
              <a:cs typeface="Inter Bold"/>
              <a:sym typeface="Inter Bold"/>
            </a:endParaRPr>
          </a:p>
          <a:p>
            <a:pPr marL="474986" lvl="1" indent="-237493" algn="l">
              <a:lnSpc>
                <a:spcPts val="3080"/>
              </a:lnSpc>
              <a:buFont typeface="Arial"/>
              <a:buChar char="•"/>
            </a:pPr>
            <a:r>
              <a:rPr lang="en-US" sz="2200" b="1">
                <a:solidFill>
                  <a:srgbClr val="004AAD"/>
                </a:solidFill>
                <a:latin typeface="Inter Bold"/>
                <a:ea typeface="Inter Bold"/>
                <a:cs typeface="Inter Bold"/>
                <a:sym typeface="Inter Bold"/>
              </a:rPr>
              <a:t>Fact Errors</a:t>
            </a:r>
          </a:p>
          <a:p>
            <a:pPr marL="777256" lvl="2" indent="-259085" algn="l">
              <a:lnSpc>
                <a:spcPts val="2520"/>
              </a:lnSpc>
              <a:buFont typeface="Arial"/>
              <a:buChar char="⚬"/>
            </a:pPr>
            <a:r>
              <a:rPr lang="en-US" sz="1800">
                <a:solidFill>
                  <a:srgbClr val="363336"/>
                </a:solidFill>
                <a:latin typeface="Inter"/>
                <a:ea typeface="Inter"/>
                <a:cs typeface="Inter"/>
                <a:sym typeface="Inter"/>
              </a:rPr>
              <a:t>If the logic is right but the answer is wrong: XAI explains the "Source/Data/Fact Error."</a:t>
            </a:r>
          </a:p>
          <a:p>
            <a:pPr marL="1165884" lvl="3" indent="-291471" algn="l">
              <a:lnSpc>
                <a:spcPts val="2520"/>
              </a:lnSpc>
              <a:buFont typeface="Arial"/>
              <a:buChar char="￭"/>
            </a:pPr>
            <a:r>
              <a:rPr lang="en-US" sz="1800">
                <a:solidFill>
                  <a:srgbClr val="363336"/>
                </a:solidFill>
                <a:latin typeface="Inter"/>
                <a:ea typeface="Inter"/>
                <a:cs typeface="Inter"/>
                <a:sym typeface="Inter"/>
              </a:rPr>
              <a:t>AI Output: "Lincoln was the 1st President." (Wrong Answer)</a:t>
            </a:r>
          </a:p>
          <a:p>
            <a:pPr marL="1165884" lvl="3" indent="-291471" algn="l">
              <a:lnSpc>
                <a:spcPts val="2520"/>
              </a:lnSpc>
              <a:buFont typeface="Arial"/>
              <a:buChar char="￭"/>
            </a:pPr>
            <a:r>
              <a:rPr lang="en-US" sz="1800">
                <a:solidFill>
                  <a:srgbClr val="363336"/>
                </a:solidFill>
                <a:latin typeface="Inter"/>
                <a:ea typeface="Inter"/>
                <a:cs typeface="Inter"/>
                <a:sym typeface="Inter"/>
              </a:rPr>
              <a:t>XAI Explanation: "I found high co-occurrence of these terms in Training Text A."</a:t>
            </a:r>
          </a:p>
          <a:p>
            <a:pPr marL="1165884" lvl="3" indent="-291471" algn="l">
              <a:lnSpc>
                <a:spcPts val="2520"/>
              </a:lnSpc>
              <a:buFont typeface="Arial"/>
              <a:buChar char="￭"/>
            </a:pPr>
            <a:r>
              <a:rPr lang="en-US" sz="1800">
                <a:solidFill>
                  <a:srgbClr val="363336"/>
                </a:solidFill>
                <a:latin typeface="Inter"/>
                <a:ea typeface="Inter"/>
                <a:cs typeface="Inter"/>
                <a:sym typeface="Inter"/>
              </a:rPr>
              <a:t>Human Verification: The logic is right that the model read the data correctly, but the source data is incorrect ("Garbage In").</a:t>
            </a:r>
          </a:p>
          <a:p>
            <a:pPr algn="l">
              <a:lnSpc>
                <a:spcPts val="2520"/>
              </a:lnSpc>
            </a:pPr>
            <a:endParaRPr lang="en-US" sz="1800">
              <a:solidFill>
                <a:srgbClr val="363336"/>
              </a:solidFill>
              <a:latin typeface="Inter"/>
              <a:ea typeface="Inter"/>
              <a:cs typeface="Inter"/>
              <a:sym typeface="Inter"/>
            </a:endParaRPr>
          </a:p>
          <a:p>
            <a:pPr marL="1165884" lvl="3" indent="-291471" algn="l">
              <a:lnSpc>
                <a:spcPts val="2520"/>
              </a:lnSpc>
              <a:buFont typeface="Arial"/>
              <a:buChar char="￭"/>
            </a:pPr>
            <a:r>
              <a:rPr lang="en-US" sz="1800" b="1">
                <a:solidFill>
                  <a:srgbClr val="000000"/>
                </a:solidFill>
                <a:latin typeface="Inter Bold"/>
                <a:ea typeface="Inter Bold"/>
                <a:cs typeface="Inter Bold"/>
                <a:sym typeface="Inter Bold"/>
              </a:rPr>
              <a:t>Fix the data source or training materials.</a:t>
            </a:r>
          </a:p>
          <a:p>
            <a:pPr algn="l">
              <a:lnSpc>
                <a:spcPts val="2520"/>
              </a:lnSpc>
            </a:pPr>
            <a:endParaRPr lang="en-US" sz="1800" b="1">
              <a:solidFill>
                <a:srgbClr val="000000"/>
              </a:solidFill>
              <a:latin typeface="Inter Bold"/>
              <a:ea typeface="Inter Bold"/>
              <a:cs typeface="Inter Bold"/>
              <a:sym typeface="Inter Bold"/>
            </a:endParaRPr>
          </a:p>
          <a:p>
            <a:pPr algn="l">
              <a:lnSpc>
                <a:spcPts val="2520"/>
              </a:lnSpc>
            </a:pPr>
            <a:endParaRPr lang="en-US" sz="1800" b="1">
              <a:solidFill>
                <a:srgbClr val="000000"/>
              </a:solidFill>
              <a:latin typeface="Inter Bold"/>
              <a:ea typeface="Inter Bold"/>
              <a:cs typeface="Inter Bold"/>
              <a:sym typeface="Inter Bold"/>
            </a:endParaRPr>
          </a:p>
        </p:txBody>
      </p:sp>
      <p:sp>
        <p:nvSpPr>
          <p:cNvPr id="8" name="TextBox 8"/>
          <p:cNvSpPr txBox="1"/>
          <p:nvPr/>
        </p:nvSpPr>
        <p:spPr>
          <a:xfrm>
            <a:off x="1028700" y="9431931"/>
            <a:ext cx="16698665" cy="355619"/>
          </a:xfrm>
          <a:prstGeom prst="rect">
            <a:avLst/>
          </a:prstGeom>
        </p:spPr>
        <p:txBody>
          <a:bodyPr lIns="0" tIns="0" rIns="0" bIns="0" rtlCol="0" anchor="t">
            <a:spAutoFit/>
          </a:bodyPr>
          <a:lstStyle/>
          <a:p>
            <a:pPr algn="l">
              <a:lnSpc>
                <a:spcPts val="2750"/>
              </a:lnSpc>
            </a:pPr>
            <a:r>
              <a:rPr lang="en-US" sz="2500" b="1" i="1" dirty="0">
                <a:solidFill>
                  <a:srgbClr val="FF751F"/>
                </a:solidFill>
                <a:latin typeface="Inter Bold Italics"/>
                <a:ea typeface="Inter Bold Italics"/>
                <a:cs typeface="Inter Bold Italics"/>
                <a:sym typeface="Inter Bold Italics"/>
              </a:rPr>
              <a:t>If XAI tells you the answer and data source, will you trust it?</a:t>
            </a:r>
          </a:p>
        </p:txBody>
      </p:sp>
      <p:sp>
        <p:nvSpPr>
          <p:cNvPr id="9" name="TextBox 9"/>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26</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Freeform 4"/>
          <p:cNvSpPr/>
          <p:nvPr/>
        </p:nvSpPr>
        <p:spPr>
          <a:xfrm>
            <a:off x="8874234" y="2055324"/>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5" name="Freeform 5"/>
          <p:cNvSpPr/>
          <p:nvPr/>
        </p:nvSpPr>
        <p:spPr>
          <a:xfrm>
            <a:off x="10500634" y="1717833"/>
            <a:ext cx="7048472" cy="7048472"/>
          </a:xfrm>
          <a:custGeom>
            <a:avLst/>
            <a:gdLst/>
            <a:ahLst/>
            <a:cxnLst/>
            <a:rect l="l" t="t" r="r" b="b"/>
            <a:pathLst>
              <a:path w="7048472" h="7048472">
                <a:moveTo>
                  <a:pt x="0" y="0"/>
                </a:moveTo>
                <a:lnTo>
                  <a:pt x="7048472" y="0"/>
                </a:lnTo>
                <a:lnTo>
                  <a:pt x="7048472" y="7048472"/>
                </a:lnTo>
                <a:lnTo>
                  <a:pt x="0" y="7048472"/>
                </a:lnTo>
                <a:lnTo>
                  <a:pt x="0" y="0"/>
                </a:lnTo>
                <a:close/>
              </a:path>
            </a:pathLst>
          </a:custGeom>
          <a:blipFill>
            <a:blip r:embed="rId7"/>
            <a:stretch>
              <a:fillRect/>
            </a:stretch>
          </a:blipFill>
        </p:spPr>
        <p:txBody>
          <a:bodyPr/>
          <a:lstStyle/>
          <a:p>
            <a:endParaRPr lang="zh-TW" altLang="en-US"/>
          </a:p>
        </p:txBody>
      </p:sp>
      <p:sp>
        <p:nvSpPr>
          <p:cNvPr id="6" name="TextBox 6"/>
          <p:cNvSpPr txBox="1"/>
          <p:nvPr/>
        </p:nvSpPr>
        <p:spPr>
          <a:xfrm>
            <a:off x="1589335" y="1784508"/>
            <a:ext cx="5905426"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Future Outlook</a:t>
            </a:r>
          </a:p>
        </p:txBody>
      </p:sp>
      <p:grpSp>
        <p:nvGrpSpPr>
          <p:cNvPr id="7" name="Group 7"/>
          <p:cNvGrpSpPr/>
          <p:nvPr/>
        </p:nvGrpSpPr>
        <p:grpSpPr>
          <a:xfrm>
            <a:off x="1589335" y="3352958"/>
            <a:ext cx="7807586" cy="1270320"/>
            <a:chOff x="0" y="0"/>
            <a:chExt cx="10410115" cy="1693760"/>
          </a:xfrm>
        </p:grpSpPr>
        <p:sp>
          <p:nvSpPr>
            <p:cNvPr id="8" name="TextBox 8"/>
            <p:cNvSpPr txBox="1"/>
            <p:nvPr/>
          </p:nvSpPr>
          <p:spPr>
            <a:xfrm>
              <a:off x="0" y="19050"/>
              <a:ext cx="8944237" cy="43899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Trust &amp; Security</a:t>
              </a:r>
            </a:p>
          </p:txBody>
        </p:sp>
        <p:sp>
          <p:nvSpPr>
            <p:cNvPr id="9" name="TextBox 9"/>
            <p:cNvSpPr txBox="1"/>
            <p:nvPr/>
          </p:nvSpPr>
          <p:spPr>
            <a:xfrm>
              <a:off x="0" y="878421"/>
              <a:ext cx="10410115" cy="815339"/>
            </a:xfrm>
            <a:prstGeom prst="rect">
              <a:avLst/>
            </a:prstGeom>
          </p:spPr>
          <p:txBody>
            <a:bodyPr lIns="0" tIns="0" rIns="0" bIns="0" rtlCol="0" anchor="t">
              <a:spAutoFit/>
            </a:bodyPr>
            <a:lstStyle/>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Authentication of AI:</a:t>
              </a:r>
              <a:r>
                <a:rPr lang="en-US" sz="1800">
                  <a:solidFill>
                    <a:srgbClr val="004AAD"/>
                  </a:solidFill>
                  <a:latin typeface="Inter"/>
                  <a:ea typeface="Inter"/>
                  <a:cs typeface="Inter"/>
                  <a:sym typeface="Inter"/>
                </a:rPr>
                <a:t> Identity Verification and Non-Deception.</a:t>
              </a:r>
            </a:p>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Privacy Gatekeeper</a:t>
              </a:r>
              <a:r>
                <a:rPr lang="en-US" sz="1800">
                  <a:solidFill>
                    <a:srgbClr val="004AAD"/>
                  </a:solidFill>
                  <a:latin typeface="Inter"/>
                  <a:ea typeface="Inter"/>
                  <a:cs typeface="Inter"/>
                  <a:sym typeface="Inter"/>
                </a:rPr>
                <a:t>: Real-time data usage alerts.</a:t>
              </a:r>
            </a:p>
          </p:txBody>
        </p:sp>
      </p:grpSp>
      <p:grpSp>
        <p:nvGrpSpPr>
          <p:cNvPr id="10" name="Group 10"/>
          <p:cNvGrpSpPr/>
          <p:nvPr/>
        </p:nvGrpSpPr>
        <p:grpSpPr>
          <a:xfrm>
            <a:off x="1589335" y="5118578"/>
            <a:ext cx="7807586" cy="1270320"/>
            <a:chOff x="0" y="0"/>
            <a:chExt cx="10410115" cy="1693760"/>
          </a:xfrm>
        </p:grpSpPr>
        <p:sp>
          <p:nvSpPr>
            <p:cNvPr id="11" name="TextBox 11"/>
            <p:cNvSpPr txBox="1"/>
            <p:nvPr/>
          </p:nvSpPr>
          <p:spPr>
            <a:xfrm>
              <a:off x="0" y="19050"/>
              <a:ext cx="8944237" cy="43899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Context &amp; Interaction</a:t>
              </a:r>
            </a:p>
          </p:txBody>
        </p:sp>
        <p:sp>
          <p:nvSpPr>
            <p:cNvPr id="12" name="TextBox 12"/>
            <p:cNvSpPr txBox="1"/>
            <p:nvPr/>
          </p:nvSpPr>
          <p:spPr>
            <a:xfrm>
              <a:off x="0" y="878421"/>
              <a:ext cx="10410115" cy="815339"/>
            </a:xfrm>
            <a:prstGeom prst="rect">
              <a:avLst/>
            </a:prstGeom>
          </p:spPr>
          <p:txBody>
            <a:bodyPr lIns="0" tIns="0" rIns="0" bIns="0" rtlCol="0" anchor="t">
              <a:spAutoFit/>
            </a:bodyPr>
            <a:lstStyle/>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Evolution toward context-awareness: </a:t>
              </a:r>
              <a:r>
                <a:rPr lang="en-US" sz="1800">
                  <a:solidFill>
                    <a:srgbClr val="004AAD"/>
                  </a:solidFill>
                  <a:latin typeface="Inter"/>
                  <a:ea typeface="Inter"/>
                  <a:cs typeface="Inter"/>
                  <a:sym typeface="Inter"/>
                </a:rPr>
                <a:t>Scenario-intelligent AI.</a:t>
              </a:r>
            </a:p>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Interactive explanations: </a:t>
              </a:r>
              <a:r>
                <a:rPr lang="en-US" sz="1800">
                  <a:solidFill>
                    <a:srgbClr val="004AAD"/>
                  </a:solidFill>
                  <a:latin typeface="Inter"/>
                  <a:ea typeface="Inter"/>
                  <a:cs typeface="Inter"/>
                  <a:sym typeface="Inter"/>
                </a:rPr>
                <a:t>Human-like rephrasing &amp; tone matching.</a:t>
              </a:r>
            </a:p>
          </p:txBody>
        </p:sp>
      </p:grpSp>
      <p:grpSp>
        <p:nvGrpSpPr>
          <p:cNvPr id="13" name="Group 13"/>
          <p:cNvGrpSpPr/>
          <p:nvPr/>
        </p:nvGrpSpPr>
        <p:grpSpPr>
          <a:xfrm>
            <a:off x="1589335" y="6884198"/>
            <a:ext cx="7807586" cy="1270320"/>
            <a:chOff x="0" y="0"/>
            <a:chExt cx="10410115" cy="1693760"/>
          </a:xfrm>
        </p:grpSpPr>
        <p:sp>
          <p:nvSpPr>
            <p:cNvPr id="14" name="TextBox 14"/>
            <p:cNvSpPr txBox="1"/>
            <p:nvPr/>
          </p:nvSpPr>
          <p:spPr>
            <a:xfrm>
              <a:off x="0" y="19050"/>
              <a:ext cx="8944237" cy="438997"/>
            </a:xfrm>
            <a:prstGeom prst="rect">
              <a:avLst/>
            </a:prstGeom>
          </p:spPr>
          <p:txBody>
            <a:bodyPr lIns="0" tIns="0" rIns="0" bIns="0" rtlCol="0" anchor="t">
              <a:spAutoFit/>
            </a:bodyPr>
            <a:lstStyle/>
            <a:p>
              <a:pPr algn="l">
                <a:lnSpc>
                  <a:spcPts val="2530"/>
                </a:lnSpc>
              </a:pPr>
              <a:r>
                <a:rPr lang="en-US" sz="2300" b="1">
                  <a:solidFill>
                    <a:srgbClr val="000000"/>
                  </a:solidFill>
                  <a:latin typeface="Inter Bold"/>
                  <a:ea typeface="Inter Bold"/>
                  <a:cs typeface="Inter Bold"/>
                  <a:sym typeface="Inter Bold"/>
                </a:rPr>
                <a:t>Knowledge &amp; Agency</a:t>
              </a:r>
            </a:p>
          </p:txBody>
        </p:sp>
        <p:sp>
          <p:nvSpPr>
            <p:cNvPr id="15" name="TextBox 15"/>
            <p:cNvSpPr txBox="1"/>
            <p:nvPr/>
          </p:nvSpPr>
          <p:spPr>
            <a:xfrm>
              <a:off x="0" y="878421"/>
              <a:ext cx="10410115" cy="815339"/>
            </a:xfrm>
            <a:prstGeom prst="rect">
              <a:avLst/>
            </a:prstGeom>
          </p:spPr>
          <p:txBody>
            <a:bodyPr lIns="0" tIns="0" rIns="0" bIns="0" rtlCol="0" anchor="t">
              <a:spAutoFit/>
            </a:bodyPr>
            <a:lstStyle/>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Knowledge Fusion: </a:t>
              </a:r>
              <a:r>
                <a:rPr lang="en-US" sz="1800">
                  <a:solidFill>
                    <a:srgbClr val="004AAD"/>
                  </a:solidFill>
                  <a:latin typeface="Inter"/>
                  <a:ea typeface="Inter"/>
                  <a:cs typeface="Inter"/>
                  <a:sym typeface="Inter"/>
                </a:rPr>
                <a:t>Technical data + human wisdom.</a:t>
              </a:r>
            </a:p>
            <a:p>
              <a:pPr marL="388628" lvl="1" indent="-194314" algn="l">
                <a:lnSpc>
                  <a:spcPts val="2520"/>
                </a:lnSpc>
                <a:buFont typeface="Arial"/>
                <a:buChar char="•"/>
              </a:pPr>
              <a:r>
                <a:rPr lang="en-US" sz="1800" b="1">
                  <a:solidFill>
                    <a:srgbClr val="004AAD"/>
                  </a:solidFill>
                  <a:latin typeface="Inter Bold"/>
                  <a:ea typeface="Inter Bold"/>
                  <a:cs typeface="Inter Bold"/>
                  <a:sym typeface="Inter Bold"/>
                </a:rPr>
                <a:t>Changeable Agency: </a:t>
              </a:r>
              <a:r>
                <a:rPr lang="en-US" sz="1800">
                  <a:solidFill>
                    <a:srgbClr val="004AAD"/>
                  </a:solidFill>
                  <a:latin typeface="Inter"/>
                  <a:ea typeface="Inter"/>
                  <a:cs typeface="Inter"/>
                  <a:sym typeface="Inter"/>
                </a:rPr>
                <a:t>Real-time adjustment of AI’s autonomy.</a:t>
              </a:r>
            </a:p>
          </p:txBody>
        </p:sp>
      </p:grpSp>
      <p:sp>
        <p:nvSpPr>
          <p:cNvPr id="16" name="TextBox 16"/>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27</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zh-TW" altLang="en-US"/>
          </a:p>
        </p:txBody>
      </p:sp>
      <p:sp>
        <p:nvSpPr>
          <p:cNvPr id="3" name="Freeform 3"/>
          <p:cNvSpPr/>
          <p:nvPr/>
        </p:nvSpPr>
        <p:spPr>
          <a:xfrm rot="-10800000">
            <a:off x="15408013" y="9258300"/>
            <a:ext cx="3115252" cy="543753"/>
          </a:xfrm>
          <a:custGeom>
            <a:avLst/>
            <a:gdLst/>
            <a:ahLst/>
            <a:cxnLst/>
            <a:rect l="l" t="t" r="r" b="b"/>
            <a:pathLst>
              <a:path w="3115252" h="543753">
                <a:moveTo>
                  <a:pt x="0" y="0"/>
                </a:moveTo>
                <a:lnTo>
                  <a:pt x="3115252" y="0"/>
                </a:lnTo>
                <a:lnTo>
                  <a:pt x="3115252" y="543753"/>
                </a:lnTo>
                <a:lnTo>
                  <a:pt x="0" y="5437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4" name="Freeform 4"/>
          <p:cNvSpPr/>
          <p:nvPr/>
        </p:nvSpPr>
        <p:spPr>
          <a:xfrm>
            <a:off x="8874234" y="2055324"/>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5" name="Freeform 5"/>
          <p:cNvSpPr/>
          <p:nvPr/>
        </p:nvSpPr>
        <p:spPr>
          <a:xfrm>
            <a:off x="1589335" y="4007548"/>
            <a:ext cx="2361463" cy="1889170"/>
          </a:xfrm>
          <a:custGeom>
            <a:avLst/>
            <a:gdLst/>
            <a:ahLst/>
            <a:cxnLst/>
            <a:rect l="l" t="t" r="r" b="b"/>
            <a:pathLst>
              <a:path w="2361463" h="1889170">
                <a:moveTo>
                  <a:pt x="0" y="0"/>
                </a:moveTo>
                <a:lnTo>
                  <a:pt x="2361463" y="0"/>
                </a:lnTo>
                <a:lnTo>
                  <a:pt x="2361463" y="1889170"/>
                </a:lnTo>
                <a:lnTo>
                  <a:pt x="0" y="1889170"/>
                </a:lnTo>
                <a:lnTo>
                  <a:pt x="0" y="0"/>
                </a:lnTo>
                <a:close/>
              </a:path>
            </a:pathLst>
          </a:custGeom>
          <a:blipFill>
            <a:blip r:embed="rId8"/>
            <a:stretch>
              <a:fillRect l="-370776" t="-99659" r="-7793" b="-62058"/>
            </a:stretch>
          </a:blipFill>
        </p:spPr>
        <p:txBody>
          <a:bodyPr/>
          <a:lstStyle/>
          <a:p>
            <a:endParaRPr lang="zh-TW" altLang="en-US"/>
          </a:p>
        </p:txBody>
      </p:sp>
      <p:sp>
        <p:nvSpPr>
          <p:cNvPr id="6" name="Freeform 6"/>
          <p:cNvSpPr/>
          <p:nvPr/>
        </p:nvSpPr>
        <p:spPr>
          <a:xfrm>
            <a:off x="5701226" y="4007548"/>
            <a:ext cx="2240923" cy="1792739"/>
          </a:xfrm>
          <a:custGeom>
            <a:avLst/>
            <a:gdLst/>
            <a:ahLst/>
            <a:cxnLst/>
            <a:rect l="l" t="t" r="r" b="b"/>
            <a:pathLst>
              <a:path w="2240923" h="1792739">
                <a:moveTo>
                  <a:pt x="0" y="0"/>
                </a:moveTo>
                <a:lnTo>
                  <a:pt x="2240924" y="0"/>
                </a:lnTo>
                <a:lnTo>
                  <a:pt x="2240924" y="1792739"/>
                </a:lnTo>
                <a:lnTo>
                  <a:pt x="0" y="1792739"/>
                </a:lnTo>
                <a:lnTo>
                  <a:pt x="0" y="0"/>
                </a:lnTo>
                <a:close/>
              </a:path>
            </a:pathLst>
          </a:custGeom>
          <a:blipFill>
            <a:blip r:embed="rId8"/>
            <a:stretch>
              <a:fillRect l="-274221" t="-115208" r="-146195" b="-69394"/>
            </a:stretch>
          </a:blipFill>
        </p:spPr>
        <p:txBody>
          <a:bodyPr/>
          <a:lstStyle/>
          <a:p>
            <a:endParaRPr lang="zh-TW" altLang="en-US"/>
          </a:p>
        </p:txBody>
      </p:sp>
      <p:sp>
        <p:nvSpPr>
          <p:cNvPr id="7" name="TextBox 7"/>
          <p:cNvSpPr txBox="1"/>
          <p:nvPr/>
        </p:nvSpPr>
        <p:spPr>
          <a:xfrm>
            <a:off x="1589335" y="1784508"/>
            <a:ext cx="7284899"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Human-Centric XAI</a:t>
            </a:r>
          </a:p>
        </p:txBody>
      </p:sp>
      <p:sp>
        <p:nvSpPr>
          <p:cNvPr id="8" name="TextBox 8"/>
          <p:cNvSpPr txBox="1"/>
          <p:nvPr/>
        </p:nvSpPr>
        <p:spPr>
          <a:xfrm>
            <a:off x="1603123" y="2895053"/>
            <a:ext cx="14542221" cy="324485"/>
          </a:xfrm>
          <a:prstGeom prst="rect">
            <a:avLst/>
          </a:prstGeom>
        </p:spPr>
        <p:txBody>
          <a:bodyPr lIns="0" tIns="0" rIns="0" bIns="0" rtlCol="0" anchor="t">
            <a:spAutoFit/>
          </a:bodyPr>
          <a:lstStyle/>
          <a:p>
            <a:pPr algn="l">
              <a:lnSpc>
                <a:spcPts val="2530"/>
              </a:lnSpc>
            </a:pPr>
            <a:r>
              <a:rPr lang="en-US" sz="2300" dirty="0">
                <a:solidFill>
                  <a:srgbClr val="000000"/>
                </a:solidFill>
                <a:latin typeface="Inter"/>
                <a:ea typeface="Inter"/>
                <a:cs typeface="Inter"/>
                <a:sym typeface="Inter"/>
              </a:rPr>
              <a:t>To create </a:t>
            </a:r>
            <a:r>
              <a:rPr lang="en-US" sz="2300" dirty="0" err="1">
                <a:solidFill>
                  <a:srgbClr val="000000"/>
                </a:solidFill>
                <a:latin typeface="Inter"/>
                <a:ea typeface="Inter"/>
                <a:cs typeface="Inter"/>
                <a:sym typeface="Inter"/>
              </a:rPr>
              <a:t>trustworth</a:t>
            </a:r>
            <a:r>
              <a:rPr lang="en-US" sz="2300" dirty="0">
                <a:solidFill>
                  <a:srgbClr val="000000"/>
                </a:solidFill>
                <a:latin typeface="Inter"/>
                <a:ea typeface="Inter"/>
                <a:cs typeface="Inter"/>
                <a:sym typeface="Inter"/>
              </a:rPr>
              <a:t>, ethical, and comprehensible AI that empower human decision-making</a:t>
            </a:r>
          </a:p>
        </p:txBody>
      </p:sp>
      <p:sp>
        <p:nvSpPr>
          <p:cNvPr id="9" name="TextBox 9"/>
          <p:cNvSpPr txBox="1"/>
          <p:nvPr/>
        </p:nvSpPr>
        <p:spPr>
          <a:xfrm>
            <a:off x="1589335" y="6153893"/>
            <a:ext cx="3115320" cy="758190"/>
          </a:xfrm>
          <a:prstGeom prst="rect">
            <a:avLst/>
          </a:prstGeom>
        </p:spPr>
        <p:txBody>
          <a:bodyPr lIns="0" tIns="0" rIns="0" bIns="0" rtlCol="0" anchor="t">
            <a:spAutoFit/>
          </a:bodyPr>
          <a:lstStyle/>
          <a:p>
            <a:pPr algn="l">
              <a:lnSpc>
                <a:spcPts val="2970"/>
              </a:lnSpc>
            </a:pPr>
            <a:r>
              <a:rPr lang="en-US" sz="2700">
                <a:solidFill>
                  <a:srgbClr val="000000"/>
                </a:solidFill>
                <a:latin typeface="Inter"/>
                <a:ea typeface="Inter"/>
                <a:cs typeface="Inter"/>
                <a:sym typeface="Inter"/>
              </a:rPr>
              <a:t>1. The Evolution of Interaction</a:t>
            </a:r>
          </a:p>
        </p:txBody>
      </p:sp>
      <p:sp>
        <p:nvSpPr>
          <p:cNvPr id="10" name="TextBox 10"/>
          <p:cNvSpPr txBox="1"/>
          <p:nvPr/>
        </p:nvSpPr>
        <p:spPr>
          <a:xfrm>
            <a:off x="5701226" y="6153893"/>
            <a:ext cx="3115320" cy="758190"/>
          </a:xfrm>
          <a:prstGeom prst="rect">
            <a:avLst/>
          </a:prstGeom>
        </p:spPr>
        <p:txBody>
          <a:bodyPr lIns="0" tIns="0" rIns="0" bIns="0" rtlCol="0" anchor="t">
            <a:spAutoFit/>
          </a:bodyPr>
          <a:lstStyle/>
          <a:p>
            <a:pPr algn="l">
              <a:lnSpc>
                <a:spcPts val="2970"/>
              </a:lnSpc>
            </a:pPr>
            <a:r>
              <a:rPr lang="en-US" sz="2700">
                <a:solidFill>
                  <a:srgbClr val="000000"/>
                </a:solidFill>
                <a:latin typeface="Inter"/>
                <a:ea typeface="Inter"/>
                <a:cs typeface="Inter"/>
                <a:sym typeface="Inter"/>
              </a:rPr>
              <a:t>2. The Fusion of Knowledge</a:t>
            </a:r>
          </a:p>
        </p:txBody>
      </p:sp>
      <p:sp>
        <p:nvSpPr>
          <p:cNvPr id="11" name="TextBox 11"/>
          <p:cNvSpPr txBox="1"/>
          <p:nvPr/>
        </p:nvSpPr>
        <p:spPr>
          <a:xfrm>
            <a:off x="1589335" y="7109182"/>
            <a:ext cx="3226123" cy="1249679"/>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Moving beyond static outputs toward </a:t>
            </a:r>
            <a:r>
              <a:rPr lang="en-US" sz="1800" b="1">
                <a:solidFill>
                  <a:srgbClr val="737373"/>
                </a:solidFill>
                <a:latin typeface="Inter Bold"/>
                <a:ea typeface="Inter Bold"/>
                <a:cs typeface="Inter Bold"/>
                <a:sym typeface="Inter Bold"/>
              </a:rPr>
              <a:t>context-awareness </a:t>
            </a:r>
            <a:r>
              <a:rPr lang="en-US" sz="1800">
                <a:solidFill>
                  <a:srgbClr val="737373"/>
                </a:solidFill>
                <a:latin typeface="Inter"/>
                <a:ea typeface="Inter"/>
                <a:cs typeface="Inter"/>
                <a:sym typeface="Inter"/>
              </a:rPr>
              <a:t>and interactive, human-like explanations.</a:t>
            </a:r>
          </a:p>
        </p:txBody>
      </p:sp>
      <p:sp>
        <p:nvSpPr>
          <p:cNvPr id="12" name="TextBox 12"/>
          <p:cNvSpPr txBox="1"/>
          <p:nvPr/>
        </p:nvSpPr>
        <p:spPr>
          <a:xfrm>
            <a:off x="5701226" y="7109182"/>
            <a:ext cx="3442774" cy="1249679"/>
          </a:xfrm>
          <a:prstGeom prst="rect">
            <a:avLst/>
          </a:prstGeom>
        </p:spPr>
        <p:txBody>
          <a:bodyPr lIns="0" tIns="0" rIns="0" bIns="0" rtlCol="0" anchor="t">
            <a:spAutoFit/>
          </a:bodyPr>
          <a:lstStyle/>
          <a:p>
            <a:pPr algn="l">
              <a:lnSpc>
                <a:spcPts val="2520"/>
              </a:lnSpc>
            </a:pPr>
            <a:r>
              <a:rPr lang="en-US" sz="1800">
                <a:solidFill>
                  <a:srgbClr val="737373"/>
                </a:solidFill>
                <a:latin typeface="Inter"/>
                <a:ea typeface="Inter"/>
                <a:cs typeface="Inter"/>
                <a:sym typeface="Inter"/>
              </a:rPr>
              <a:t>Integrating cold technical data with the richness of </a:t>
            </a:r>
            <a:r>
              <a:rPr lang="en-US" sz="1800" b="1">
                <a:solidFill>
                  <a:srgbClr val="737373"/>
                </a:solidFill>
                <a:latin typeface="Inter Bold"/>
                <a:ea typeface="Inter Bold"/>
                <a:cs typeface="Inter Bold"/>
                <a:sym typeface="Inter Bold"/>
              </a:rPr>
              <a:t>human expertise</a:t>
            </a:r>
            <a:r>
              <a:rPr lang="en-US" sz="1800">
                <a:solidFill>
                  <a:srgbClr val="737373"/>
                </a:solidFill>
                <a:latin typeface="Inter"/>
                <a:ea typeface="Inter"/>
                <a:cs typeface="Inter"/>
                <a:sym typeface="Inter"/>
              </a:rPr>
              <a:t> and situational wisdom.</a:t>
            </a:r>
          </a:p>
        </p:txBody>
      </p:sp>
      <p:sp>
        <p:nvSpPr>
          <p:cNvPr id="13" name="TextBox 13"/>
          <p:cNvSpPr txBox="1"/>
          <p:nvPr/>
        </p:nvSpPr>
        <p:spPr>
          <a:xfrm>
            <a:off x="10501431" y="4932492"/>
            <a:ext cx="6052218" cy="605790"/>
          </a:xfrm>
          <a:prstGeom prst="rect">
            <a:avLst/>
          </a:prstGeom>
        </p:spPr>
        <p:txBody>
          <a:bodyPr lIns="0" tIns="0" rIns="0" bIns="0" rtlCol="0" anchor="t">
            <a:spAutoFit/>
          </a:bodyPr>
          <a:lstStyle/>
          <a:p>
            <a:pPr algn="ctr">
              <a:lnSpc>
                <a:spcPts val="4620"/>
              </a:lnSpc>
            </a:pPr>
            <a:r>
              <a:rPr lang="en-US" sz="4200" b="1">
                <a:solidFill>
                  <a:srgbClr val="000000"/>
                </a:solidFill>
                <a:latin typeface="Inter Bold"/>
                <a:ea typeface="Inter Bold"/>
                <a:cs typeface="Inter Bold"/>
                <a:sym typeface="Inter Bold"/>
              </a:rPr>
              <a:t>The fundamental shift</a:t>
            </a:r>
          </a:p>
        </p:txBody>
      </p:sp>
      <p:sp>
        <p:nvSpPr>
          <p:cNvPr id="14" name="TextBox 14"/>
          <p:cNvSpPr txBox="1"/>
          <p:nvPr/>
        </p:nvSpPr>
        <p:spPr>
          <a:xfrm>
            <a:off x="10896549" y="5866841"/>
            <a:ext cx="5261983" cy="1278802"/>
          </a:xfrm>
          <a:prstGeom prst="rect">
            <a:avLst/>
          </a:prstGeom>
        </p:spPr>
        <p:txBody>
          <a:bodyPr lIns="0" tIns="0" rIns="0" bIns="0" rtlCol="0" anchor="t">
            <a:spAutoFit/>
          </a:bodyPr>
          <a:lstStyle/>
          <a:p>
            <a:pPr algn="l">
              <a:lnSpc>
                <a:spcPts val="5114"/>
              </a:lnSpc>
            </a:pPr>
            <a:r>
              <a:rPr lang="en-US" sz="3653" b="1" dirty="0">
                <a:solidFill>
                  <a:srgbClr val="737373"/>
                </a:solidFill>
                <a:latin typeface="Inter Bold"/>
                <a:ea typeface="Inter Bold"/>
                <a:cs typeface="Inter Bold"/>
                <a:sym typeface="Inter Bold"/>
              </a:rPr>
              <a:t> "Explaining the model" </a:t>
            </a:r>
            <a:r>
              <a:rPr lang="en-US" sz="3653" dirty="0">
                <a:solidFill>
                  <a:srgbClr val="737373"/>
                </a:solidFill>
                <a:latin typeface="Inter"/>
                <a:ea typeface="Inter"/>
                <a:cs typeface="Inter"/>
                <a:sym typeface="Inter"/>
              </a:rPr>
              <a:t>to</a:t>
            </a:r>
            <a:r>
              <a:rPr lang="en-US" sz="3653" b="1" dirty="0">
                <a:solidFill>
                  <a:srgbClr val="737373"/>
                </a:solidFill>
                <a:latin typeface="Inter Bold"/>
                <a:ea typeface="Inter Bold"/>
                <a:cs typeface="Inter Bold"/>
                <a:sym typeface="Inter Bold"/>
              </a:rPr>
              <a:t> "Curating the truth”.</a:t>
            </a:r>
          </a:p>
        </p:txBody>
      </p:sp>
      <p:sp>
        <p:nvSpPr>
          <p:cNvPr id="15" name="TextBox 15"/>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28</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zh-TW" altLang="en-US"/>
          </a:p>
        </p:txBody>
      </p:sp>
      <p:sp>
        <p:nvSpPr>
          <p:cNvPr id="3" name="Freeform 3"/>
          <p:cNvSpPr/>
          <p:nvPr/>
        </p:nvSpPr>
        <p:spPr>
          <a:xfrm rot="-10800000">
            <a:off x="5368233" y="9090849"/>
            <a:ext cx="3115252" cy="543753"/>
          </a:xfrm>
          <a:custGeom>
            <a:avLst/>
            <a:gdLst/>
            <a:ahLst/>
            <a:cxnLst/>
            <a:rect l="l" t="t" r="r" b="b"/>
            <a:pathLst>
              <a:path w="3115252" h="543753">
                <a:moveTo>
                  <a:pt x="0" y="0"/>
                </a:moveTo>
                <a:lnTo>
                  <a:pt x="3115252" y="0"/>
                </a:lnTo>
                <a:lnTo>
                  <a:pt x="3115252" y="543754"/>
                </a:lnTo>
                <a:lnTo>
                  <a:pt x="0" y="5437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4" name="AutoShape 4"/>
          <p:cNvSpPr/>
          <p:nvPr/>
        </p:nvSpPr>
        <p:spPr>
          <a:xfrm>
            <a:off x="1028700" y="3425982"/>
            <a:ext cx="2126908" cy="0"/>
          </a:xfrm>
          <a:prstGeom prst="line">
            <a:avLst/>
          </a:prstGeom>
          <a:ln w="38100" cap="flat">
            <a:solidFill>
              <a:srgbClr val="90816A"/>
            </a:solidFill>
            <a:prstDash val="solid"/>
            <a:headEnd type="none" w="sm" len="sm"/>
            <a:tailEnd type="none" w="sm" len="sm"/>
          </a:ln>
        </p:spPr>
        <p:txBody>
          <a:bodyPr/>
          <a:lstStyle/>
          <a:p>
            <a:endParaRPr lang="zh-TW" altLang="en-US"/>
          </a:p>
        </p:txBody>
      </p:sp>
      <p:sp>
        <p:nvSpPr>
          <p:cNvPr id="5" name="Freeform 5"/>
          <p:cNvSpPr/>
          <p:nvPr/>
        </p:nvSpPr>
        <p:spPr>
          <a:xfrm>
            <a:off x="8754515" y="1045700"/>
            <a:ext cx="1045375" cy="296506"/>
          </a:xfrm>
          <a:custGeom>
            <a:avLst/>
            <a:gdLst/>
            <a:ahLst/>
            <a:cxnLst/>
            <a:rect l="l" t="t" r="r" b="b"/>
            <a:pathLst>
              <a:path w="1045375" h="296506">
                <a:moveTo>
                  <a:pt x="0" y="0"/>
                </a:moveTo>
                <a:lnTo>
                  <a:pt x="1045375" y="0"/>
                </a:lnTo>
                <a:lnTo>
                  <a:pt x="1045375" y="296506"/>
                </a:lnTo>
                <a:lnTo>
                  <a:pt x="0" y="2965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6" name="TextBox 6"/>
          <p:cNvSpPr txBox="1"/>
          <p:nvPr/>
        </p:nvSpPr>
        <p:spPr>
          <a:xfrm>
            <a:off x="1063681" y="2025608"/>
            <a:ext cx="6042369" cy="920750"/>
          </a:xfrm>
          <a:prstGeom prst="rect">
            <a:avLst/>
          </a:prstGeom>
        </p:spPr>
        <p:txBody>
          <a:bodyPr lIns="0" tIns="0" rIns="0" bIns="0" rtlCol="0" anchor="t">
            <a:spAutoFit/>
          </a:bodyPr>
          <a:lstStyle/>
          <a:p>
            <a:pPr algn="l">
              <a:lnSpc>
                <a:spcPts val="7150"/>
              </a:lnSpc>
            </a:pPr>
            <a:r>
              <a:rPr lang="en-US" sz="6500" b="1">
                <a:solidFill>
                  <a:srgbClr val="000000"/>
                </a:solidFill>
                <a:latin typeface="Cormorant Garamond Bold"/>
                <a:ea typeface="Cormorant Garamond Bold"/>
                <a:cs typeface="Cormorant Garamond Bold"/>
                <a:sym typeface="Cormorant Garamond Bold"/>
              </a:rPr>
              <a:t>References</a:t>
            </a:r>
          </a:p>
        </p:txBody>
      </p:sp>
      <p:sp>
        <p:nvSpPr>
          <p:cNvPr id="7" name="TextBox 7"/>
          <p:cNvSpPr txBox="1"/>
          <p:nvPr/>
        </p:nvSpPr>
        <p:spPr>
          <a:xfrm>
            <a:off x="1132299" y="3867507"/>
            <a:ext cx="10975861" cy="323214"/>
          </a:xfrm>
          <a:prstGeom prst="rect">
            <a:avLst/>
          </a:prstGeom>
        </p:spPr>
        <p:txBody>
          <a:bodyPr lIns="0" tIns="0" rIns="0" bIns="0" rtlCol="0" anchor="t">
            <a:spAutoFit/>
          </a:bodyPr>
          <a:lstStyle/>
          <a:p>
            <a:pPr marL="410218" lvl="1" indent="-205109" algn="l">
              <a:lnSpc>
                <a:spcPts val="2660"/>
              </a:lnSpc>
              <a:buFont typeface="Arial"/>
              <a:buChar char="•"/>
            </a:pPr>
            <a:r>
              <a:rPr lang="en-US" sz="1900" u="sng" dirty="0">
                <a:solidFill>
                  <a:srgbClr val="737373"/>
                </a:solidFill>
                <a:latin typeface="Inter"/>
                <a:ea typeface="Inter"/>
                <a:cs typeface="Inter"/>
                <a:sym typeface="Inter"/>
                <a:hlinkClick r:id="rId7" tooltip="https://kpmg.com/xx/en/our-insights/ai-and-technology/trust-attitudes-and-use-of-ai.html"/>
              </a:rPr>
              <a:t>Trust, attitudes and use of artificial intelligence: A global study 2025, KPMG</a:t>
            </a:r>
          </a:p>
        </p:txBody>
      </p:sp>
      <p:sp>
        <p:nvSpPr>
          <p:cNvPr id="8" name="TextBox 8"/>
          <p:cNvSpPr txBox="1"/>
          <p:nvPr/>
        </p:nvSpPr>
        <p:spPr>
          <a:xfrm>
            <a:off x="1097766" y="4913786"/>
            <a:ext cx="12702541" cy="656589"/>
          </a:xfrm>
          <a:prstGeom prst="rect">
            <a:avLst/>
          </a:prstGeom>
        </p:spPr>
        <p:txBody>
          <a:bodyPr lIns="0" tIns="0" rIns="0" bIns="0" rtlCol="0" anchor="t">
            <a:spAutoFit/>
          </a:bodyPr>
          <a:lstStyle/>
          <a:p>
            <a:pPr marL="410218" lvl="1" indent="-205109" algn="l">
              <a:lnSpc>
                <a:spcPts val="2660"/>
              </a:lnSpc>
              <a:buFont typeface="Arial"/>
              <a:buChar char="•"/>
            </a:pPr>
            <a:r>
              <a:rPr lang="en-US" sz="1900" u="sng">
                <a:solidFill>
                  <a:srgbClr val="737373"/>
                </a:solidFill>
                <a:latin typeface="Inter"/>
                <a:ea typeface="Inter"/>
                <a:cs typeface="Inter"/>
                <a:sym typeface="Inter"/>
                <a:hlinkClick r:id="rId8" tooltip="https://link.springer.com/content/pdf/10.1007/s44230-023-00038-y.pdf"/>
              </a:rPr>
              <a:t>Yang, W., Wei, Y., Wei, H., Chen, Y., Huang, G., Li, X., ... &amp; Kang, B. (2023). Survey on explainable AI: From approaches, limitations and applications aspects. Human-Centric Intelligent Systems, 3(3), 161-188.</a:t>
            </a:r>
          </a:p>
        </p:txBody>
      </p:sp>
      <p:sp>
        <p:nvSpPr>
          <p:cNvPr id="9" name="TextBox 9"/>
          <p:cNvSpPr txBox="1"/>
          <p:nvPr/>
        </p:nvSpPr>
        <p:spPr>
          <a:xfrm>
            <a:off x="1097766" y="6293441"/>
            <a:ext cx="12011869" cy="656589"/>
          </a:xfrm>
          <a:prstGeom prst="rect">
            <a:avLst/>
          </a:prstGeom>
        </p:spPr>
        <p:txBody>
          <a:bodyPr lIns="0" tIns="0" rIns="0" bIns="0" rtlCol="0" anchor="t">
            <a:spAutoFit/>
          </a:bodyPr>
          <a:lstStyle/>
          <a:p>
            <a:pPr marL="410218" lvl="1" indent="-205109" algn="l">
              <a:lnSpc>
                <a:spcPts val="2660"/>
              </a:lnSpc>
              <a:buFont typeface="Arial"/>
              <a:buChar char="•"/>
            </a:pPr>
            <a:r>
              <a:rPr lang="en-US" sz="1900" u="sng">
                <a:solidFill>
                  <a:srgbClr val="737373"/>
                </a:solidFill>
                <a:latin typeface="Inter"/>
                <a:ea typeface="Inter"/>
                <a:cs typeface="Inter"/>
                <a:sym typeface="Inter"/>
                <a:hlinkClick r:id="rId9" tooltip="https://arxiv.org/pdf/2309.17057"/>
              </a:rPr>
              <a:t>Martens, D., Hinns, J., Dams, C., Vergouwen, M., &amp; Evgeniou, T. (2025). Tell me a story! Narrative-driven XAI with Large Language Models. Decision Support Systems, 191, 114402.</a:t>
            </a:r>
          </a:p>
        </p:txBody>
      </p:sp>
      <p:sp>
        <p:nvSpPr>
          <p:cNvPr id="10" name="TextBox 10"/>
          <p:cNvSpPr txBox="1"/>
          <p:nvPr/>
        </p:nvSpPr>
        <p:spPr>
          <a:xfrm>
            <a:off x="1097766" y="7673095"/>
            <a:ext cx="12693500" cy="656589"/>
          </a:xfrm>
          <a:prstGeom prst="rect">
            <a:avLst/>
          </a:prstGeom>
        </p:spPr>
        <p:txBody>
          <a:bodyPr lIns="0" tIns="0" rIns="0" bIns="0" rtlCol="0" anchor="t">
            <a:spAutoFit/>
          </a:bodyPr>
          <a:lstStyle/>
          <a:p>
            <a:pPr marL="410218" lvl="1" indent="-205109" algn="l">
              <a:lnSpc>
                <a:spcPts val="2660"/>
              </a:lnSpc>
              <a:buFont typeface="Arial"/>
              <a:buChar char="•"/>
            </a:pPr>
            <a:r>
              <a:rPr lang="en-US" sz="1900" u="sng">
                <a:solidFill>
                  <a:srgbClr val="737373"/>
                </a:solidFill>
                <a:latin typeface="Inter"/>
                <a:ea typeface="Inter"/>
                <a:cs typeface="Inter"/>
                <a:sym typeface="Inter"/>
                <a:hlinkClick r:id="rId10" tooltip="https://arxiv.org/pdf/2304.08366"/>
              </a:rPr>
              <a:t>Li, H., Wang, Y., Liao, Q. V., &amp; Qu, H. (2025). Why is AI not a Panacea for Data Workers? An Interview Study on Human-AI Collaboration in Data Storytelling. IEEE Transactions on Visualization and Computer Graphics.</a:t>
            </a:r>
          </a:p>
        </p:txBody>
      </p:sp>
      <p:sp>
        <p:nvSpPr>
          <p:cNvPr id="11" name="TextBox 11"/>
          <p:cNvSpPr txBox="1"/>
          <p:nvPr/>
        </p:nvSpPr>
        <p:spPr>
          <a:xfrm>
            <a:off x="17644890" y="9810616"/>
            <a:ext cx="152400" cy="190500"/>
          </a:xfrm>
          <a:prstGeom prst="rect">
            <a:avLst/>
          </a:prstGeom>
        </p:spPr>
        <p:txBody>
          <a:bodyPr wrap="none" lIns="0" tIns="0" rIns="0" bIns="0" rtlCol="0" anchor="t">
            <a:spAutoFit/>
          </a:bodyPr>
          <a:lstStyle/>
          <a:p>
            <a:pPr algn="ctr">
              <a:lnSpc>
                <a:spcPts val="3080"/>
              </a:lnSpc>
              <a:spcBef>
                <a:spcPct val="0"/>
              </a:spcBef>
            </a:pPr>
            <a:r>
              <a:rPr lang="en-US" sz="2200">
                <a:solidFill>
                  <a:srgbClr val="000000"/>
                </a:solidFill>
                <a:latin typeface="Montserrat"/>
                <a:ea typeface="Montserrat"/>
                <a:cs typeface="Montserrat"/>
                <a:sym typeface="Montserrat"/>
              </a:rPr>
              <a:t>29</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TotalTime>
  <Words>3329</Words>
  <Application>Microsoft Office PowerPoint</Application>
  <PresentationFormat>自訂</PresentationFormat>
  <Paragraphs>398</Paragraphs>
  <Slides>29</Slides>
  <Notes>4</Notes>
  <HiddenSlides>1</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29</vt:i4>
      </vt:variant>
    </vt:vector>
  </HeadingPairs>
  <TitlesOfParts>
    <vt:vector size="37" baseType="lpstr">
      <vt:lpstr>Montserrat</vt:lpstr>
      <vt:lpstr>Inter Bold Italics</vt:lpstr>
      <vt:lpstr>Calibri</vt:lpstr>
      <vt:lpstr>Inter Bold</vt:lpstr>
      <vt:lpstr>Arial</vt:lpstr>
      <vt:lpstr>Inter</vt:lpstr>
      <vt:lpstr>Cormorant Garamond Bold</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4] Explainable AI and Data Story Telling</dc:title>
  <cp:lastModifiedBy>Le Hsu</cp:lastModifiedBy>
  <cp:revision>10</cp:revision>
  <dcterms:created xsi:type="dcterms:W3CDTF">2006-08-16T00:00:00Z</dcterms:created>
  <dcterms:modified xsi:type="dcterms:W3CDTF">2026-01-10T14:45:06Z</dcterms:modified>
  <dc:identifier>DAG90LByQTQ</dc:identifier>
</cp:coreProperties>
</file>